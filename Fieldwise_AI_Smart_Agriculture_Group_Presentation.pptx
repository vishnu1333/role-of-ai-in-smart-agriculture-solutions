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20 seconds): Good morning. Our group presents a critical review of the role of artificial intelligence in smart agriculture. We look beyond disease detection to consider the full system: how data are collected, how models make predictions, how decisions are optimised, and what is needed for responsible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Our question is broad because smart agriculture is a connected ecosystem. The report maps 55 core records published from 2021 to 2026, with 11 assigned to each focus area, plus three foundational works. It is important to be transparent: this draft is a structured narrative review, not an exhaustive systematic review. We also avoid ranking numbers from unlike tasks as if they were directly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The pipeline starts with heterogeneous data: sensors, weather, imagery, and farm records. These inputs must be aligned to the right field and time, checked for missingness and calibration problems, and processed at the edge or in the cloud depending on latency and connectivity. The model then supports a decision. Finally, outcomes, overrides, and errors need to be recorded so drift can be detected. Provenance, offline resilience, and human oversight apply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For production prediction, model choice depends on data and decision. Simple regression can be a useful baseline; tree ensembles capture interactions; deep learning can help with imagery or sequences but may need more data and be harder to interpret. In the cited wheat study, Random Forest using NIRv achieved R-squared 0.74 and RMSE 758 kilograms per hectare, slightly better than the EVI version. It is a within-study comparison, not proof that one index always wins. Whole-farm or whole-season validation is stronger than a random split when data are related.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Monitoring includes image classification, object detection, segmentation, and sensor-based monitoring. These tasks are not interchangeable. The tomato study reported 91.07 percent test accuracy and 94.10 percent mAP at an IoU threshold of 0.5. In coffee-leaf work, U-Net reported mIoU of 94.25 percent and PSPNet 93.54 percent; Mask R-CNN reported precision and recall of 73.9 and 71.9 percent on an instance-level task. We cannot put these values on one leaderboard. Dataset composition, near-duplicate images, class imbalance, lighting, and device differences all affect generalisation.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Resource optimisation includes irrigation, fertigation, feed and energy management, routing, and harvest logistics. The rice irrigation study applied reinforcement learning using weather forecasts. It reported 23 millimetres less irrigation and 21 millimetres less drainage in simulation, with no significant yield reduction within that simulated setting. That is not the same as a verified real-farm saving. A deployed loop must define constraints, track outcomes, and allow safe override when forecasts or sensors are unreliable.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Across the five areas, there is no one model that is best for every problem. Data and architecture need reliability and provenance; prediction requires external validation; vision systems need representative field images; optimisation must respect safety and realistic constraints; and deployment requires trust, privacy, and affordability. The metrics differ too: R-squared and RMSE describe regression, accuracy is a classification measure, mAP evaluates object detection, and mIoU evaluates segmentation. The goal should be outcomes such as yield, resource use, cost, uptime, and farmer adoption—not just headline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The report identifies barriers that go beyond model accuracy. Field conditions change, networks may be unreliable, and devices need maintenance. Adoption depends on cost, digital skills, trust, and whether farmers see practical value. Farm data also has commercial sensitivity, so device authentication, secure updates, least privilege, and audit records matter. Future directions include federated learning, digital twins, satellite monitoring, robotics, and traceability. These should be evaluated against specific problems. Federated learning can reduce raw-data movement, but parameter updates may still leak information, so local data alone is not a complete privacy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Our conclusion is that AI can create value across agriculture through prediction, detection, monitoring, and optimisation. But the model is only part of the system. Good solutions need field validation, useful decision timing, uncertainty, fallback behaviour, cybersecurity, affordable maintenance, and participation from the people who use the system. Our position is that agriculture should aim for better-informed and more accountable decisions, rather than maximum automation in every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allow approximately 2 minutes for questions. These are selected references for the reported examples and cross-cutting discussion. The complete bibliography is in the report. We are happy to discuss the model choices, evidence limitations, field deployment concerns, or future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7F0"/>
        </a:solidFill>
      </p:bgPr>
    </p:bg>
    <p:spTree>
      <p:nvGrpSpPr>
        <p:cNvPr id="1" name=""/>
        <p:cNvGrpSpPr/>
        <p:nvPr/>
      </p:nvGrpSpPr>
      <p:grpSpPr>
        <a:xfrm>
          <a:off x="0" y="0"/>
          <a:ext cx="0" cy="0"/>
          <a:chOff x="0" y="0"/>
          <a:chExt cx="0" cy="0"/>
        </a:xfrm>
      </p:grpSpPr>
      <p:sp>
        <p:nvSpPr>
          <p:cNvPr id="2" name="Shape 0"/>
          <p:cNvSpPr/>
          <p:nvPr/>
        </p:nvSpPr>
        <p:spPr>
          <a:xfrm>
            <a:off x="502920" y="6510528"/>
            <a:ext cx="11183112" cy="0"/>
          </a:xfrm>
          <a:prstGeom prst="line">
            <a:avLst/>
          </a:prstGeom>
          <a:noFill/>
          <a:ln w="8890">
            <a:solidFill>
              <a:srgbClr val="DBE2D7"/>
            </a:solidFill>
            <a:prstDash val="solid"/>
          </a:ln>
        </p:spPr>
      </p:sp>
      <p:sp>
        <p:nvSpPr>
          <p:cNvPr id="3" name="Text 1"/>
          <p:cNvSpPr/>
          <p:nvPr/>
        </p:nvSpPr>
        <p:spPr>
          <a:xfrm>
            <a:off x="530352" y="6565392"/>
            <a:ext cx="7132320" cy="137160"/>
          </a:xfrm>
          <a:prstGeom prst="rect">
            <a:avLst/>
          </a:prstGeom>
          <a:noFill/>
          <a:ln/>
        </p:spPr>
        <p:txBody>
          <a:bodyPr wrap="square" lIns="0" tIns="0" rIns="0" bIns="0" rtlCol="0" anchor="ctr"/>
          <a:lstStyle/>
          <a:p>
            <a:pPr indent="0" marL="0">
              <a:buNone/>
            </a:pPr>
            <a:r>
              <a:rPr lang="en-US" sz="800" dirty="0">
                <a:solidFill>
                  <a:srgbClr val="66756A"/>
                </a:solidFill>
                <a:latin typeface="Aptos" pitchFamily="34" charset="0"/>
                <a:ea typeface="Aptos" pitchFamily="34" charset="-122"/>
                <a:cs typeface="Aptos" pitchFamily="34" charset="-120"/>
              </a:rPr>
              <a:t>FIELDWISE AI  •  PRG4206 MACHINE LEARNING</a:t>
            </a:r>
            <a:endParaRPr lang="en-US" sz="800" dirty="0"/>
          </a:p>
        </p:txBody>
      </p:sp>
      <p:sp>
        <p:nvSpPr>
          <p:cNvPr id="25" name="Slide Number Placeholder 0"/>
          <p:cNvSpPr>
            <a:spLocks noGrp="1"/>
          </p:cNvSpPr>
          <p:nvPr>
            <p:ph type="sldNum" sz="quarter" idx="4294967295"/>
          </p:nvPr>
        </p:nvSpPr>
        <p:spPr>
          <a:xfrm>
            <a:off x="1120140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56A"/>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56A"/>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B2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gd name="adj" fmla="val 1600"/>
            </a:avLst>
          </a:prstGeom>
          <a:solidFill>
            <a:srgbClr val="163B2E"/>
          </a:solidFill>
          <a:ln w="1270">
            <a:solidFill>
              <a:srgbClr val="163B2E"/>
            </a:solidFill>
            <a:prstDash val="solid"/>
          </a:ln>
        </p:spPr>
      </p:sp>
      <p:sp>
        <p:nvSpPr>
          <p:cNvPr id="3" name="Shape 1"/>
          <p:cNvSpPr/>
          <p:nvPr/>
        </p:nvSpPr>
        <p:spPr>
          <a:xfrm rot="480000">
            <a:off x="7498080" y="-914400"/>
            <a:ext cx="5303520" cy="5852160"/>
          </a:xfrm>
          <a:prstGeom prst="arc">
            <a:avLst/>
          </a:prstGeom>
          <a:solidFill>
            <a:srgbClr val="163B2E">
              <a:alpha val="0"/>
            </a:srgbClr>
          </a:solidFill>
          <a:ln w="17780">
            <a:solidFill>
              <a:srgbClr val="35674D">
                <a:alpha val="90000"/>
              </a:srgbClr>
            </a:solidFill>
            <a:prstDash val="solid"/>
          </a:ln>
        </p:spPr>
      </p:sp>
      <p:sp>
        <p:nvSpPr>
          <p:cNvPr id="4" name="Shape 2"/>
          <p:cNvSpPr/>
          <p:nvPr/>
        </p:nvSpPr>
        <p:spPr>
          <a:xfrm rot="480000">
            <a:off x="7671816" y="-768096"/>
            <a:ext cx="5230368" cy="5751576"/>
          </a:xfrm>
          <a:prstGeom prst="arc">
            <a:avLst/>
          </a:prstGeom>
          <a:solidFill>
            <a:srgbClr val="163B2E">
              <a:alpha val="0"/>
            </a:srgbClr>
          </a:solidFill>
          <a:ln w="17780">
            <a:solidFill>
              <a:srgbClr val="2C5943">
                <a:alpha val="90000"/>
              </a:srgbClr>
            </a:solidFill>
            <a:prstDash val="solid"/>
          </a:ln>
        </p:spPr>
      </p:sp>
      <p:sp>
        <p:nvSpPr>
          <p:cNvPr id="5" name="Shape 3"/>
          <p:cNvSpPr/>
          <p:nvPr/>
        </p:nvSpPr>
        <p:spPr>
          <a:xfrm rot="480000">
            <a:off x="7845552" y="-621792"/>
            <a:ext cx="5157216" cy="5650992"/>
          </a:xfrm>
          <a:prstGeom prst="arc">
            <a:avLst/>
          </a:prstGeom>
          <a:solidFill>
            <a:srgbClr val="163B2E">
              <a:alpha val="0"/>
            </a:srgbClr>
          </a:solidFill>
          <a:ln w="17780">
            <a:solidFill>
              <a:srgbClr val="35674D">
                <a:alpha val="90000"/>
              </a:srgbClr>
            </a:solidFill>
            <a:prstDash val="solid"/>
          </a:ln>
        </p:spPr>
      </p:sp>
      <p:sp>
        <p:nvSpPr>
          <p:cNvPr id="6" name="Shape 4"/>
          <p:cNvSpPr/>
          <p:nvPr/>
        </p:nvSpPr>
        <p:spPr>
          <a:xfrm rot="480000">
            <a:off x="8019288" y="-475488"/>
            <a:ext cx="5084064" cy="5550408"/>
          </a:xfrm>
          <a:prstGeom prst="arc">
            <a:avLst/>
          </a:prstGeom>
          <a:solidFill>
            <a:srgbClr val="163B2E">
              <a:alpha val="0"/>
            </a:srgbClr>
          </a:solidFill>
          <a:ln w="17780">
            <a:solidFill>
              <a:srgbClr val="2C5943">
                <a:alpha val="90000"/>
              </a:srgbClr>
            </a:solidFill>
            <a:prstDash val="solid"/>
          </a:ln>
        </p:spPr>
      </p:sp>
      <p:sp>
        <p:nvSpPr>
          <p:cNvPr id="7" name="Shape 5"/>
          <p:cNvSpPr/>
          <p:nvPr/>
        </p:nvSpPr>
        <p:spPr>
          <a:xfrm rot="480000">
            <a:off x="8193024" y="-329184"/>
            <a:ext cx="5010912" cy="5449824"/>
          </a:xfrm>
          <a:prstGeom prst="arc">
            <a:avLst/>
          </a:prstGeom>
          <a:solidFill>
            <a:srgbClr val="163B2E">
              <a:alpha val="0"/>
            </a:srgbClr>
          </a:solidFill>
          <a:ln w="17780">
            <a:solidFill>
              <a:srgbClr val="35674D">
                <a:alpha val="90000"/>
              </a:srgbClr>
            </a:solidFill>
            <a:prstDash val="solid"/>
          </a:ln>
        </p:spPr>
      </p:sp>
      <p:sp>
        <p:nvSpPr>
          <p:cNvPr id="8" name="Shape 6"/>
          <p:cNvSpPr/>
          <p:nvPr/>
        </p:nvSpPr>
        <p:spPr>
          <a:xfrm rot="480000">
            <a:off x="8366760" y="-182880"/>
            <a:ext cx="4937760" cy="5349240"/>
          </a:xfrm>
          <a:prstGeom prst="arc">
            <a:avLst/>
          </a:prstGeom>
          <a:solidFill>
            <a:srgbClr val="163B2E">
              <a:alpha val="0"/>
            </a:srgbClr>
          </a:solidFill>
          <a:ln w="17780">
            <a:solidFill>
              <a:srgbClr val="2C5943">
                <a:alpha val="90000"/>
              </a:srgbClr>
            </a:solidFill>
            <a:prstDash val="solid"/>
          </a:ln>
        </p:spPr>
      </p:sp>
      <p:sp>
        <p:nvSpPr>
          <p:cNvPr id="9" name="Shape 7"/>
          <p:cNvSpPr/>
          <p:nvPr/>
        </p:nvSpPr>
        <p:spPr>
          <a:xfrm rot="480000">
            <a:off x="8540496" y="-36576"/>
            <a:ext cx="4864608" cy="5248656"/>
          </a:xfrm>
          <a:prstGeom prst="arc">
            <a:avLst/>
          </a:prstGeom>
          <a:solidFill>
            <a:srgbClr val="163B2E">
              <a:alpha val="0"/>
            </a:srgbClr>
          </a:solidFill>
          <a:ln w="17780">
            <a:solidFill>
              <a:srgbClr val="35674D">
                <a:alpha val="90000"/>
              </a:srgbClr>
            </a:solidFill>
            <a:prstDash val="solid"/>
          </a:ln>
        </p:spPr>
      </p:sp>
      <p:sp>
        <p:nvSpPr>
          <p:cNvPr id="10" name="Shape 8"/>
          <p:cNvSpPr/>
          <p:nvPr/>
        </p:nvSpPr>
        <p:spPr>
          <a:xfrm rot="480000">
            <a:off x="8714232" y="109728"/>
            <a:ext cx="4791456" cy="5148072"/>
          </a:xfrm>
          <a:prstGeom prst="arc">
            <a:avLst/>
          </a:prstGeom>
          <a:solidFill>
            <a:srgbClr val="163B2E">
              <a:alpha val="0"/>
            </a:srgbClr>
          </a:solidFill>
          <a:ln w="17780">
            <a:solidFill>
              <a:srgbClr val="2C5943">
                <a:alpha val="90000"/>
              </a:srgbClr>
            </a:solidFill>
            <a:prstDash val="solid"/>
          </a:ln>
        </p:spPr>
      </p:sp>
      <p:sp>
        <p:nvSpPr>
          <p:cNvPr id="11" name="Shape 9"/>
          <p:cNvSpPr/>
          <p:nvPr/>
        </p:nvSpPr>
        <p:spPr>
          <a:xfrm rot="480000">
            <a:off x="8887968" y="256032"/>
            <a:ext cx="4718304" cy="5047488"/>
          </a:xfrm>
          <a:prstGeom prst="arc">
            <a:avLst/>
          </a:prstGeom>
          <a:solidFill>
            <a:srgbClr val="163B2E">
              <a:alpha val="0"/>
            </a:srgbClr>
          </a:solidFill>
          <a:ln w="17780">
            <a:solidFill>
              <a:srgbClr val="35674D">
                <a:alpha val="90000"/>
              </a:srgbClr>
            </a:solidFill>
            <a:prstDash val="solid"/>
          </a:ln>
        </p:spPr>
      </p:sp>
      <p:sp>
        <p:nvSpPr>
          <p:cNvPr id="12" name="Shape 10"/>
          <p:cNvSpPr/>
          <p:nvPr/>
        </p:nvSpPr>
        <p:spPr>
          <a:xfrm>
            <a:off x="9372600" y="530352"/>
            <a:ext cx="1005840" cy="1005840"/>
          </a:xfrm>
          <a:prstGeom prst="ellipse">
            <a:avLst/>
          </a:prstGeom>
          <a:solidFill>
            <a:srgbClr val="C9E86D">
              <a:alpha val="93000"/>
            </a:srgbClr>
          </a:solidFill>
          <a:ln w="12700">
            <a:solidFill>
              <a:srgbClr val="C9E86D">
                <a:alpha val="0"/>
              </a:srgbClr>
            </a:solidFill>
            <a:prstDash val="solid"/>
          </a:ln>
        </p:spPr>
      </p:sp>
      <p:sp>
        <p:nvSpPr>
          <p:cNvPr id="13" name="Shape 11"/>
          <p:cNvSpPr/>
          <p:nvPr/>
        </p:nvSpPr>
        <p:spPr>
          <a:xfrm>
            <a:off x="9070848" y="228600"/>
            <a:ext cx="1600200" cy="1600200"/>
          </a:xfrm>
          <a:prstGeom prst="ellipse">
            <a:avLst/>
          </a:prstGeom>
          <a:solidFill>
            <a:srgbClr val="163B2E">
              <a:alpha val="0"/>
            </a:srgbClr>
          </a:solidFill>
          <a:ln w="12700">
            <a:solidFill>
              <a:srgbClr val="8CBF78">
                <a:alpha val="80000"/>
              </a:srgbClr>
            </a:solidFill>
            <a:prstDash val="solid"/>
          </a:ln>
        </p:spPr>
      </p:sp>
      <p:sp>
        <p:nvSpPr>
          <p:cNvPr id="14" name="Shape 12"/>
          <p:cNvSpPr/>
          <p:nvPr/>
        </p:nvSpPr>
        <p:spPr>
          <a:xfrm>
            <a:off x="713232" y="512064"/>
            <a:ext cx="2560320" cy="256032"/>
          </a:xfrm>
          <a:prstGeom prst="roundRect">
            <a:avLst>
              <a:gd name="adj" fmla="val 42857"/>
            </a:avLst>
          </a:prstGeom>
          <a:solidFill>
            <a:srgbClr val="C9E86D"/>
          </a:solidFill>
          <a:ln w="1270">
            <a:solidFill>
              <a:srgbClr val="C9E86D"/>
            </a:solidFill>
            <a:prstDash val="solid"/>
          </a:ln>
        </p:spPr>
      </p:sp>
      <p:sp>
        <p:nvSpPr>
          <p:cNvPr id="15" name="Text 13"/>
          <p:cNvSpPr txBox="1"/>
          <p:nvPr/>
        </p:nvSpPr>
        <p:spPr>
          <a:xfrm>
            <a:off x="786384" y="521208"/>
            <a:ext cx="2414016" cy="219456"/>
          </a:xfrm>
          <a:prstGeom prst="rect">
            <a:avLst/>
          </a:prstGeom>
          <a:noFill/>
          <a:ln/>
        </p:spPr>
        <p:txBody>
          <a:bodyPr wrap="square" lIns="0" tIns="0" rIns="0" bIns="0" rtlCol="0" anchor="ctr">
            <a:normAutofit/>
          </a:bodyPr>
          <a:lstStyle/>
          <a:p>
            <a:pPr algn="ctr" indent="0" marL="0">
              <a:buNone/>
            </a:pPr>
            <a:r>
              <a:rPr lang="en-US" sz="950" b="1" dirty="0">
                <a:solidFill>
                  <a:srgbClr val="163B2E"/>
                </a:solidFill>
                <a:latin typeface="Aptos" pitchFamily="34" charset="0"/>
                <a:ea typeface="Aptos" pitchFamily="34" charset="-122"/>
                <a:cs typeface="Aptos" pitchFamily="34" charset="-120"/>
              </a:rPr>
              <a:t>FIELDWISE AI  /  GROUP RESEARCH</a:t>
            </a:r>
            <a:endParaRPr lang="en-US" sz="950" dirty="0"/>
          </a:p>
        </p:txBody>
      </p:sp>
      <p:sp>
        <p:nvSpPr>
          <p:cNvPr id="16" name="Text 14"/>
          <p:cNvSpPr txBox="1"/>
          <p:nvPr/>
        </p:nvSpPr>
        <p:spPr>
          <a:xfrm>
            <a:off x="713232" y="1024128"/>
            <a:ext cx="6583680" cy="1865376"/>
          </a:xfrm>
          <a:prstGeom prst="rect">
            <a:avLst/>
          </a:prstGeom>
          <a:noFill/>
          <a:ln/>
        </p:spPr>
        <p:txBody>
          <a:bodyPr wrap="square" lIns="0" tIns="0" rIns="0" bIns="0" rtlCol="0" anchor="t">
            <a:normAutofit/>
          </a:bodyPr>
          <a:lstStyle/>
          <a:p>
            <a:pPr algn="l" indent="0" marL="0">
              <a:buNone/>
            </a:pPr>
            <a:r>
              <a:rPr lang="en-US" sz="3200" b="1" dirty="0">
                <a:solidFill>
                  <a:srgbClr val="FFFFFF"/>
                </a:solidFill>
                <a:latin typeface="Aptos Display" pitchFamily="34" charset="0"/>
                <a:ea typeface="Aptos Display" pitchFamily="34" charset="-122"/>
                <a:cs typeface="Aptos Display" pitchFamily="34" charset="-120"/>
              </a:rPr>
              <a:t>Role of Artificial</a:t>
            </a:r>
            <a:endParaRPr lang="en-US" sz="3200" dirty="0"/>
          </a:p>
          <a:p>
            <a:pPr algn="l" indent="0" marL="0">
              <a:buNone/>
            </a:pPr>
            <a:r>
              <a:rPr lang="en-US" sz="3200" b="1" dirty="0">
                <a:solidFill>
                  <a:srgbClr val="FFFFFF"/>
                </a:solidFill>
                <a:latin typeface="Aptos Display" pitchFamily="34" charset="0"/>
                <a:ea typeface="Aptos Display" pitchFamily="34" charset="-122"/>
                <a:cs typeface="Aptos Display" pitchFamily="34" charset="-120"/>
              </a:rPr>
              <a:t>Intelligence in Smart</a:t>
            </a:r>
            <a:endParaRPr lang="en-US" sz="3200" dirty="0"/>
          </a:p>
          <a:p>
            <a:pPr algn="l" indent="0" marL="0">
              <a:buNone/>
            </a:pPr>
            <a:r>
              <a:rPr lang="en-US" sz="3200" b="1" dirty="0">
                <a:solidFill>
                  <a:srgbClr val="FFFFFF"/>
                </a:solidFill>
                <a:latin typeface="Aptos Display" pitchFamily="34" charset="0"/>
                <a:ea typeface="Aptos Display" pitchFamily="34" charset="-122"/>
                <a:cs typeface="Aptos Display" pitchFamily="34" charset="-120"/>
              </a:rPr>
              <a:t>Agriculture Solutions</a:t>
            </a:r>
            <a:endParaRPr lang="en-US" sz="3200" dirty="0"/>
          </a:p>
        </p:txBody>
      </p:sp>
      <p:sp>
        <p:nvSpPr>
          <p:cNvPr id="17" name="Text 15"/>
          <p:cNvSpPr txBox="1"/>
          <p:nvPr/>
        </p:nvSpPr>
        <p:spPr>
          <a:xfrm>
            <a:off x="749808" y="2990088"/>
            <a:ext cx="6035040" cy="566928"/>
          </a:xfrm>
          <a:prstGeom prst="rect">
            <a:avLst/>
          </a:prstGeom>
          <a:noFill/>
          <a:ln/>
        </p:spPr>
        <p:txBody>
          <a:bodyPr wrap="square" lIns="0" tIns="0" rIns="0" bIns="0" rtlCol="0" anchor="t">
            <a:normAutofit/>
          </a:bodyPr>
          <a:lstStyle/>
          <a:p>
            <a:pPr algn="l" indent="0" marL="0">
              <a:buNone/>
            </a:pPr>
            <a:r>
              <a:rPr lang="en-US" sz="1500" dirty="0">
                <a:solidFill>
                  <a:srgbClr val="DDE8DE"/>
                </a:solidFill>
                <a:latin typeface="Aptos" pitchFamily="34" charset="0"/>
                <a:ea typeface="Aptos" pitchFamily="34" charset="-122"/>
                <a:cs typeface="Aptos" pitchFamily="34" charset="-120"/>
              </a:rPr>
              <a:t>A critical review across prediction, detection, optimisation, and responsible deployment</a:t>
            </a:r>
            <a:endParaRPr lang="en-US" sz="1500" dirty="0"/>
          </a:p>
        </p:txBody>
      </p:sp>
      <p:sp>
        <p:nvSpPr>
          <p:cNvPr id="18" name="Shape 16"/>
          <p:cNvSpPr/>
          <p:nvPr/>
        </p:nvSpPr>
        <p:spPr>
          <a:xfrm>
            <a:off x="749808" y="3657600"/>
            <a:ext cx="5925312" cy="0"/>
          </a:xfrm>
          <a:prstGeom prst="line">
            <a:avLst/>
          </a:prstGeom>
          <a:noFill/>
          <a:ln w="15240">
            <a:solidFill>
              <a:srgbClr val="5C866E"/>
            </a:solidFill>
            <a:prstDash val="solid"/>
          </a:ln>
        </p:spPr>
      </p:sp>
      <p:sp>
        <p:nvSpPr>
          <p:cNvPr id="19" name="Text 17"/>
          <p:cNvSpPr txBox="1"/>
          <p:nvPr/>
        </p:nvSpPr>
        <p:spPr>
          <a:xfrm>
            <a:off x="749808" y="3776472"/>
            <a:ext cx="6675120" cy="219456"/>
          </a:xfrm>
          <a:prstGeom prst="rect">
            <a:avLst/>
          </a:prstGeom>
          <a:noFill/>
          <a:ln/>
        </p:spPr>
        <p:txBody>
          <a:bodyPr wrap="square" lIns="0" tIns="0" rIns="0" bIns="0" rtlCol="0" anchor="ctr">
            <a:normAutofit/>
          </a:bodyPr>
          <a:lstStyle/>
          <a:p>
            <a:pPr algn="l" indent="0" marL="0">
              <a:buNone/>
            </a:pPr>
            <a:r>
              <a:rPr lang="en-US" sz="1050" b="1" spc="50" kern="0" dirty="0">
                <a:solidFill>
                  <a:srgbClr val="C9E86D"/>
                </a:solidFill>
                <a:latin typeface="Aptos" pitchFamily="34" charset="0"/>
                <a:ea typeface="Aptos" pitchFamily="34" charset="-122"/>
                <a:cs typeface="Aptos" pitchFamily="34" charset="-120"/>
              </a:rPr>
              <a:t>PRG4206  •  MACHINE LEARNING  •  COURSEWORK #2</a:t>
            </a:r>
            <a:endParaRPr lang="en-US" sz="1050" dirty="0"/>
          </a:p>
        </p:txBody>
      </p:sp>
      <p:sp>
        <p:nvSpPr>
          <p:cNvPr id="20" name="Text 18"/>
          <p:cNvSpPr txBox="1"/>
          <p:nvPr/>
        </p:nvSpPr>
        <p:spPr>
          <a:xfrm>
            <a:off x="749808" y="4169664"/>
            <a:ext cx="1828800" cy="182880"/>
          </a:xfrm>
          <a:prstGeom prst="rect">
            <a:avLst/>
          </a:prstGeom>
          <a:noFill/>
          <a:ln/>
        </p:spPr>
        <p:txBody>
          <a:bodyPr wrap="square" lIns="0" tIns="0" rIns="0" bIns="0" rtlCol="0" anchor="ctr">
            <a:normAutofit/>
          </a:bodyPr>
          <a:lstStyle/>
          <a:p>
            <a:pPr algn="l" indent="0" marL="0">
              <a:buNone/>
            </a:pPr>
            <a:r>
              <a:rPr lang="en-US" sz="950" b="1" spc="120" kern="0" dirty="0">
                <a:solidFill>
                  <a:srgbClr val="AFC8B5"/>
                </a:solidFill>
                <a:latin typeface="Aptos" pitchFamily="34" charset="0"/>
                <a:ea typeface="Aptos" pitchFamily="34" charset="-122"/>
                <a:cs typeface="Aptos" pitchFamily="34" charset="-120"/>
              </a:rPr>
              <a:t>GROUP MEMBERS</a:t>
            </a:r>
            <a:endParaRPr lang="en-US" sz="950" dirty="0"/>
          </a:p>
        </p:txBody>
      </p:sp>
      <p:sp>
        <p:nvSpPr>
          <p:cNvPr id="21" name="Shape 19"/>
          <p:cNvSpPr/>
          <p:nvPr/>
        </p:nvSpPr>
        <p:spPr>
          <a:xfrm>
            <a:off x="749808" y="4512564"/>
            <a:ext cx="91440" cy="91440"/>
          </a:xfrm>
          <a:prstGeom prst="ellipse">
            <a:avLst/>
          </a:prstGeom>
          <a:solidFill>
            <a:srgbClr val="C9E86D"/>
          </a:solidFill>
          <a:ln w="1270">
            <a:solidFill>
              <a:srgbClr val="C9E86D"/>
            </a:solidFill>
            <a:prstDash val="solid"/>
          </a:ln>
        </p:spPr>
      </p:sp>
      <p:sp>
        <p:nvSpPr>
          <p:cNvPr id="22" name="Text 20"/>
          <p:cNvSpPr txBox="1"/>
          <p:nvPr/>
        </p:nvSpPr>
        <p:spPr>
          <a:xfrm>
            <a:off x="914400" y="4471416"/>
            <a:ext cx="3310128" cy="201168"/>
          </a:xfrm>
          <a:prstGeom prst="rect">
            <a:avLst/>
          </a:prstGeom>
          <a:noFill/>
          <a:ln/>
        </p:spPr>
        <p:txBody>
          <a:bodyPr wrap="square" lIns="0" tIns="0" rIns="0" bIns="0" rtlCol="0" anchor="ctr">
            <a:normAutofit/>
          </a:bodyPr>
          <a:lstStyle/>
          <a:p>
            <a:pPr algn="l" indent="0" marL="0">
              <a:buNone/>
            </a:pPr>
            <a:r>
              <a:rPr lang="en-US" sz="1120" b="1" dirty="0">
                <a:solidFill>
                  <a:srgbClr val="FFFFFF"/>
                </a:solidFill>
                <a:latin typeface="Aptos" pitchFamily="34" charset="0"/>
                <a:ea typeface="Aptos" pitchFamily="34" charset="-122"/>
                <a:cs typeface="Aptos" pitchFamily="34" charset="-120"/>
              </a:rPr>
              <a:t>Gayathri Sai Tapaswini Iragavarapu</a:t>
            </a:r>
            <a:endParaRPr lang="en-US" sz="1120" dirty="0"/>
          </a:p>
        </p:txBody>
      </p:sp>
      <p:sp>
        <p:nvSpPr>
          <p:cNvPr id="23" name="Text 21"/>
          <p:cNvSpPr txBox="1"/>
          <p:nvPr/>
        </p:nvSpPr>
        <p:spPr>
          <a:xfrm>
            <a:off x="914400" y="4681728"/>
            <a:ext cx="3310128" cy="164592"/>
          </a:xfrm>
          <a:prstGeom prst="rect">
            <a:avLst/>
          </a:prstGeom>
          <a:noFill/>
          <a:ln/>
        </p:spPr>
        <p:txBody>
          <a:bodyPr wrap="square" lIns="0" tIns="0" rIns="0" bIns="0" rtlCol="0" anchor="ctr">
            <a:normAutofit/>
          </a:bodyPr>
          <a:lstStyle/>
          <a:p>
            <a:pPr algn="l" indent="0" marL="0">
              <a:buNone/>
            </a:pPr>
            <a:r>
              <a:rPr lang="en-US" sz="950" dirty="0">
                <a:solidFill>
                  <a:srgbClr val="B9CFC0"/>
                </a:solidFill>
                <a:latin typeface="Aptos" pitchFamily="34" charset="0"/>
                <a:ea typeface="Aptos" pitchFamily="34" charset="-122"/>
                <a:cs typeface="Aptos" pitchFamily="34" charset="-120"/>
              </a:rPr>
              <a:t>I26043735</a:t>
            </a:r>
            <a:endParaRPr lang="en-US" sz="950" dirty="0"/>
          </a:p>
        </p:txBody>
      </p:sp>
      <p:sp>
        <p:nvSpPr>
          <p:cNvPr id="24" name="Shape 22"/>
          <p:cNvSpPr/>
          <p:nvPr/>
        </p:nvSpPr>
        <p:spPr>
          <a:xfrm>
            <a:off x="4434840" y="4512564"/>
            <a:ext cx="91440" cy="91440"/>
          </a:xfrm>
          <a:prstGeom prst="ellipse">
            <a:avLst/>
          </a:prstGeom>
          <a:solidFill>
            <a:srgbClr val="C9E86D"/>
          </a:solidFill>
          <a:ln w="1270">
            <a:solidFill>
              <a:srgbClr val="C9E86D"/>
            </a:solidFill>
            <a:prstDash val="solid"/>
          </a:ln>
        </p:spPr>
      </p:sp>
      <p:sp>
        <p:nvSpPr>
          <p:cNvPr id="25" name="Text 23"/>
          <p:cNvSpPr txBox="1"/>
          <p:nvPr/>
        </p:nvSpPr>
        <p:spPr>
          <a:xfrm>
            <a:off x="4599432" y="4471416"/>
            <a:ext cx="3035808" cy="201168"/>
          </a:xfrm>
          <a:prstGeom prst="rect">
            <a:avLst/>
          </a:prstGeom>
          <a:noFill/>
          <a:ln/>
        </p:spPr>
        <p:txBody>
          <a:bodyPr wrap="square" lIns="0" tIns="0" rIns="0" bIns="0" rtlCol="0" anchor="ctr">
            <a:normAutofit/>
          </a:bodyPr>
          <a:lstStyle/>
          <a:p>
            <a:pPr algn="l" indent="0" marL="0">
              <a:buNone/>
            </a:pPr>
            <a:r>
              <a:rPr lang="en-US" sz="1120" b="1" dirty="0">
                <a:solidFill>
                  <a:srgbClr val="FFFFFF"/>
                </a:solidFill>
                <a:latin typeface="Aptos" pitchFamily="34" charset="0"/>
                <a:ea typeface="Aptos" pitchFamily="34" charset="-122"/>
                <a:cs typeface="Aptos" pitchFamily="34" charset="-120"/>
              </a:rPr>
              <a:t>Mohan Mekala</a:t>
            </a:r>
            <a:endParaRPr lang="en-US" sz="1120" dirty="0"/>
          </a:p>
        </p:txBody>
      </p:sp>
      <p:sp>
        <p:nvSpPr>
          <p:cNvPr id="26" name="Text 24"/>
          <p:cNvSpPr txBox="1"/>
          <p:nvPr/>
        </p:nvSpPr>
        <p:spPr>
          <a:xfrm>
            <a:off x="4599432" y="4681728"/>
            <a:ext cx="3035808" cy="164592"/>
          </a:xfrm>
          <a:prstGeom prst="rect">
            <a:avLst/>
          </a:prstGeom>
          <a:noFill/>
          <a:ln/>
        </p:spPr>
        <p:txBody>
          <a:bodyPr wrap="square" lIns="0" tIns="0" rIns="0" bIns="0" rtlCol="0" anchor="ctr">
            <a:normAutofit/>
          </a:bodyPr>
          <a:lstStyle/>
          <a:p>
            <a:pPr algn="l" indent="0" marL="0">
              <a:buNone/>
            </a:pPr>
            <a:r>
              <a:rPr lang="en-US" sz="950" dirty="0">
                <a:solidFill>
                  <a:srgbClr val="B9CFC0"/>
                </a:solidFill>
                <a:latin typeface="Aptos" pitchFamily="34" charset="0"/>
                <a:ea typeface="Aptos" pitchFamily="34" charset="-122"/>
                <a:cs typeface="Aptos" pitchFamily="34" charset="-120"/>
              </a:rPr>
              <a:t>I26043589</a:t>
            </a:r>
            <a:endParaRPr lang="en-US" sz="950" dirty="0"/>
          </a:p>
        </p:txBody>
      </p:sp>
      <p:sp>
        <p:nvSpPr>
          <p:cNvPr id="27" name="Shape 25"/>
          <p:cNvSpPr/>
          <p:nvPr/>
        </p:nvSpPr>
        <p:spPr>
          <a:xfrm>
            <a:off x="749808" y="5106924"/>
            <a:ext cx="91440" cy="91440"/>
          </a:xfrm>
          <a:prstGeom prst="ellipse">
            <a:avLst/>
          </a:prstGeom>
          <a:solidFill>
            <a:srgbClr val="C9E86D"/>
          </a:solidFill>
          <a:ln w="1270">
            <a:solidFill>
              <a:srgbClr val="C9E86D"/>
            </a:solidFill>
            <a:prstDash val="solid"/>
          </a:ln>
        </p:spPr>
      </p:sp>
      <p:sp>
        <p:nvSpPr>
          <p:cNvPr id="28" name="Text 26"/>
          <p:cNvSpPr txBox="1"/>
          <p:nvPr/>
        </p:nvSpPr>
        <p:spPr>
          <a:xfrm>
            <a:off x="914400" y="5065776"/>
            <a:ext cx="3310128" cy="201168"/>
          </a:xfrm>
          <a:prstGeom prst="rect">
            <a:avLst/>
          </a:prstGeom>
          <a:noFill/>
          <a:ln/>
        </p:spPr>
        <p:txBody>
          <a:bodyPr wrap="square" lIns="0" tIns="0" rIns="0" bIns="0" rtlCol="0" anchor="ctr">
            <a:normAutofit/>
          </a:bodyPr>
          <a:lstStyle/>
          <a:p>
            <a:pPr algn="l" indent="0" marL="0">
              <a:buNone/>
            </a:pPr>
            <a:r>
              <a:rPr lang="en-US" sz="1120" b="1" dirty="0">
                <a:solidFill>
                  <a:srgbClr val="FFFFFF"/>
                </a:solidFill>
                <a:latin typeface="Aptos" pitchFamily="34" charset="0"/>
                <a:ea typeface="Aptos" pitchFamily="34" charset="-122"/>
                <a:cs typeface="Aptos" pitchFamily="34" charset="-120"/>
              </a:rPr>
              <a:t>Uma Maheshwari Srinivasan</a:t>
            </a:r>
            <a:endParaRPr lang="en-US" sz="1120" dirty="0"/>
          </a:p>
        </p:txBody>
      </p:sp>
      <p:sp>
        <p:nvSpPr>
          <p:cNvPr id="29" name="Text 27"/>
          <p:cNvSpPr txBox="1"/>
          <p:nvPr/>
        </p:nvSpPr>
        <p:spPr>
          <a:xfrm>
            <a:off x="914400" y="5276088"/>
            <a:ext cx="3310128" cy="164592"/>
          </a:xfrm>
          <a:prstGeom prst="rect">
            <a:avLst/>
          </a:prstGeom>
          <a:noFill/>
          <a:ln/>
        </p:spPr>
        <p:txBody>
          <a:bodyPr wrap="square" lIns="0" tIns="0" rIns="0" bIns="0" rtlCol="0" anchor="ctr">
            <a:normAutofit/>
          </a:bodyPr>
          <a:lstStyle/>
          <a:p>
            <a:pPr algn="l" indent="0" marL="0">
              <a:buNone/>
            </a:pPr>
            <a:r>
              <a:rPr lang="en-US" sz="950" dirty="0">
                <a:solidFill>
                  <a:srgbClr val="B9CFC0"/>
                </a:solidFill>
                <a:latin typeface="Aptos" pitchFamily="34" charset="0"/>
                <a:ea typeface="Aptos" pitchFamily="34" charset="-122"/>
                <a:cs typeface="Aptos" pitchFamily="34" charset="-120"/>
              </a:rPr>
              <a:t>I26044266</a:t>
            </a:r>
            <a:endParaRPr lang="en-US" sz="950" dirty="0"/>
          </a:p>
        </p:txBody>
      </p:sp>
      <p:sp>
        <p:nvSpPr>
          <p:cNvPr id="30" name="Shape 28"/>
          <p:cNvSpPr/>
          <p:nvPr/>
        </p:nvSpPr>
        <p:spPr>
          <a:xfrm>
            <a:off x="4434840" y="5106924"/>
            <a:ext cx="91440" cy="91440"/>
          </a:xfrm>
          <a:prstGeom prst="ellipse">
            <a:avLst/>
          </a:prstGeom>
          <a:solidFill>
            <a:srgbClr val="C9E86D"/>
          </a:solidFill>
          <a:ln w="1270">
            <a:solidFill>
              <a:srgbClr val="C9E86D"/>
            </a:solidFill>
            <a:prstDash val="solid"/>
          </a:ln>
        </p:spPr>
      </p:sp>
      <p:sp>
        <p:nvSpPr>
          <p:cNvPr id="31" name="Text 29"/>
          <p:cNvSpPr txBox="1"/>
          <p:nvPr/>
        </p:nvSpPr>
        <p:spPr>
          <a:xfrm>
            <a:off x="4599432" y="5065776"/>
            <a:ext cx="3035808" cy="201168"/>
          </a:xfrm>
          <a:prstGeom prst="rect">
            <a:avLst/>
          </a:prstGeom>
          <a:noFill/>
          <a:ln/>
        </p:spPr>
        <p:txBody>
          <a:bodyPr wrap="square" lIns="0" tIns="0" rIns="0" bIns="0" rtlCol="0" anchor="ctr">
            <a:normAutofit/>
          </a:bodyPr>
          <a:lstStyle/>
          <a:p>
            <a:pPr algn="l" indent="0" marL="0">
              <a:buNone/>
            </a:pPr>
            <a:r>
              <a:rPr lang="en-US" sz="1120" b="1" dirty="0">
                <a:solidFill>
                  <a:srgbClr val="FFFFFF"/>
                </a:solidFill>
                <a:latin typeface="Aptos" pitchFamily="34" charset="0"/>
                <a:ea typeface="Aptos" pitchFamily="34" charset="-122"/>
                <a:cs typeface="Aptos" pitchFamily="34" charset="-120"/>
              </a:rPr>
              <a:t>Takunda Godwell Mushure</a:t>
            </a:r>
            <a:endParaRPr lang="en-US" sz="1120" dirty="0"/>
          </a:p>
        </p:txBody>
      </p:sp>
      <p:sp>
        <p:nvSpPr>
          <p:cNvPr id="32" name="Text 30"/>
          <p:cNvSpPr txBox="1"/>
          <p:nvPr/>
        </p:nvSpPr>
        <p:spPr>
          <a:xfrm>
            <a:off x="4599432" y="5276088"/>
            <a:ext cx="3035808" cy="164592"/>
          </a:xfrm>
          <a:prstGeom prst="rect">
            <a:avLst/>
          </a:prstGeom>
          <a:noFill/>
          <a:ln/>
        </p:spPr>
        <p:txBody>
          <a:bodyPr wrap="square" lIns="0" tIns="0" rIns="0" bIns="0" rtlCol="0" anchor="ctr">
            <a:normAutofit/>
          </a:bodyPr>
          <a:lstStyle/>
          <a:p>
            <a:pPr algn="l" indent="0" marL="0">
              <a:buNone/>
            </a:pPr>
            <a:r>
              <a:rPr lang="en-US" sz="950" dirty="0">
                <a:solidFill>
                  <a:srgbClr val="B9CFC0"/>
                </a:solidFill>
                <a:latin typeface="Aptos" pitchFamily="34" charset="0"/>
                <a:ea typeface="Aptos" pitchFamily="34" charset="-122"/>
                <a:cs typeface="Aptos" pitchFamily="34" charset="-120"/>
              </a:rPr>
              <a:t>I25029962</a:t>
            </a:r>
            <a:endParaRPr lang="en-US" sz="950" dirty="0"/>
          </a:p>
        </p:txBody>
      </p:sp>
      <p:sp>
        <p:nvSpPr>
          <p:cNvPr id="33" name="Shape 31"/>
          <p:cNvSpPr/>
          <p:nvPr/>
        </p:nvSpPr>
        <p:spPr>
          <a:xfrm>
            <a:off x="749808" y="5701284"/>
            <a:ext cx="91440" cy="91440"/>
          </a:xfrm>
          <a:prstGeom prst="ellipse">
            <a:avLst/>
          </a:prstGeom>
          <a:solidFill>
            <a:srgbClr val="C9E86D"/>
          </a:solidFill>
          <a:ln w="1270">
            <a:solidFill>
              <a:srgbClr val="C9E86D"/>
            </a:solidFill>
            <a:prstDash val="solid"/>
          </a:ln>
        </p:spPr>
      </p:sp>
      <p:sp>
        <p:nvSpPr>
          <p:cNvPr id="34" name="Text 32"/>
          <p:cNvSpPr txBox="1"/>
          <p:nvPr/>
        </p:nvSpPr>
        <p:spPr>
          <a:xfrm>
            <a:off x="914400" y="5660136"/>
            <a:ext cx="5230368" cy="201168"/>
          </a:xfrm>
          <a:prstGeom prst="rect">
            <a:avLst/>
          </a:prstGeom>
          <a:noFill/>
          <a:ln/>
        </p:spPr>
        <p:txBody>
          <a:bodyPr wrap="square" lIns="0" tIns="0" rIns="0" bIns="0" rtlCol="0" anchor="ctr">
            <a:normAutofit/>
          </a:bodyPr>
          <a:lstStyle/>
          <a:p>
            <a:pPr algn="l" indent="0" marL="0">
              <a:buNone/>
            </a:pPr>
            <a:r>
              <a:rPr lang="en-US" sz="1120" b="1" dirty="0">
                <a:solidFill>
                  <a:srgbClr val="FFFFFF"/>
                </a:solidFill>
                <a:latin typeface="Aptos" pitchFamily="34" charset="0"/>
                <a:ea typeface="Aptos" pitchFamily="34" charset="-122"/>
                <a:cs typeface="Aptos" pitchFamily="34" charset="-120"/>
              </a:rPr>
              <a:t>Vishnu Vardhan Chilakacharla</a:t>
            </a:r>
            <a:endParaRPr lang="en-US" sz="1120" dirty="0"/>
          </a:p>
        </p:txBody>
      </p:sp>
      <p:sp>
        <p:nvSpPr>
          <p:cNvPr id="35" name="Text 33"/>
          <p:cNvSpPr txBox="1"/>
          <p:nvPr/>
        </p:nvSpPr>
        <p:spPr>
          <a:xfrm>
            <a:off x="914400" y="5870448"/>
            <a:ext cx="5230368" cy="164592"/>
          </a:xfrm>
          <a:prstGeom prst="rect">
            <a:avLst/>
          </a:prstGeom>
          <a:noFill/>
          <a:ln/>
        </p:spPr>
        <p:txBody>
          <a:bodyPr wrap="square" lIns="0" tIns="0" rIns="0" bIns="0" rtlCol="0" anchor="ctr">
            <a:normAutofit/>
          </a:bodyPr>
          <a:lstStyle/>
          <a:p>
            <a:pPr algn="l" indent="0" marL="0">
              <a:buNone/>
            </a:pPr>
            <a:r>
              <a:rPr lang="en-US" sz="950" dirty="0">
                <a:solidFill>
                  <a:srgbClr val="B9CFC0"/>
                </a:solidFill>
                <a:latin typeface="Aptos" pitchFamily="34" charset="0"/>
                <a:ea typeface="Aptos" pitchFamily="34" charset="-122"/>
                <a:cs typeface="Aptos" pitchFamily="34" charset="-120"/>
              </a:rPr>
              <a:t>I26043592</a:t>
            </a:r>
            <a:endParaRPr lang="en-US" sz="950" dirty="0"/>
          </a:p>
        </p:txBody>
      </p:sp>
      <p:sp>
        <p:nvSpPr>
          <p:cNvPr id="36" name="Text 34"/>
          <p:cNvSpPr txBox="1"/>
          <p:nvPr/>
        </p:nvSpPr>
        <p:spPr>
          <a:xfrm>
            <a:off x="7406640" y="6336792"/>
            <a:ext cx="4069080" cy="182880"/>
          </a:xfrm>
          <a:prstGeom prst="rect">
            <a:avLst/>
          </a:prstGeom>
          <a:noFill/>
          <a:ln/>
        </p:spPr>
        <p:txBody>
          <a:bodyPr wrap="square" lIns="0" tIns="0" rIns="0" bIns="0" rtlCol="0" anchor="ctr">
            <a:normAutofit/>
          </a:bodyPr>
          <a:lstStyle/>
          <a:p>
            <a:pPr algn="r" indent="0" marL="0">
              <a:buNone/>
            </a:pPr>
            <a:r>
              <a:rPr lang="en-US" sz="850" dirty="0">
                <a:solidFill>
                  <a:srgbClr val="B8CBBE"/>
                </a:solidFill>
                <a:latin typeface="Aptos" pitchFamily="34" charset="0"/>
                <a:ea typeface="Aptos" pitchFamily="34" charset="-122"/>
                <a:cs typeface="Aptos" pitchFamily="34" charset="-120"/>
              </a:rPr>
              <a:t>INTI INTERNATIONAL UNIVERSITY  •  BCSI  •  AUG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94360" y="329184"/>
            <a:ext cx="10972800" cy="201168"/>
          </a:xfrm>
          <a:prstGeom prst="rect">
            <a:avLst/>
          </a:prstGeom>
          <a:noFill/>
          <a:ln/>
        </p:spPr>
        <p:txBody>
          <a:bodyPr wrap="square" lIns="0" tIns="0" rIns="0" bIns="0" rtlCol="0" anchor="ctr">
            <a:normAutofit/>
          </a:bodyPr>
          <a:lstStyle/>
          <a:p>
            <a:pPr algn="l" indent="0" marL="0">
              <a:buNone/>
            </a:pPr>
            <a:r>
              <a:rPr lang="en-US" sz="1000" b="1" spc="125" kern="0" dirty="0">
                <a:solidFill>
                  <a:srgbClr val="2F7253"/>
                </a:solidFill>
                <a:latin typeface="Aptos" pitchFamily="34" charset="0"/>
                <a:ea typeface="Aptos" pitchFamily="34" charset="-122"/>
                <a:cs typeface="Aptos" pitchFamily="34" charset="-120"/>
              </a:rPr>
              <a:t>01  /  QUESTION &amp; SCOPE</a:t>
            </a:r>
            <a:endParaRPr lang="en-US" sz="1000" dirty="0"/>
          </a:p>
        </p:txBody>
      </p:sp>
      <p:sp>
        <p:nvSpPr>
          <p:cNvPr id="3" name="Text 1"/>
          <p:cNvSpPr txBox="1"/>
          <p:nvPr/>
        </p:nvSpPr>
        <p:spPr>
          <a:xfrm>
            <a:off x="594360" y="612648"/>
            <a:ext cx="11018520" cy="457200"/>
          </a:xfrm>
          <a:prstGeom prst="rect">
            <a:avLst/>
          </a:prstGeom>
          <a:noFill/>
          <a:ln/>
        </p:spPr>
        <p:txBody>
          <a:bodyPr wrap="square" lIns="0" tIns="0" rIns="0" bIns="0" rtlCol="0" anchor="ctr">
            <a:normAutofit/>
          </a:bodyPr>
          <a:lstStyle/>
          <a:p>
            <a:pPr algn="l" indent="0" marL="0">
              <a:buNone/>
            </a:pPr>
            <a:r>
              <a:rPr lang="en-US" sz="2600" b="1" dirty="0">
                <a:solidFill>
                  <a:srgbClr val="163B2E"/>
                </a:solidFill>
                <a:latin typeface="Aptos Display" pitchFamily="34" charset="0"/>
                <a:ea typeface="Aptos Display" pitchFamily="34" charset="-122"/>
                <a:cs typeface="Aptos Display" pitchFamily="34" charset="-120"/>
              </a:rPr>
              <a:t>AI across the whole agricultural value chain</a:t>
            </a:r>
            <a:endParaRPr lang="en-US" sz="2600" dirty="0"/>
          </a:p>
        </p:txBody>
      </p:sp>
      <p:sp>
        <p:nvSpPr>
          <p:cNvPr id="4" name="Text 2"/>
          <p:cNvSpPr txBox="1"/>
          <p:nvPr/>
        </p:nvSpPr>
        <p:spPr>
          <a:xfrm>
            <a:off x="612648" y="1115568"/>
            <a:ext cx="10927080" cy="301752"/>
          </a:xfrm>
          <a:prstGeom prst="rect">
            <a:avLst/>
          </a:prstGeom>
          <a:noFill/>
          <a:ln/>
        </p:spPr>
        <p:txBody>
          <a:bodyPr wrap="square" lIns="0" tIns="0" rIns="0" bIns="0" rtlCol="0" anchor="ctr">
            <a:normAutofit/>
          </a:bodyPr>
          <a:lstStyle/>
          <a:p>
            <a:pPr algn="l" indent="0" marL="0">
              <a:buNone/>
            </a:pPr>
            <a:r>
              <a:rPr lang="en-US" sz="1250" dirty="0">
                <a:solidFill>
                  <a:srgbClr val="617065"/>
                </a:solidFill>
                <a:latin typeface="Aptos" pitchFamily="34" charset="0"/>
                <a:ea typeface="Aptos" pitchFamily="34" charset="-122"/>
                <a:cs typeface="Aptos" pitchFamily="34" charset="-120"/>
              </a:rPr>
              <a:t>The assignment asks how ML can support prediction, detection, monitoring, and optimisation across modern farming.</a:t>
            </a:r>
            <a:endParaRPr lang="en-US" sz="1250" dirty="0"/>
          </a:p>
        </p:txBody>
      </p:sp>
      <p:sp>
        <p:nvSpPr>
          <p:cNvPr id="5" name="Shape 3"/>
          <p:cNvSpPr/>
          <p:nvPr/>
        </p:nvSpPr>
        <p:spPr>
          <a:xfrm>
            <a:off x="612648" y="1627632"/>
            <a:ext cx="6492240" cy="1874520"/>
          </a:xfrm>
          <a:prstGeom prst="roundRect">
            <a:avLst>
              <a:gd name="adj" fmla="val 5854"/>
            </a:avLst>
          </a:prstGeom>
          <a:solidFill>
            <a:srgbClr val="163B2E"/>
          </a:solidFill>
          <a:ln w="8890">
            <a:solidFill>
              <a:srgbClr val="163B2E"/>
            </a:solidFill>
            <a:prstDash val="solid"/>
          </a:ln>
        </p:spPr>
      </p:sp>
      <p:sp>
        <p:nvSpPr>
          <p:cNvPr id="6" name="Text 4"/>
          <p:cNvSpPr txBox="1"/>
          <p:nvPr/>
        </p:nvSpPr>
        <p:spPr>
          <a:xfrm>
            <a:off x="877824" y="1865376"/>
            <a:ext cx="2377440" cy="219456"/>
          </a:xfrm>
          <a:prstGeom prst="rect">
            <a:avLst/>
          </a:prstGeom>
          <a:noFill/>
          <a:ln/>
        </p:spPr>
        <p:txBody>
          <a:bodyPr wrap="square" lIns="0" tIns="0" rIns="0" bIns="0" rtlCol="0" anchor="ctr">
            <a:normAutofit/>
          </a:bodyPr>
          <a:lstStyle/>
          <a:p>
            <a:pPr algn="l" indent="0" marL="0">
              <a:buNone/>
            </a:pPr>
            <a:r>
              <a:rPr lang="en-US" sz="1000" b="1" spc="110" kern="0" dirty="0">
                <a:solidFill>
                  <a:srgbClr val="C9E86D"/>
                </a:solidFill>
                <a:latin typeface="Aptos" pitchFamily="34" charset="0"/>
                <a:ea typeface="Aptos" pitchFamily="34" charset="-122"/>
                <a:cs typeface="Aptos" pitchFamily="34" charset="-120"/>
              </a:rPr>
              <a:t>RESEARCH QUESTION</a:t>
            </a:r>
            <a:endParaRPr lang="en-US" sz="1000" dirty="0"/>
          </a:p>
        </p:txBody>
      </p:sp>
      <p:sp>
        <p:nvSpPr>
          <p:cNvPr id="7" name="Text 5"/>
          <p:cNvSpPr txBox="1"/>
          <p:nvPr/>
        </p:nvSpPr>
        <p:spPr>
          <a:xfrm>
            <a:off x="877824" y="2212848"/>
            <a:ext cx="5760720" cy="914400"/>
          </a:xfrm>
          <a:prstGeom prst="rect">
            <a:avLst/>
          </a:prstGeom>
          <a:noFill/>
          <a:ln/>
        </p:spPr>
        <p:txBody>
          <a:bodyPr wrap="square" lIns="0" tIns="0" rIns="0" bIns="0" rtlCol="0" anchor="t">
            <a:normAutofit/>
          </a:bodyPr>
          <a:lstStyle/>
          <a:p>
            <a:pPr algn="l" indent="0" marL="0">
              <a:buNone/>
            </a:pPr>
            <a:r>
              <a:rPr lang="en-US" sz="2000" b="1" dirty="0">
                <a:solidFill>
                  <a:srgbClr val="FFFFFF"/>
                </a:solidFill>
                <a:latin typeface="Aptos Display" pitchFamily="34" charset="0"/>
                <a:ea typeface="Aptos Display" pitchFamily="34" charset="-122"/>
                <a:cs typeface="Aptos Display" pitchFamily="34" charset="-120"/>
              </a:rPr>
              <a:t>What role does AI play across the smart agriculture ecosystem—and how should models be designed for real farm conditions?</a:t>
            </a:r>
            <a:endParaRPr lang="en-US" sz="2000" dirty="0"/>
          </a:p>
        </p:txBody>
      </p:sp>
      <p:sp>
        <p:nvSpPr>
          <p:cNvPr id="8" name="Shape 6"/>
          <p:cNvSpPr/>
          <p:nvPr/>
        </p:nvSpPr>
        <p:spPr>
          <a:xfrm>
            <a:off x="7360920" y="1664208"/>
            <a:ext cx="1261872" cy="1024128"/>
          </a:xfrm>
          <a:prstGeom prst="roundRect">
            <a:avLst>
              <a:gd name="adj" fmla="val 10714"/>
            </a:avLst>
          </a:prstGeom>
          <a:solidFill>
            <a:srgbClr val="FFFFFF"/>
          </a:solidFill>
          <a:ln w="8890">
            <a:solidFill>
              <a:srgbClr val="D9E1D7"/>
            </a:solidFill>
            <a:prstDash val="solid"/>
          </a:ln>
        </p:spPr>
      </p:sp>
      <p:sp>
        <p:nvSpPr>
          <p:cNvPr id="9" name="Text 7"/>
          <p:cNvSpPr txBox="1"/>
          <p:nvPr/>
        </p:nvSpPr>
        <p:spPr>
          <a:xfrm>
            <a:off x="7470648" y="1819656"/>
            <a:ext cx="1042416" cy="393192"/>
          </a:xfrm>
          <a:prstGeom prst="rect">
            <a:avLst/>
          </a:prstGeom>
          <a:noFill/>
          <a:ln/>
        </p:spPr>
        <p:txBody>
          <a:bodyPr wrap="square" lIns="0" tIns="0" rIns="0" bIns="0" rtlCol="0" anchor="ctr">
            <a:normAutofit/>
          </a:bodyPr>
          <a:lstStyle/>
          <a:p>
            <a:pPr algn="ctr" indent="0" marL="0">
              <a:buNone/>
            </a:pPr>
            <a:r>
              <a:rPr lang="en-US" sz="2600" b="1" dirty="0">
                <a:solidFill>
                  <a:srgbClr val="2F7253"/>
                </a:solidFill>
                <a:latin typeface="Aptos Display" pitchFamily="34" charset="0"/>
                <a:ea typeface="Aptos Display" pitchFamily="34" charset="-122"/>
                <a:cs typeface="Aptos Display" pitchFamily="34" charset="-120"/>
              </a:rPr>
              <a:t>55</a:t>
            </a:r>
            <a:endParaRPr lang="en-US" sz="2600" dirty="0"/>
          </a:p>
        </p:txBody>
      </p:sp>
      <p:sp>
        <p:nvSpPr>
          <p:cNvPr id="10" name="Text 8"/>
          <p:cNvSpPr txBox="1"/>
          <p:nvPr/>
        </p:nvSpPr>
        <p:spPr>
          <a:xfrm>
            <a:off x="7434072" y="2267712"/>
            <a:ext cx="1115568" cy="228600"/>
          </a:xfrm>
          <a:prstGeom prst="rect">
            <a:avLst/>
          </a:prstGeom>
          <a:noFill/>
          <a:ln/>
        </p:spPr>
        <p:txBody>
          <a:bodyPr wrap="square" lIns="0" tIns="0" rIns="0" bIns="0" rtlCol="0" anchor="ctr">
            <a:normAutofit/>
          </a:bodyPr>
          <a:lstStyle/>
          <a:p>
            <a:pPr algn="ctr" indent="0" marL="0">
              <a:buNone/>
            </a:pPr>
            <a:r>
              <a:rPr lang="en-US" sz="920" dirty="0">
                <a:solidFill>
                  <a:srgbClr val="617065"/>
                </a:solidFill>
                <a:latin typeface="Aptos" pitchFamily="34" charset="0"/>
                <a:ea typeface="Aptos" pitchFamily="34" charset="-122"/>
                <a:cs typeface="Aptos" pitchFamily="34" charset="-120"/>
              </a:rPr>
              <a:t>core records</a:t>
            </a:r>
            <a:endParaRPr lang="en-US" sz="920" dirty="0"/>
          </a:p>
        </p:txBody>
      </p:sp>
      <p:sp>
        <p:nvSpPr>
          <p:cNvPr id="11" name="Shape 9"/>
          <p:cNvSpPr/>
          <p:nvPr/>
        </p:nvSpPr>
        <p:spPr>
          <a:xfrm>
            <a:off x="8759952" y="1664208"/>
            <a:ext cx="1261872" cy="1024128"/>
          </a:xfrm>
          <a:prstGeom prst="roundRect">
            <a:avLst>
              <a:gd name="adj" fmla="val 10714"/>
            </a:avLst>
          </a:prstGeom>
          <a:solidFill>
            <a:srgbClr val="FFFFFF"/>
          </a:solidFill>
          <a:ln w="8890">
            <a:solidFill>
              <a:srgbClr val="D9E1D7"/>
            </a:solidFill>
            <a:prstDash val="solid"/>
          </a:ln>
        </p:spPr>
      </p:sp>
      <p:sp>
        <p:nvSpPr>
          <p:cNvPr id="12" name="Text 10"/>
          <p:cNvSpPr txBox="1"/>
          <p:nvPr/>
        </p:nvSpPr>
        <p:spPr>
          <a:xfrm>
            <a:off x="8869680" y="1819656"/>
            <a:ext cx="1042416" cy="393192"/>
          </a:xfrm>
          <a:prstGeom prst="rect">
            <a:avLst/>
          </a:prstGeom>
          <a:noFill/>
          <a:ln/>
        </p:spPr>
        <p:txBody>
          <a:bodyPr wrap="square" lIns="0" tIns="0" rIns="0" bIns="0" rtlCol="0" anchor="ctr">
            <a:normAutofit/>
          </a:bodyPr>
          <a:lstStyle/>
          <a:p>
            <a:pPr algn="ctr" indent="0" marL="0">
              <a:buNone/>
            </a:pPr>
            <a:r>
              <a:rPr lang="en-US" sz="2600" b="1" dirty="0">
                <a:solidFill>
                  <a:srgbClr val="2F7253"/>
                </a:solidFill>
                <a:latin typeface="Aptos Display" pitchFamily="34" charset="0"/>
                <a:ea typeface="Aptos Display" pitchFamily="34" charset="-122"/>
                <a:cs typeface="Aptos Display" pitchFamily="34" charset="-120"/>
              </a:rPr>
              <a:t>5</a:t>
            </a:r>
            <a:endParaRPr lang="en-US" sz="2600" dirty="0"/>
          </a:p>
        </p:txBody>
      </p:sp>
      <p:sp>
        <p:nvSpPr>
          <p:cNvPr id="13" name="Text 11"/>
          <p:cNvSpPr txBox="1"/>
          <p:nvPr/>
        </p:nvSpPr>
        <p:spPr>
          <a:xfrm>
            <a:off x="8833104" y="2267712"/>
            <a:ext cx="1115568" cy="228600"/>
          </a:xfrm>
          <a:prstGeom prst="rect">
            <a:avLst/>
          </a:prstGeom>
          <a:noFill/>
          <a:ln/>
        </p:spPr>
        <p:txBody>
          <a:bodyPr wrap="square" lIns="0" tIns="0" rIns="0" bIns="0" rtlCol="0" anchor="ctr">
            <a:normAutofit/>
          </a:bodyPr>
          <a:lstStyle/>
          <a:p>
            <a:pPr algn="ctr" indent="0" marL="0">
              <a:buNone/>
            </a:pPr>
            <a:r>
              <a:rPr lang="en-US" sz="920" dirty="0">
                <a:solidFill>
                  <a:srgbClr val="617065"/>
                </a:solidFill>
                <a:latin typeface="Aptos" pitchFamily="34" charset="0"/>
                <a:ea typeface="Aptos" pitchFamily="34" charset="-122"/>
                <a:cs typeface="Aptos" pitchFamily="34" charset="-120"/>
              </a:rPr>
              <a:t>focus areas</a:t>
            </a:r>
            <a:endParaRPr lang="en-US" sz="920" dirty="0"/>
          </a:p>
        </p:txBody>
      </p:sp>
      <p:sp>
        <p:nvSpPr>
          <p:cNvPr id="14" name="Shape 12"/>
          <p:cNvSpPr/>
          <p:nvPr/>
        </p:nvSpPr>
        <p:spPr>
          <a:xfrm>
            <a:off x="10158984" y="1664208"/>
            <a:ext cx="1261872" cy="1024128"/>
          </a:xfrm>
          <a:prstGeom prst="roundRect">
            <a:avLst>
              <a:gd name="adj" fmla="val 10714"/>
            </a:avLst>
          </a:prstGeom>
          <a:solidFill>
            <a:srgbClr val="FFFFFF"/>
          </a:solidFill>
          <a:ln w="8890">
            <a:solidFill>
              <a:srgbClr val="D9E1D7"/>
            </a:solidFill>
            <a:prstDash val="solid"/>
          </a:ln>
        </p:spPr>
      </p:sp>
      <p:sp>
        <p:nvSpPr>
          <p:cNvPr id="15" name="Text 13"/>
          <p:cNvSpPr txBox="1"/>
          <p:nvPr/>
        </p:nvSpPr>
        <p:spPr>
          <a:xfrm>
            <a:off x="10268712" y="1819656"/>
            <a:ext cx="1042416" cy="393192"/>
          </a:xfrm>
          <a:prstGeom prst="rect">
            <a:avLst/>
          </a:prstGeom>
          <a:noFill/>
          <a:ln/>
        </p:spPr>
        <p:txBody>
          <a:bodyPr wrap="square" lIns="0" tIns="0" rIns="0" bIns="0" rtlCol="0" anchor="ctr">
            <a:normAutofit/>
          </a:bodyPr>
          <a:lstStyle/>
          <a:p>
            <a:pPr algn="ctr" indent="0" marL="0">
              <a:buNone/>
            </a:pPr>
            <a:r>
              <a:rPr lang="en-US" sz="2600" b="1" dirty="0">
                <a:solidFill>
                  <a:srgbClr val="2F7253"/>
                </a:solidFill>
                <a:latin typeface="Aptos Display" pitchFamily="34" charset="0"/>
                <a:ea typeface="Aptos Display" pitchFamily="34" charset="-122"/>
                <a:cs typeface="Aptos Display" pitchFamily="34" charset="-120"/>
              </a:rPr>
              <a:t>11</a:t>
            </a:r>
            <a:endParaRPr lang="en-US" sz="2600" dirty="0"/>
          </a:p>
        </p:txBody>
      </p:sp>
      <p:sp>
        <p:nvSpPr>
          <p:cNvPr id="16" name="Text 14"/>
          <p:cNvSpPr txBox="1"/>
          <p:nvPr/>
        </p:nvSpPr>
        <p:spPr>
          <a:xfrm>
            <a:off x="10232136" y="2267712"/>
            <a:ext cx="1115568" cy="228600"/>
          </a:xfrm>
          <a:prstGeom prst="rect">
            <a:avLst/>
          </a:prstGeom>
          <a:noFill/>
          <a:ln/>
        </p:spPr>
        <p:txBody>
          <a:bodyPr wrap="square" lIns="0" tIns="0" rIns="0" bIns="0" rtlCol="0" anchor="ctr">
            <a:normAutofit/>
          </a:bodyPr>
          <a:lstStyle/>
          <a:p>
            <a:pPr algn="ctr" indent="0" marL="0">
              <a:buNone/>
            </a:pPr>
            <a:r>
              <a:rPr lang="en-US" sz="920" dirty="0">
                <a:solidFill>
                  <a:srgbClr val="617065"/>
                </a:solidFill>
                <a:latin typeface="Aptos" pitchFamily="34" charset="0"/>
                <a:ea typeface="Aptos" pitchFamily="34" charset="-122"/>
                <a:cs typeface="Aptos" pitchFamily="34" charset="-120"/>
              </a:rPr>
              <a:t>records per area</a:t>
            </a:r>
            <a:endParaRPr lang="en-US" sz="920" dirty="0"/>
          </a:p>
        </p:txBody>
      </p:sp>
      <p:sp>
        <p:nvSpPr>
          <p:cNvPr id="17" name="Text 15"/>
          <p:cNvSpPr txBox="1"/>
          <p:nvPr/>
        </p:nvSpPr>
        <p:spPr>
          <a:xfrm>
            <a:off x="667512" y="3749040"/>
            <a:ext cx="3657600" cy="219456"/>
          </a:xfrm>
          <a:prstGeom prst="rect">
            <a:avLst/>
          </a:prstGeom>
          <a:noFill/>
          <a:ln/>
        </p:spPr>
        <p:txBody>
          <a:bodyPr wrap="square" lIns="0" tIns="0" rIns="0" bIns="0" rtlCol="0" anchor="ctr">
            <a:normAutofit/>
          </a:bodyPr>
          <a:lstStyle/>
          <a:p>
            <a:pPr algn="l" indent="0" marL="0">
              <a:buNone/>
            </a:pPr>
            <a:r>
              <a:rPr lang="en-US" sz="1000" b="1" spc="100" kern="0" dirty="0">
                <a:solidFill>
                  <a:srgbClr val="2F7253"/>
                </a:solidFill>
                <a:latin typeface="Aptos" pitchFamily="34" charset="0"/>
                <a:ea typeface="Aptos" pitchFamily="34" charset="-122"/>
                <a:cs typeface="Aptos" pitchFamily="34" charset="-120"/>
              </a:rPr>
              <a:t>5 RESEARCH FOCUS AREAS</a:t>
            </a:r>
            <a:endParaRPr lang="en-US" sz="1000" dirty="0"/>
          </a:p>
        </p:txBody>
      </p:sp>
      <p:sp>
        <p:nvSpPr>
          <p:cNvPr id="18" name="Shape 16"/>
          <p:cNvSpPr/>
          <p:nvPr/>
        </p:nvSpPr>
        <p:spPr>
          <a:xfrm>
            <a:off x="621792" y="4096512"/>
            <a:ext cx="2103120" cy="667512"/>
          </a:xfrm>
          <a:prstGeom prst="roundRect">
            <a:avLst>
              <a:gd name="adj" fmla="val 16438"/>
            </a:avLst>
          </a:prstGeom>
          <a:solidFill>
            <a:srgbClr val="FFFFFF"/>
          </a:solidFill>
          <a:ln w="8890">
            <a:solidFill>
              <a:srgbClr val="D9E1D7"/>
            </a:solidFill>
            <a:prstDash val="solid"/>
          </a:ln>
        </p:spPr>
      </p:sp>
      <p:sp>
        <p:nvSpPr>
          <p:cNvPr id="19" name="Text 17"/>
          <p:cNvSpPr txBox="1"/>
          <p:nvPr/>
        </p:nvSpPr>
        <p:spPr>
          <a:xfrm>
            <a:off x="740664" y="4261104"/>
            <a:ext cx="301752" cy="219456"/>
          </a:xfrm>
          <a:prstGeom prst="rect">
            <a:avLst/>
          </a:prstGeom>
          <a:noFill/>
          <a:ln/>
        </p:spPr>
        <p:txBody>
          <a:bodyPr wrap="square" lIns="0" tIns="0" rIns="0" bIns="0" rtlCol="0" anchor="ctr">
            <a:normAutofit/>
          </a:bodyPr>
          <a:lstStyle/>
          <a:p>
            <a:pPr algn="l" indent="0" marL="0">
              <a:buNone/>
            </a:pPr>
            <a:r>
              <a:rPr lang="en-US" sz="1000" b="1" dirty="0">
                <a:solidFill>
                  <a:srgbClr val="2F7253"/>
                </a:solidFill>
                <a:latin typeface="Aptos" pitchFamily="34" charset="0"/>
                <a:ea typeface="Aptos" pitchFamily="34" charset="-122"/>
                <a:cs typeface="Aptos" pitchFamily="34" charset="-120"/>
              </a:rPr>
              <a:t>01</a:t>
            </a:r>
            <a:endParaRPr lang="en-US" sz="1000" dirty="0"/>
          </a:p>
        </p:txBody>
      </p:sp>
      <p:sp>
        <p:nvSpPr>
          <p:cNvPr id="20" name="Text 18"/>
          <p:cNvSpPr txBox="1"/>
          <p:nvPr/>
        </p:nvSpPr>
        <p:spPr>
          <a:xfrm>
            <a:off x="1078992" y="4197096"/>
            <a:ext cx="1536192" cy="384048"/>
          </a:xfrm>
          <a:prstGeom prst="rect">
            <a:avLst/>
          </a:prstGeom>
          <a:noFill/>
          <a:ln/>
        </p:spPr>
        <p:txBody>
          <a:bodyPr wrap="square" lIns="0" tIns="0" rIns="0" bIns="0" rtlCol="0" anchor="ctr">
            <a:normAutofit/>
          </a:bodyPr>
          <a:lstStyle/>
          <a:p>
            <a:pPr algn="l" indent="0" marL="0">
              <a:buNone/>
            </a:pPr>
            <a:r>
              <a:rPr lang="en-US" sz="1130" b="1" dirty="0">
                <a:solidFill>
                  <a:srgbClr val="163B2E"/>
                </a:solidFill>
                <a:latin typeface="Aptos" pitchFamily="34" charset="0"/>
                <a:ea typeface="Aptos" pitchFamily="34" charset="-122"/>
                <a:cs typeface="Aptos" pitchFamily="34" charset="-120"/>
              </a:rPr>
              <a:t>Data &amp; architecture</a:t>
            </a:r>
            <a:endParaRPr lang="en-US" sz="1130" dirty="0"/>
          </a:p>
        </p:txBody>
      </p:sp>
      <p:sp>
        <p:nvSpPr>
          <p:cNvPr id="21" name="Shape 19"/>
          <p:cNvSpPr/>
          <p:nvPr/>
        </p:nvSpPr>
        <p:spPr>
          <a:xfrm>
            <a:off x="2898648" y="4096512"/>
            <a:ext cx="2103120" cy="667512"/>
          </a:xfrm>
          <a:prstGeom prst="roundRect">
            <a:avLst>
              <a:gd name="adj" fmla="val 16438"/>
            </a:avLst>
          </a:prstGeom>
          <a:solidFill>
            <a:srgbClr val="FFFFFF"/>
          </a:solidFill>
          <a:ln w="8890">
            <a:solidFill>
              <a:srgbClr val="D9E1D7"/>
            </a:solidFill>
            <a:prstDash val="solid"/>
          </a:ln>
        </p:spPr>
      </p:sp>
      <p:sp>
        <p:nvSpPr>
          <p:cNvPr id="22" name="Text 20"/>
          <p:cNvSpPr txBox="1"/>
          <p:nvPr/>
        </p:nvSpPr>
        <p:spPr>
          <a:xfrm>
            <a:off x="3017520" y="4261104"/>
            <a:ext cx="301752" cy="219456"/>
          </a:xfrm>
          <a:prstGeom prst="rect">
            <a:avLst/>
          </a:prstGeom>
          <a:noFill/>
          <a:ln/>
        </p:spPr>
        <p:txBody>
          <a:bodyPr wrap="square" lIns="0" tIns="0" rIns="0" bIns="0" rtlCol="0" anchor="ctr">
            <a:normAutofit/>
          </a:bodyPr>
          <a:lstStyle/>
          <a:p>
            <a:pPr algn="l" indent="0" marL="0">
              <a:buNone/>
            </a:pPr>
            <a:r>
              <a:rPr lang="en-US" sz="1000" b="1" dirty="0">
                <a:solidFill>
                  <a:srgbClr val="2F7253"/>
                </a:solidFill>
                <a:latin typeface="Aptos" pitchFamily="34" charset="0"/>
                <a:ea typeface="Aptos" pitchFamily="34" charset="-122"/>
                <a:cs typeface="Aptos" pitchFamily="34" charset="-120"/>
              </a:rPr>
              <a:t>02</a:t>
            </a:r>
            <a:endParaRPr lang="en-US" sz="1000" dirty="0"/>
          </a:p>
        </p:txBody>
      </p:sp>
      <p:sp>
        <p:nvSpPr>
          <p:cNvPr id="23" name="Text 21"/>
          <p:cNvSpPr txBox="1"/>
          <p:nvPr/>
        </p:nvSpPr>
        <p:spPr>
          <a:xfrm>
            <a:off x="3355848" y="4197096"/>
            <a:ext cx="1536192" cy="384048"/>
          </a:xfrm>
          <a:prstGeom prst="rect">
            <a:avLst/>
          </a:prstGeom>
          <a:noFill/>
          <a:ln/>
        </p:spPr>
        <p:txBody>
          <a:bodyPr wrap="square" lIns="0" tIns="0" rIns="0" bIns="0" rtlCol="0" anchor="ctr">
            <a:normAutofit/>
          </a:bodyPr>
          <a:lstStyle/>
          <a:p>
            <a:pPr algn="l" indent="0" marL="0">
              <a:buNone/>
            </a:pPr>
            <a:r>
              <a:rPr lang="en-US" sz="1130" b="1" dirty="0">
                <a:solidFill>
                  <a:srgbClr val="163B2E"/>
                </a:solidFill>
                <a:latin typeface="Aptos" pitchFamily="34" charset="0"/>
                <a:ea typeface="Aptos" pitchFamily="34" charset="-122"/>
                <a:cs typeface="Aptos" pitchFamily="34" charset="-120"/>
              </a:rPr>
              <a:t>Production prediction</a:t>
            </a:r>
            <a:endParaRPr lang="en-US" sz="1130" dirty="0"/>
          </a:p>
        </p:txBody>
      </p:sp>
      <p:sp>
        <p:nvSpPr>
          <p:cNvPr id="24" name="Shape 22"/>
          <p:cNvSpPr/>
          <p:nvPr/>
        </p:nvSpPr>
        <p:spPr>
          <a:xfrm>
            <a:off x="5175504" y="4096512"/>
            <a:ext cx="2103120" cy="667512"/>
          </a:xfrm>
          <a:prstGeom prst="roundRect">
            <a:avLst>
              <a:gd name="adj" fmla="val 16438"/>
            </a:avLst>
          </a:prstGeom>
          <a:solidFill>
            <a:srgbClr val="FFFFFF"/>
          </a:solidFill>
          <a:ln w="8890">
            <a:solidFill>
              <a:srgbClr val="D9E1D7"/>
            </a:solidFill>
            <a:prstDash val="solid"/>
          </a:ln>
        </p:spPr>
      </p:sp>
      <p:sp>
        <p:nvSpPr>
          <p:cNvPr id="25" name="Text 23"/>
          <p:cNvSpPr txBox="1"/>
          <p:nvPr/>
        </p:nvSpPr>
        <p:spPr>
          <a:xfrm>
            <a:off x="5294376" y="4261104"/>
            <a:ext cx="301752" cy="219456"/>
          </a:xfrm>
          <a:prstGeom prst="rect">
            <a:avLst/>
          </a:prstGeom>
          <a:noFill/>
          <a:ln/>
        </p:spPr>
        <p:txBody>
          <a:bodyPr wrap="square" lIns="0" tIns="0" rIns="0" bIns="0" rtlCol="0" anchor="ctr">
            <a:normAutofit/>
          </a:bodyPr>
          <a:lstStyle/>
          <a:p>
            <a:pPr algn="l" indent="0" marL="0">
              <a:buNone/>
            </a:pPr>
            <a:r>
              <a:rPr lang="en-US" sz="1000" b="1" dirty="0">
                <a:solidFill>
                  <a:srgbClr val="2F7253"/>
                </a:solidFill>
                <a:latin typeface="Aptos" pitchFamily="34" charset="0"/>
                <a:ea typeface="Aptos" pitchFamily="34" charset="-122"/>
                <a:cs typeface="Aptos" pitchFamily="34" charset="-120"/>
              </a:rPr>
              <a:t>03</a:t>
            </a:r>
            <a:endParaRPr lang="en-US" sz="1000" dirty="0"/>
          </a:p>
        </p:txBody>
      </p:sp>
      <p:sp>
        <p:nvSpPr>
          <p:cNvPr id="26" name="Text 24"/>
          <p:cNvSpPr txBox="1"/>
          <p:nvPr/>
        </p:nvSpPr>
        <p:spPr>
          <a:xfrm>
            <a:off x="5632704" y="4197096"/>
            <a:ext cx="1536192" cy="384048"/>
          </a:xfrm>
          <a:prstGeom prst="rect">
            <a:avLst/>
          </a:prstGeom>
          <a:noFill/>
          <a:ln/>
        </p:spPr>
        <p:txBody>
          <a:bodyPr wrap="square" lIns="0" tIns="0" rIns="0" bIns="0" rtlCol="0" anchor="ctr">
            <a:normAutofit/>
          </a:bodyPr>
          <a:lstStyle/>
          <a:p>
            <a:pPr algn="l" indent="0" marL="0">
              <a:buNone/>
            </a:pPr>
            <a:r>
              <a:rPr lang="en-US" sz="1130" b="1" dirty="0">
                <a:solidFill>
                  <a:srgbClr val="163B2E"/>
                </a:solidFill>
                <a:latin typeface="Aptos" pitchFamily="34" charset="0"/>
                <a:ea typeface="Aptos" pitchFamily="34" charset="-122"/>
                <a:cs typeface="Aptos" pitchFamily="34" charset="-120"/>
              </a:rPr>
              <a:t>Monitoring &amp; detection</a:t>
            </a:r>
            <a:endParaRPr lang="en-US" sz="1130" dirty="0"/>
          </a:p>
        </p:txBody>
      </p:sp>
      <p:sp>
        <p:nvSpPr>
          <p:cNvPr id="27" name="Shape 25"/>
          <p:cNvSpPr/>
          <p:nvPr/>
        </p:nvSpPr>
        <p:spPr>
          <a:xfrm>
            <a:off x="7452360" y="4096512"/>
            <a:ext cx="2103120" cy="667512"/>
          </a:xfrm>
          <a:prstGeom prst="roundRect">
            <a:avLst>
              <a:gd name="adj" fmla="val 16438"/>
            </a:avLst>
          </a:prstGeom>
          <a:solidFill>
            <a:srgbClr val="E7F4BA"/>
          </a:solidFill>
          <a:ln w="8890">
            <a:solidFill>
              <a:srgbClr val="C5DDA0"/>
            </a:solidFill>
            <a:prstDash val="solid"/>
          </a:ln>
        </p:spPr>
      </p:sp>
      <p:sp>
        <p:nvSpPr>
          <p:cNvPr id="28" name="Text 26"/>
          <p:cNvSpPr txBox="1"/>
          <p:nvPr/>
        </p:nvSpPr>
        <p:spPr>
          <a:xfrm>
            <a:off x="7571232" y="4261104"/>
            <a:ext cx="301752" cy="219456"/>
          </a:xfrm>
          <a:prstGeom prst="rect">
            <a:avLst/>
          </a:prstGeom>
          <a:noFill/>
          <a:ln/>
        </p:spPr>
        <p:txBody>
          <a:bodyPr wrap="square" lIns="0" tIns="0" rIns="0" bIns="0" rtlCol="0" anchor="ctr">
            <a:normAutofit/>
          </a:bodyPr>
          <a:lstStyle/>
          <a:p>
            <a:pPr algn="l" indent="0" marL="0">
              <a:buNone/>
            </a:pPr>
            <a:r>
              <a:rPr lang="en-US" sz="1000" b="1" dirty="0">
                <a:solidFill>
                  <a:srgbClr val="2F7253"/>
                </a:solidFill>
                <a:latin typeface="Aptos" pitchFamily="34" charset="0"/>
                <a:ea typeface="Aptos" pitchFamily="34" charset="-122"/>
                <a:cs typeface="Aptos" pitchFamily="34" charset="-120"/>
              </a:rPr>
              <a:t>04</a:t>
            </a:r>
            <a:endParaRPr lang="en-US" sz="1000" dirty="0"/>
          </a:p>
        </p:txBody>
      </p:sp>
      <p:sp>
        <p:nvSpPr>
          <p:cNvPr id="29" name="Text 27"/>
          <p:cNvSpPr txBox="1"/>
          <p:nvPr/>
        </p:nvSpPr>
        <p:spPr>
          <a:xfrm>
            <a:off x="7909560" y="4197096"/>
            <a:ext cx="1536192" cy="384048"/>
          </a:xfrm>
          <a:prstGeom prst="rect">
            <a:avLst/>
          </a:prstGeom>
          <a:noFill/>
          <a:ln/>
        </p:spPr>
        <p:txBody>
          <a:bodyPr wrap="square" lIns="0" tIns="0" rIns="0" bIns="0" rtlCol="0" anchor="ctr">
            <a:normAutofit/>
          </a:bodyPr>
          <a:lstStyle/>
          <a:p>
            <a:pPr algn="l" indent="0" marL="0">
              <a:buNone/>
            </a:pPr>
            <a:r>
              <a:rPr lang="en-US" sz="1130" b="1" dirty="0">
                <a:solidFill>
                  <a:srgbClr val="163B2E"/>
                </a:solidFill>
                <a:latin typeface="Aptos" pitchFamily="34" charset="0"/>
                <a:ea typeface="Aptos" pitchFamily="34" charset="-122"/>
                <a:cs typeface="Aptos" pitchFamily="34" charset="-120"/>
              </a:rPr>
              <a:t>Resource optimisation</a:t>
            </a:r>
            <a:endParaRPr lang="en-US" sz="1130" dirty="0"/>
          </a:p>
        </p:txBody>
      </p:sp>
      <p:sp>
        <p:nvSpPr>
          <p:cNvPr id="30" name="Shape 28"/>
          <p:cNvSpPr/>
          <p:nvPr/>
        </p:nvSpPr>
        <p:spPr>
          <a:xfrm>
            <a:off x="9729216" y="4096512"/>
            <a:ext cx="2103120" cy="667512"/>
          </a:xfrm>
          <a:prstGeom prst="roundRect">
            <a:avLst>
              <a:gd name="adj" fmla="val 16438"/>
            </a:avLst>
          </a:prstGeom>
          <a:solidFill>
            <a:srgbClr val="FFFFFF"/>
          </a:solidFill>
          <a:ln w="8890">
            <a:solidFill>
              <a:srgbClr val="D9E1D7"/>
            </a:solidFill>
            <a:prstDash val="solid"/>
          </a:ln>
        </p:spPr>
      </p:sp>
      <p:sp>
        <p:nvSpPr>
          <p:cNvPr id="31" name="Text 29"/>
          <p:cNvSpPr txBox="1"/>
          <p:nvPr/>
        </p:nvSpPr>
        <p:spPr>
          <a:xfrm>
            <a:off x="9848088" y="4261104"/>
            <a:ext cx="301752" cy="219456"/>
          </a:xfrm>
          <a:prstGeom prst="rect">
            <a:avLst/>
          </a:prstGeom>
          <a:noFill/>
          <a:ln/>
        </p:spPr>
        <p:txBody>
          <a:bodyPr wrap="square" lIns="0" tIns="0" rIns="0" bIns="0" rtlCol="0" anchor="ctr">
            <a:normAutofit/>
          </a:bodyPr>
          <a:lstStyle/>
          <a:p>
            <a:pPr algn="l" indent="0" marL="0">
              <a:buNone/>
            </a:pPr>
            <a:r>
              <a:rPr lang="en-US" sz="1000" b="1" dirty="0">
                <a:solidFill>
                  <a:srgbClr val="2F7253"/>
                </a:solidFill>
                <a:latin typeface="Aptos" pitchFamily="34" charset="0"/>
                <a:ea typeface="Aptos" pitchFamily="34" charset="-122"/>
                <a:cs typeface="Aptos" pitchFamily="34" charset="-120"/>
              </a:rPr>
              <a:t>05</a:t>
            </a:r>
            <a:endParaRPr lang="en-US" sz="1000" dirty="0"/>
          </a:p>
        </p:txBody>
      </p:sp>
      <p:sp>
        <p:nvSpPr>
          <p:cNvPr id="32" name="Text 30"/>
          <p:cNvSpPr txBox="1"/>
          <p:nvPr/>
        </p:nvSpPr>
        <p:spPr>
          <a:xfrm>
            <a:off x="10186416" y="4197096"/>
            <a:ext cx="1536192" cy="384048"/>
          </a:xfrm>
          <a:prstGeom prst="rect">
            <a:avLst/>
          </a:prstGeom>
          <a:noFill/>
          <a:ln/>
        </p:spPr>
        <p:txBody>
          <a:bodyPr wrap="square" lIns="0" tIns="0" rIns="0" bIns="0" rtlCol="0" anchor="ctr">
            <a:normAutofit/>
          </a:bodyPr>
          <a:lstStyle/>
          <a:p>
            <a:pPr algn="l" indent="0" marL="0">
              <a:buNone/>
            </a:pPr>
            <a:r>
              <a:rPr lang="en-US" sz="1130" b="1" dirty="0">
                <a:solidFill>
                  <a:srgbClr val="163B2E"/>
                </a:solidFill>
                <a:latin typeface="Aptos" pitchFamily="34" charset="0"/>
                <a:ea typeface="Aptos" pitchFamily="34" charset="-122"/>
                <a:cs typeface="Aptos" pitchFamily="34" charset="-120"/>
              </a:rPr>
              <a:t>Deployment &amp; ethics</a:t>
            </a:r>
            <a:endParaRPr lang="en-US" sz="1130" dirty="0"/>
          </a:p>
        </p:txBody>
      </p:sp>
      <p:sp>
        <p:nvSpPr>
          <p:cNvPr id="33" name="Shape 31"/>
          <p:cNvSpPr/>
          <p:nvPr/>
        </p:nvSpPr>
        <p:spPr>
          <a:xfrm>
            <a:off x="621792" y="5074920"/>
            <a:ext cx="10972800" cy="813816"/>
          </a:xfrm>
          <a:prstGeom prst="roundRect">
            <a:avLst>
              <a:gd name="adj" fmla="val 13483"/>
            </a:avLst>
          </a:prstGeom>
          <a:solidFill>
            <a:srgbClr val="F1EBD7"/>
          </a:solidFill>
          <a:ln w="8890">
            <a:solidFill>
              <a:srgbClr val="E8DEC1"/>
            </a:solidFill>
            <a:prstDash val="solid"/>
          </a:ln>
        </p:spPr>
      </p:sp>
      <p:sp>
        <p:nvSpPr>
          <p:cNvPr id="34" name="Text 32"/>
          <p:cNvSpPr txBox="1"/>
          <p:nvPr/>
        </p:nvSpPr>
        <p:spPr>
          <a:xfrm>
            <a:off x="841248" y="5276088"/>
            <a:ext cx="1554480" cy="201168"/>
          </a:xfrm>
          <a:prstGeom prst="rect">
            <a:avLst/>
          </a:prstGeom>
          <a:noFill/>
          <a:ln/>
        </p:spPr>
        <p:txBody>
          <a:bodyPr wrap="square" lIns="0" tIns="0" rIns="0" bIns="0" rtlCol="0" anchor="ctr">
            <a:normAutofit/>
          </a:bodyPr>
          <a:lstStyle/>
          <a:p>
            <a:pPr algn="l" indent="0" marL="0">
              <a:buNone/>
            </a:pPr>
            <a:r>
              <a:rPr lang="en-US" sz="980" b="1" spc="80" kern="0" dirty="0">
                <a:solidFill>
                  <a:srgbClr val="8E622D"/>
                </a:solidFill>
                <a:latin typeface="Aptos" pitchFamily="34" charset="0"/>
                <a:ea typeface="Aptos" pitchFamily="34" charset="-122"/>
                <a:cs typeface="Aptos" pitchFamily="34" charset="-120"/>
              </a:rPr>
              <a:t>EVIDENCE BOUNDARY</a:t>
            </a:r>
            <a:endParaRPr lang="en-US" sz="980" dirty="0"/>
          </a:p>
        </p:txBody>
      </p:sp>
      <p:sp>
        <p:nvSpPr>
          <p:cNvPr id="35" name="Text 33"/>
          <p:cNvSpPr txBox="1"/>
          <p:nvPr/>
        </p:nvSpPr>
        <p:spPr>
          <a:xfrm>
            <a:off x="2596896" y="5193792"/>
            <a:ext cx="8650224" cy="448056"/>
          </a:xfrm>
          <a:prstGeom prst="rect">
            <a:avLst/>
          </a:prstGeom>
          <a:noFill/>
          <a:ln/>
        </p:spPr>
        <p:txBody>
          <a:bodyPr wrap="square" lIns="0" tIns="0" rIns="0" bIns="0" rtlCol="0" anchor="ctr">
            <a:normAutofit/>
          </a:bodyPr>
          <a:lstStyle/>
          <a:p>
            <a:pPr algn="l" indent="0" marL="0">
              <a:buNone/>
            </a:pPr>
            <a:r>
              <a:rPr lang="en-US" sz="1160" dirty="0">
                <a:solidFill>
                  <a:srgbClr val="17251E"/>
                </a:solidFill>
                <a:latin typeface="Aptos" pitchFamily="34" charset="0"/>
                <a:ea typeface="Aptos" pitchFamily="34" charset="-122"/>
                <a:cs typeface="Aptos" pitchFamily="34" charset="-120"/>
              </a:rPr>
              <a:t>Structured narrative review—not a fully reproducible systematic review. Quantitative examples are interpreted within their specific dataset and evaluation context; catalogue fields still need checking against original full texts.</a:t>
            </a:r>
            <a:endParaRPr lang="en-US" sz="1160" dirty="0"/>
          </a:p>
        </p:txBody>
      </p:sp>
      <p:sp>
        <p:nvSpPr>
          <p:cNvPr id="36" name="Text 34"/>
          <p:cNvSpPr txBox="1"/>
          <p:nvPr/>
        </p:nvSpPr>
        <p:spPr>
          <a:xfrm>
            <a:off x="7315200" y="6556248"/>
            <a:ext cx="3611880" cy="128016"/>
          </a:xfrm>
          <a:prstGeom prst="rect">
            <a:avLst/>
          </a:prstGeom>
          <a:noFill/>
          <a:ln/>
        </p:spPr>
        <p:txBody>
          <a:bodyPr wrap="square" lIns="0" tIns="0" rIns="0" bIns="0" rtlCol="0" anchor="ctr">
            <a:normAutofit/>
          </a:bodyPr>
          <a:lstStyle/>
          <a:p>
            <a:pPr algn="r" indent="0" marL="0">
              <a:buNone/>
            </a:pPr>
            <a:r>
              <a:rPr lang="en-US" sz="730" dirty="0">
                <a:solidFill>
                  <a:srgbClr val="617065"/>
                </a:solidFill>
                <a:latin typeface="Aptos" pitchFamily="34" charset="0"/>
                <a:ea typeface="Aptos" pitchFamily="34" charset="-122"/>
                <a:cs typeface="Aptos" pitchFamily="34" charset="-120"/>
              </a:rPr>
              <a:t>Scope: PRG4206 brief; catalogue records [1]–[58]</a:t>
            </a:r>
            <a:endParaRPr lang="en-US" sz="730" dirty="0"/>
          </a:p>
        </p:txBody>
      </p:sp>
      <p:sp>
        <p:nvSpPr>
          <p:cNvPr id="25" name="Slide Number Placeholder 0"/>
          <p:cNvSpPr>
            <a:spLocks noGrp="1"/>
          </p:cNvSpPr>
          <p:nvPr>
            <p:ph type="sldNum" sz="quarter" idx="4294967295"/>
          </p:nvPr>
        </p:nvSpPr>
        <p:spPr>
          <a:xfrm>
            <a:off x="1120140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56A"/>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94360" y="329184"/>
            <a:ext cx="10972800" cy="201168"/>
          </a:xfrm>
          <a:prstGeom prst="rect">
            <a:avLst/>
          </a:prstGeom>
          <a:noFill/>
          <a:ln/>
        </p:spPr>
        <p:txBody>
          <a:bodyPr wrap="square" lIns="0" tIns="0" rIns="0" bIns="0" rtlCol="0" anchor="ctr">
            <a:normAutofit/>
          </a:bodyPr>
          <a:lstStyle/>
          <a:p>
            <a:pPr algn="l" indent="0" marL="0">
              <a:buNone/>
            </a:pPr>
            <a:r>
              <a:rPr lang="en-US" sz="1000" b="1" spc="125" kern="0" dirty="0">
                <a:solidFill>
                  <a:srgbClr val="2F7253"/>
                </a:solidFill>
                <a:latin typeface="Aptos" pitchFamily="34" charset="0"/>
                <a:ea typeface="Aptos" pitchFamily="34" charset="-122"/>
                <a:cs typeface="Aptos" pitchFamily="34" charset="-120"/>
              </a:rPr>
              <a:t>02  /  DATA &amp; SYSTEM ARCHITECTURE</a:t>
            </a:r>
            <a:endParaRPr lang="en-US" sz="1000" dirty="0"/>
          </a:p>
        </p:txBody>
      </p:sp>
      <p:sp>
        <p:nvSpPr>
          <p:cNvPr id="3" name="Text 1"/>
          <p:cNvSpPr txBox="1"/>
          <p:nvPr/>
        </p:nvSpPr>
        <p:spPr>
          <a:xfrm>
            <a:off x="594360" y="612648"/>
            <a:ext cx="11018520" cy="457200"/>
          </a:xfrm>
          <a:prstGeom prst="rect">
            <a:avLst/>
          </a:prstGeom>
          <a:noFill/>
          <a:ln/>
        </p:spPr>
        <p:txBody>
          <a:bodyPr wrap="square" lIns="0" tIns="0" rIns="0" bIns="0" rtlCol="0" anchor="ctr">
            <a:normAutofit/>
          </a:bodyPr>
          <a:lstStyle/>
          <a:p>
            <a:pPr algn="l" indent="0" marL="0">
              <a:buNone/>
            </a:pPr>
            <a:r>
              <a:rPr lang="en-US" sz="2600" b="1" dirty="0">
                <a:solidFill>
                  <a:srgbClr val="163B2E"/>
                </a:solidFill>
                <a:latin typeface="Aptos Display" pitchFamily="34" charset="0"/>
                <a:ea typeface="Aptos Display" pitchFamily="34" charset="-122"/>
                <a:cs typeface="Aptos Display" pitchFamily="34" charset="-120"/>
              </a:rPr>
              <a:t>A farm AI system is a data-to-decision loop</a:t>
            </a:r>
            <a:endParaRPr lang="en-US" sz="2600" dirty="0"/>
          </a:p>
        </p:txBody>
      </p:sp>
      <p:sp>
        <p:nvSpPr>
          <p:cNvPr id="4" name="Text 2"/>
          <p:cNvSpPr txBox="1"/>
          <p:nvPr/>
        </p:nvSpPr>
        <p:spPr>
          <a:xfrm>
            <a:off x="612648" y="1115568"/>
            <a:ext cx="10927080" cy="301752"/>
          </a:xfrm>
          <a:prstGeom prst="rect">
            <a:avLst/>
          </a:prstGeom>
          <a:noFill/>
          <a:ln/>
        </p:spPr>
        <p:txBody>
          <a:bodyPr wrap="square" lIns="0" tIns="0" rIns="0" bIns="0" rtlCol="0" anchor="ctr">
            <a:normAutofit/>
          </a:bodyPr>
          <a:lstStyle/>
          <a:p>
            <a:pPr algn="l" indent="0" marL="0">
              <a:buNone/>
            </a:pPr>
            <a:r>
              <a:rPr lang="en-US" sz="1250" dirty="0">
                <a:solidFill>
                  <a:srgbClr val="617065"/>
                </a:solidFill>
                <a:latin typeface="Aptos" pitchFamily="34" charset="0"/>
                <a:ea typeface="Aptos" pitchFamily="34" charset="-122"/>
                <a:cs typeface="Aptos" pitchFamily="34" charset="-120"/>
              </a:rPr>
              <a:t>The ML model is one stage in a workflow that must preserve context, provenance, and feedback.</a:t>
            </a:r>
            <a:endParaRPr lang="en-US" sz="1250" dirty="0"/>
          </a:p>
        </p:txBody>
      </p:sp>
      <p:sp>
        <p:nvSpPr>
          <p:cNvPr id="5" name="Shape 3"/>
          <p:cNvSpPr/>
          <p:nvPr/>
        </p:nvSpPr>
        <p:spPr>
          <a:xfrm>
            <a:off x="594360" y="1847088"/>
            <a:ext cx="1664208" cy="1874520"/>
          </a:xfrm>
          <a:prstGeom prst="roundRect">
            <a:avLst>
              <a:gd name="adj" fmla="val 6593"/>
            </a:avLst>
          </a:prstGeom>
          <a:solidFill>
            <a:srgbClr val="DDEBDD"/>
          </a:solidFill>
          <a:ln w="8890">
            <a:solidFill>
              <a:srgbClr val="D1DDD0"/>
            </a:solidFill>
            <a:prstDash val="solid"/>
          </a:ln>
        </p:spPr>
      </p:sp>
      <p:sp>
        <p:nvSpPr>
          <p:cNvPr id="6" name="Text 4"/>
          <p:cNvSpPr txBox="1"/>
          <p:nvPr/>
        </p:nvSpPr>
        <p:spPr>
          <a:xfrm>
            <a:off x="731520" y="1975104"/>
            <a:ext cx="365760" cy="201168"/>
          </a:xfrm>
          <a:prstGeom prst="rect">
            <a:avLst/>
          </a:prstGeom>
          <a:noFill/>
          <a:ln/>
        </p:spPr>
        <p:txBody>
          <a:bodyPr wrap="square" lIns="0" tIns="0" rIns="0" bIns="0" rtlCol="0" anchor="ctr">
            <a:normAutofit/>
          </a:bodyPr>
          <a:lstStyle/>
          <a:p>
            <a:pPr algn="l" indent="0" marL="0">
              <a:buNone/>
            </a:pPr>
            <a:r>
              <a:rPr lang="en-US" sz="950" b="1" dirty="0">
                <a:solidFill>
                  <a:srgbClr val="2F7253"/>
                </a:solidFill>
                <a:latin typeface="Aptos" pitchFamily="34" charset="0"/>
                <a:ea typeface="Aptos" pitchFamily="34" charset="-122"/>
                <a:cs typeface="Aptos" pitchFamily="34" charset="-120"/>
              </a:rPr>
              <a:t>01</a:t>
            </a:r>
            <a:endParaRPr lang="en-US" sz="950" dirty="0"/>
          </a:p>
        </p:txBody>
      </p:sp>
      <p:sp>
        <p:nvSpPr>
          <p:cNvPr id="7" name="Text 5"/>
          <p:cNvSpPr txBox="1"/>
          <p:nvPr/>
        </p:nvSpPr>
        <p:spPr>
          <a:xfrm>
            <a:off x="731520" y="2286000"/>
            <a:ext cx="1389888" cy="256032"/>
          </a:xfrm>
          <a:prstGeom prst="rect">
            <a:avLst/>
          </a:prstGeom>
          <a:noFill/>
          <a:ln/>
        </p:spPr>
        <p:txBody>
          <a:bodyPr wrap="square" lIns="0" tIns="0" rIns="0" bIns="0" rtlCol="0" anchor="ctr">
            <a:normAutofit/>
          </a:bodyPr>
          <a:lstStyle/>
          <a:p>
            <a:pPr algn="l" indent="0" marL="0">
              <a:buNone/>
            </a:pPr>
            <a:r>
              <a:rPr lang="en-US" sz="1200" b="1" dirty="0">
                <a:solidFill>
                  <a:srgbClr val="163B2E"/>
                </a:solidFill>
                <a:latin typeface="Aptos" pitchFamily="34" charset="0"/>
                <a:ea typeface="Aptos" pitchFamily="34" charset="-122"/>
                <a:cs typeface="Aptos" pitchFamily="34" charset="-120"/>
              </a:rPr>
              <a:t>CAPTURE</a:t>
            </a:r>
            <a:endParaRPr lang="en-US" sz="1200" dirty="0"/>
          </a:p>
        </p:txBody>
      </p:sp>
      <p:sp>
        <p:nvSpPr>
          <p:cNvPr id="8" name="Text 6"/>
          <p:cNvSpPr txBox="1"/>
          <p:nvPr/>
        </p:nvSpPr>
        <p:spPr>
          <a:xfrm>
            <a:off x="731520" y="2660904"/>
            <a:ext cx="1408176" cy="786384"/>
          </a:xfrm>
          <a:prstGeom prst="rect">
            <a:avLst/>
          </a:prstGeom>
          <a:noFill/>
          <a:ln/>
        </p:spPr>
        <p:txBody>
          <a:bodyPr wrap="square" lIns="0" tIns="0" rIns="0" bIns="0" rtlCol="0" anchor="t">
            <a:normAutofit/>
          </a:bodyPr>
          <a:lstStyle/>
          <a:p>
            <a:pPr algn="l" indent="0" marL="0">
              <a:buNone/>
            </a:pPr>
            <a:r>
              <a:rPr lang="en-US" sz="1040" dirty="0">
                <a:solidFill>
                  <a:srgbClr val="17251E"/>
                </a:solidFill>
                <a:latin typeface="Aptos" pitchFamily="34" charset="0"/>
                <a:ea typeface="Aptos" pitchFamily="34" charset="-122"/>
                <a:cs typeface="Aptos" pitchFamily="34" charset="-120"/>
              </a:rPr>
              <a:t>Soil + weather</a:t>
            </a:r>
            <a:endParaRPr lang="en-US" sz="1040" dirty="0"/>
          </a:p>
          <a:p>
            <a:pPr algn="l" indent="0" marL="0">
              <a:buNone/>
            </a:pPr>
            <a:r>
              <a:rPr lang="en-US" sz="1040" dirty="0">
                <a:solidFill>
                  <a:srgbClr val="17251E"/>
                </a:solidFill>
                <a:latin typeface="Aptos" pitchFamily="34" charset="0"/>
                <a:ea typeface="Aptos" pitchFamily="34" charset="-122"/>
                <a:cs typeface="Aptos" pitchFamily="34" charset="-120"/>
              </a:rPr>
              <a:t>Sensors • UAV • satellite</a:t>
            </a:r>
            <a:endParaRPr lang="en-US" sz="1040" dirty="0"/>
          </a:p>
          <a:p>
            <a:pPr algn="l" indent="0" marL="0">
              <a:buNone/>
            </a:pPr>
            <a:r>
              <a:rPr lang="en-US" sz="1040" dirty="0">
                <a:solidFill>
                  <a:srgbClr val="17251E"/>
                </a:solidFill>
                <a:latin typeface="Aptos" pitchFamily="34" charset="0"/>
                <a:ea typeface="Aptos" pitchFamily="34" charset="-122"/>
                <a:cs typeface="Aptos" pitchFamily="34" charset="-120"/>
              </a:rPr>
              <a:t>Farm &amp; animal records</a:t>
            </a:r>
            <a:endParaRPr lang="en-US" sz="1040" dirty="0"/>
          </a:p>
        </p:txBody>
      </p:sp>
      <p:sp>
        <p:nvSpPr>
          <p:cNvPr id="9" name="Shape 7"/>
          <p:cNvSpPr/>
          <p:nvPr/>
        </p:nvSpPr>
        <p:spPr>
          <a:xfrm>
            <a:off x="2286000" y="2798064"/>
            <a:ext cx="210312" cy="0"/>
          </a:xfrm>
          <a:prstGeom prst="line">
            <a:avLst/>
          </a:prstGeom>
          <a:noFill/>
          <a:ln w="17145">
            <a:solidFill>
              <a:srgbClr val="2F7253"/>
            </a:solidFill>
            <a:prstDash val="solid"/>
            <a:tailEnd type="triangle"/>
          </a:ln>
        </p:spPr>
      </p:sp>
      <p:sp>
        <p:nvSpPr>
          <p:cNvPr id="10" name="Shape 8"/>
          <p:cNvSpPr/>
          <p:nvPr/>
        </p:nvSpPr>
        <p:spPr>
          <a:xfrm>
            <a:off x="2514600" y="1847088"/>
            <a:ext cx="1664208" cy="1874520"/>
          </a:xfrm>
          <a:prstGeom prst="roundRect">
            <a:avLst>
              <a:gd name="adj" fmla="val 6593"/>
            </a:avLst>
          </a:prstGeom>
          <a:solidFill>
            <a:srgbClr val="E8F0DA"/>
          </a:solidFill>
          <a:ln w="8890">
            <a:solidFill>
              <a:srgbClr val="D1DDD0"/>
            </a:solidFill>
            <a:prstDash val="solid"/>
          </a:ln>
        </p:spPr>
      </p:sp>
      <p:sp>
        <p:nvSpPr>
          <p:cNvPr id="11" name="Text 9"/>
          <p:cNvSpPr txBox="1"/>
          <p:nvPr/>
        </p:nvSpPr>
        <p:spPr>
          <a:xfrm>
            <a:off x="2651760" y="1975104"/>
            <a:ext cx="365760" cy="201168"/>
          </a:xfrm>
          <a:prstGeom prst="rect">
            <a:avLst/>
          </a:prstGeom>
          <a:noFill/>
          <a:ln/>
        </p:spPr>
        <p:txBody>
          <a:bodyPr wrap="square" lIns="0" tIns="0" rIns="0" bIns="0" rtlCol="0" anchor="ctr">
            <a:normAutofit/>
          </a:bodyPr>
          <a:lstStyle/>
          <a:p>
            <a:pPr algn="l" indent="0" marL="0">
              <a:buNone/>
            </a:pPr>
            <a:r>
              <a:rPr lang="en-US" sz="950" b="1" dirty="0">
                <a:solidFill>
                  <a:srgbClr val="2F7253"/>
                </a:solidFill>
                <a:latin typeface="Aptos" pitchFamily="34" charset="0"/>
                <a:ea typeface="Aptos" pitchFamily="34" charset="-122"/>
                <a:cs typeface="Aptos" pitchFamily="34" charset="-120"/>
              </a:rPr>
              <a:t>02</a:t>
            </a:r>
            <a:endParaRPr lang="en-US" sz="950" dirty="0"/>
          </a:p>
        </p:txBody>
      </p:sp>
      <p:sp>
        <p:nvSpPr>
          <p:cNvPr id="12" name="Text 10"/>
          <p:cNvSpPr txBox="1"/>
          <p:nvPr/>
        </p:nvSpPr>
        <p:spPr>
          <a:xfrm>
            <a:off x="2651760" y="2286000"/>
            <a:ext cx="1389888" cy="256032"/>
          </a:xfrm>
          <a:prstGeom prst="rect">
            <a:avLst/>
          </a:prstGeom>
          <a:noFill/>
          <a:ln/>
        </p:spPr>
        <p:txBody>
          <a:bodyPr wrap="square" lIns="0" tIns="0" rIns="0" bIns="0" rtlCol="0" anchor="ctr">
            <a:normAutofit/>
          </a:bodyPr>
          <a:lstStyle/>
          <a:p>
            <a:pPr algn="l" indent="0" marL="0">
              <a:buNone/>
            </a:pPr>
            <a:r>
              <a:rPr lang="en-US" sz="1200" b="1" dirty="0">
                <a:solidFill>
                  <a:srgbClr val="163B2E"/>
                </a:solidFill>
                <a:latin typeface="Aptos" pitchFamily="34" charset="0"/>
                <a:ea typeface="Aptos" pitchFamily="34" charset="-122"/>
                <a:cs typeface="Aptos" pitchFamily="34" charset="-120"/>
              </a:rPr>
              <a:t>VALIDATE</a:t>
            </a:r>
            <a:endParaRPr lang="en-US" sz="1200" dirty="0"/>
          </a:p>
        </p:txBody>
      </p:sp>
      <p:sp>
        <p:nvSpPr>
          <p:cNvPr id="13" name="Text 11"/>
          <p:cNvSpPr txBox="1"/>
          <p:nvPr/>
        </p:nvSpPr>
        <p:spPr>
          <a:xfrm>
            <a:off x="2651760" y="2660904"/>
            <a:ext cx="1408176" cy="786384"/>
          </a:xfrm>
          <a:prstGeom prst="rect">
            <a:avLst/>
          </a:prstGeom>
          <a:noFill/>
          <a:ln/>
        </p:spPr>
        <p:txBody>
          <a:bodyPr wrap="square" lIns="0" tIns="0" rIns="0" bIns="0" rtlCol="0" anchor="t">
            <a:normAutofit/>
          </a:bodyPr>
          <a:lstStyle/>
          <a:p>
            <a:pPr algn="l" indent="0" marL="0">
              <a:buNone/>
            </a:pPr>
            <a:r>
              <a:rPr lang="en-US" sz="1040" dirty="0">
                <a:solidFill>
                  <a:srgbClr val="17251E"/>
                </a:solidFill>
                <a:latin typeface="Aptos" pitchFamily="34" charset="0"/>
                <a:ea typeface="Aptos" pitchFamily="34" charset="-122"/>
                <a:cs typeface="Aptos" pitchFamily="34" charset="-120"/>
              </a:rPr>
              <a:t>Align time and place</a:t>
            </a:r>
            <a:endParaRPr lang="en-US" sz="1040" dirty="0"/>
          </a:p>
          <a:p>
            <a:pPr algn="l" indent="0" marL="0">
              <a:buNone/>
            </a:pPr>
            <a:r>
              <a:rPr lang="en-US" sz="1040" dirty="0">
                <a:solidFill>
                  <a:srgbClr val="17251E"/>
                </a:solidFill>
                <a:latin typeface="Aptos" pitchFamily="34" charset="0"/>
                <a:ea typeface="Aptos" pitchFamily="34" charset="-122"/>
                <a:cs typeface="Aptos" pitchFamily="34" charset="-120"/>
              </a:rPr>
              <a:t>Calibrate units</a:t>
            </a:r>
            <a:endParaRPr lang="en-US" sz="1040" dirty="0"/>
          </a:p>
          <a:p>
            <a:pPr algn="l" indent="0" marL="0">
              <a:buNone/>
            </a:pPr>
            <a:r>
              <a:rPr lang="en-US" sz="1040" dirty="0">
                <a:solidFill>
                  <a:srgbClr val="17251E"/>
                </a:solidFill>
                <a:latin typeface="Aptos" pitchFamily="34" charset="0"/>
                <a:ea typeface="Aptos" pitchFamily="34" charset="-122"/>
                <a:cs typeface="Aptos" pitchFamily="34" charset="-120"/>
              </a:rPr>
              <a:t>Handle missing/noisy data</a:t>
            </a:r>
            <a:endParaRPr lang="en-US" sz="1040" dirty="0"/>
          </a:p>
        </p:txBody>
      </p:sp>
      <p:sp>
        <p:nvSpPr>
          <p:cNvPr id="14" name="Shape 12"/>
          <p:cNvSpPr/>
          <p:nvPr/>
        </p:nvSpPr>
        <p:spPr>
          <a:xfrm>
            <a:off x="4206240" y="2798064"/>
            <a:ext cx="210312" cy="0"/>
          </a:xfrm>
          <a:prstGeom prst="line">
            <a:avLst/>
          </a:prstGeom>
          <a:noFill/>
          <a:ln w="17145">
            <a:solidFill>
              <a:srgbClr val="2F7253"/>
            </a:solidFill>
            <a:prstDash val="solid"/>
            <a:tailEnd type="triangle"/>
          </a:ln>
        </p:spPr>
      </p:sp>
      <p:sp>
        <p:nvSpPr>
          <p:cNvPr id="15" name="Shape 13"/>
          <p:cNvSpPr/>
          <p:nvPr/>
        </p:nvSpPr>
        <p:spPr>
          <a:xfrm>
            <a:off x="4434840" y="1847088"/>
            <a:ext cx="1664208" cy="1874520"/>
          </a:xfrm>
          <a:prstGeom prst="roundRect">
            <a:avLst>
              <a:gd name="adj" fmla="val 6593"/>
            </a:avLst>
          </a:prstGeom>
          <a:solidFill>
            <a:srgbClr val="DDEAE6"/>
          </a:solidFill>
          <a:ln w="8890">
            <a:solidFill>
              <a:srgbClr val="D1DDD0"/>
            </a:solidFill>
            <a:prstDash val="solid"/>
          </a:ln>
        </p:spPr>
      </p:sp>
      <p:sp>
        <p:nvSpPr>
          <p:cNvPr id="16" name="Text 14"/>
          <p:cNvSpPr txBox="1"/>
          <p:nvPr/>
        </p:nvSpPr>
        <p:spPr>
          <a:xfrm>
            <a:off x="4572000" y="1975104"/>
            <a:ext cx="365760" cy="201168"/>
          </a:xfrm>
          <a:prstGeom prst="rect">
            <a:avLst/>
          </a:prstGeom>
          <a:noFill/>
          <a:ln/>
        </p:spPr>
        <p:txBody>
          <a:bodyPr wrap="square" lIns="0" tIns="0" rIns="0" bIns="0" rtlCol="0" anchor="ctr">
            <a:normAutofit/>
          </a:bodyPr>
          <a:lstStyle/>
          <a:p>
            <a:pPr algn="l" indent="0" marL="0">
              <a:buNone/>
            </a:pPr>
            <a:r>
              <a:rPr lang="en-US" sz="950" b="1" dirty="0">
                <a:solidFill>
                  <a:srgbClr val="2F7253"/>
                </a:solidFill>
                <a:latin typeface="Aptos" pitchFamily="34" charset="0"/>
                <a:ea typeface="Aptos" pitchFamily="34" charset="-122"/>
                <a:cs typeface="Aptos" pitchFamily="34" charset="-120"/>
              </a:rPr>
              <a:t>03</a:t>
            </a:r>
            <a:endParaRPr lang="en-US" sz="950" dirty="0"/>
          </a:p>
        </p:txBody>
      </p:sp>
      <p:sp>
        <p:nvSpPr>
          <p:cNvPr id="17" name="Text 15"/>
          <p:cNvSpPr txBox="1"/>
          <p:nvPr/>
        </p:nvSpPr>
        <p:spPr>
          <a:xfrm>
            <a:off x="4572000" y="2286000"/>
            <a:ext cx="1389888" cy="256032"/>
          </a:xfrm>
          <a:prstGeom prst="rect">
            <a:avLst/>
          </a:prstGeom>
          <a:noFill/>
          <a:ln/>
        </p:spPr>
        <p:txBody>
          <a:bodyPr wrap="square" lIns="0" tIns="0" rIns="0" bIns="0" rtlCol="0" anchor="ctr">
            <a:normAutofit/>
          </a:bodyPr>
          <a:lstStyle/>
          <a:p>
            <a:pPr algn="l" indent="0" marL="0">
              <a:buNone/>
            </a:pPr>
            <a:r>
              <a:rPr lang="en-US" sz="1200" b="1" dirty="0">
                <a:solidFill>
                  <a:srgbClr val="163B2E"/>
                </a:solidFill>
                <a:latin typeface="Aptos" pitchFamily="34" charset="0"/>
                <a:ea typeface="Aptos" pitchFamily="34" charset="-122"/>
                <a:cs typeface="Aptos" pitchFamily="34" charset="-120"/>
              </a:rPr>
              <a:t>COMPUTE</a:t>
            </a:r>
            <a:endParaRPr lang="en-US" sz="1200" dirty="0"/>
          </a:p>
        </p:txBody>
      </p:sp>
      <p:sp>
        <p:nvSpPr>
          <p:cNvPr id="18" name="Text 16"/>
          <p:cNvSpPr txBox="1"/>
          <p:nvPr/>
        </p:nvSpPr>
        <p:spPr>
          <a:xfrm>
            <a:off x="4572000" y="2660904"/>
            <a:ext cx="1408176" cy="786384"/>
          </a:xfrm>
          <a:prstGeom prst="rect">
            <a:avLst/>
          </a:prstGeom>
          <a:noFill/>
          <a:ln/>
        </p:spPr>
        <p:txBody>
          <a:bodyPr wrap="square" lIns="0" tIns="0" rIns="0" bIns="0" rtlCol="0" anchor="t">
            <a:normAutofit/>
          </a:bodyPr>
          <a:lstStyle/>
          <a:p>
            <a:pPr algn="l" indent="0" marL="0">
              <a:buNone/>
            </a:pPr>
            <a:r>
              <a:rPr lang="en-US" sz="1040" dirty="0">
                <a:solidFill>
                  <a:srgbClr val="17251E"/>
                </a:solidFill>
                <a:latin typeface="Aptos" pitchFamily="34" charset="0"/>
                <a:ea typeface="Aptos" pitchFamily="34" charset="-122"/>
                <a:cs typeface="Aptos" pitchFamily="34" charset="-120"/>
              </a:rPr>
              <a:t>Edge: low latency</a:t>
            </a:r>
            <a:endParaRPr lang="en-US" sz="1040" dirty="0"/>
          </a:p>
          <a:p>
            <a:pPr algn="l" indent="0" marL="0">
              <a:buNone/>
            </a:pPr>
            <a:r>
              <a:rPr lang="en-US" sz="1040" dirty="0">
                <a:solidFill>
                  <a:srgbClr val="17251E"/>
                </a:solidFill>
                <a:latin typeface="Aptos" pitchFamily="34" charset="0"/>
                <a:ea typeface="Aptos" pitchFamily="34" charset="-122"/>
                <a:cs typeface="Aptos" pitchFamily="34" charset="-120"/>
              </a:rPr>
              <a:t>Cloud: storage + training</a:t>
            </a:r>
            <a:endParaRPr lang="en-US" sz="1040" dirty="0"/>
          </a:p>
          <a:p>
            <a:pPr algn="l" indent="0" marL="0">
              <a:buNone/>
            </a:pPr>
            <a:r>
              <a:rPr lang="en-US" sz="1040" dirty="0">
                <a:solidFill>
                  <a:srgbClr val="17251E"/>
                </a:solidFill>
                <a:latin typeface="Aptos" pitchFamily="34" charset="0"/>
                <a:ea typeface="Aptos" pitchFamily="34" charset="-122"/>
                <a:cs typeface="Aptos" pitchFamily="34" charset="-120"/>
              </a:rPr>
              <a:t>Offline-safe behaviour</a:t>
            </a:r>
            <a:endParaRPr lang="en-US" sz="1040" dirty="0"/>
          </a:p>
        </p:txBody>
      </p:sp>
      <p:sp>
        <p:nvSpPr>
          <p:cNvPr id="19" name="Shape 17"/>
          <p:cNvSpPr/>
          <p:nvPr/>
        </p:nvSpPr>
        <p:spPr>
          <a:xfrm>
            <a:off x="6126480" y="2798064"/>
            <a:ext cx="210312" cy="0"/>
          </a:xfrm>
          <a:prstGeom prst="line">
            <a:avLst/>
          </a:prstGeom>
          <a:noFill/>
          <a:ln w="17145">
            <a:solidFill>
              <a:srgbClr val="2F7253"/>
            </a:solidFill>
            <a:prstDash val="solid"/>
            <a:tailEnd type="triangle"/>
          </a:ln>
        </p:spPr>
      </p:sp>
      <p:sp>
        <p:nvSpPr>
          <p:cNvPr id="20" name="Shape 18"/>
          <p:cNvSpPr/>
          <p:nvPr/>
        </p:nvSpPr>
        <p:spPr>
          <a:xfrm>
            <a:off x="6355080" y="1847088"/>
            <a:ext cx="1664208" cy="1874520"/>
          </a:xfrm>
          <a:prstGeom prst="roundRect">
            <a:avLst>
              <a:gd name="adj" fmla="val 6593"/>
            </a:avLst>
          </a:prstGeom>
          <a:solidFill>
            <a:srgbClr val="E5EBD6"/>
          </a:solidFill>
          <a:ln w="8890">
            <a:solidFill>
              <a:srgbClr val="D1DDD0"/>
            </a:solidFill>
            <a:prstDash val="solid"/>
          </a:ln>
        </p:spPr>
      </p:sp>
      <p:sp>
        <p:nvSpPr>
          <p:cNvPr id="21" name="Text 19"/>
          <p:cNvSpPr txBox="1"/>
          <p:nvPr/>
        </p:nvSpPr>
        <p:spPr>
          <a:xfrm>
            <a:off x="6492240" y="1975104"/>
            <a:ext cx="365760" cy="201168"/>
          </a:xfrm>
          <a:prstGeom prst="rect">
            <a:avLst/>
          </a:prstGeom>
          <a:noFill/>
          <a:ln/>
        </p:spPr>
        <p:txBody>
          <a:bodyPr wrap="square" lIns="0" tIns="0" rIns="0" bIns="0" rtlCol="0" anchor="ctr">
            <a:normAutofit/>
          </a:bodyPr>
          <a:lstStyle/>
          <a:p>
            <a:pPr algn="l" indent="0" marL="0">
              <a:buNone/>
            </a:pPr>
            <a:r>
              <a:rPr lang="en-US" sz="950" b="1" dirty="0">
                <a:solidFill>
                  <a:srgbClr val="2F7253"/>
                </a:solidFill>
                <a:latin typeface="Aptos" pitchFamily="34" charset="0"/>
                <a:ea typeface="Aptos" pitchFamily="34" charset="-122"/>
                <a:cs typeface="Aptos" pitchFamily="34" charset="-120"/>
              </a:rPr>
              <a:t>04</a:t>
            </a:r>
            <a:endParaRPr lang="en-US" sz="950" dirty="0"/>
          </a:p>
        </p:txBody>
      </p:sp>
      <p:sp>
        <p:nvSpPr>
          <p:cNvPr id="22" name="Text 20"/>
          <p:cNvSpPr txBox="1"/>
          <p:nvPr/>
        </p:nvSpPr>
        <p:spPr>
          <a:xfrm>
            <a:off x="6492240" y="2286000"/>
            <a:ext cx="1389888" cy="256032"/>
          </a:xfrm>
          <a:prstGeom prst="rect">
            <a:avLst/>
          </a:prstGeom>
          <a:noFill/>
          <a:ln/>
        </p:spPr>
        <p:txBody>
          <a:bodyPr wrap="square" lIns="0" tIns="0" rIns="0" bIns="0" rtlCol="0" anchor="ctr">
            <a:normAutofit/>
          </a:bodyPr>
          <a:lstStyle/>
          <a:p>
            <a:pPr algn="l" indent="0" marL="0">
              <a:buNone/>
            </a:pPr>
            <a:r>
              <a:rPr lang="en-US" sz="1200" b="1" dirty="0">
                <a:solidFill>
                  <a:srgbClr val="163B2E"/>
                </a:solidFill>
                <a:latin typeface="Aptos" pitchFamily="34" charset="0"/>
                <a:ea typeface="Aptos" pitchFamily="34" charset="-122"/>
                <a:cs typeface="Aptos" pitchFamily="34" charset="-120"/>
              </a:rPr>
              <a:t>MODEL</a:t>
            </a:r>
            <a:endParaRPr lang="en-US" sz="1200" dirty="0"/>
          </a:p>
        </p:txBody>
      </p:sp>
      <p:sp>
        <p:nvSpPr>
          <p:cNvPr id="23" name="Text 21"/>
          <p:cNvSpPr txBox="1"/>
          <p:nvPr/>
        </p:nvSpPr>
        <p:spPr>
          <a:xfrm>
            <a:off x="6492240" y="2660904"/>
            <a:ext cx="1408176" cy="786384"/>
          </a:xfrm>
          <a:prstGeom prst="rect">
            <a:avLst/>
          </a:prstGeom>
          <a:noFill/>
          <a:ln/>
        </p:spPr>
        <p:txBody>
          <a:bodyPr wrap="square" lIns="0" tIns="0" rIns="0" bIns="0" rtlCol="0" anchor="t">
            <a:normAutofit/>
          </a:bodyPr>
          <a:lstStyle/>
          <a:p>
            <a:pPr algn="l" indent="0" marL="0">
              <a:buNone/>
            </a:pPr>
            <a:r>
              <a:rPr lang="en-US" sz="1040" dirty="0">
                <a:solidFill>
                  <a:srgbClr val="17251E"/>
                </a:solidFill>
                <a:latin typeface="Aptos" pitchFamily="34" charset="0"/>
                <a:ea typeface="Aptos" pitchFamily="34" charset="-122"/>
                <a:cs typeface="Aptos" pitchFamily="34" charset="-120"/>
              </a:rPr>
              <a:t>Forecast yield</a:t>
            </a:r>
            <a:endParaRPr lang="en-US" sz="1040" dirty="0"/>
          </a:p>
          <a:p>
            <a:pPr algn="l" indent="0" marL="0">
              <a:buNone/>
            </a:pPr>
            <a:r>
              <a:rPr lang="en-US" sz="1040" dirty="0">
                <a:solidFill>
                  <a:srgbClr val="17251E"/>
                </a:solidFill>
                <a:latin typeface="Aptos" pitchFamily="34" charset="0"/>
                <a:ea typeface="Aptos" pitchFamily="34" charset="-122"/>
                <a:cs typeface="Aptos" pitchFamily="34" charset="-120"/>
              </a:rPr>
              <a:t>Detect disease / weeds</a:t>
            </a:r>
            <a:endParaRPr lang="en-US" sz="1040" dirty="0"/>
          </a:p>
          <a:p>
            <a:pPr algn="l" indent="0" marL="0">
              <a:buNone/>
            </a:pPr>
            <a:r>
              <a:rPr lang="en-US" sz="1040" dirty="0">
                <a:solidFill>
                  <a:srgbClr val="17251E"/>
                </a:solidFill>
                <a:latin typeface="Aptos" pitchFamily="34" charset="0"/>
                <a:ea typeface="Aptos" pitchFamily="34" charset="-122"/>
                <a:cs typeface="Aptos" pitchFamily="34" charset="-120"/>
              </a:rPr>
              <a:t>Optimise actions</a:t>
            </a:r>
            <a:endParaRPr lang="en-US" sz="1040" dirty="0"/>
          </a:p>
        </p:txBody>
      </p:sp>
      <p:sp>
        <p:nvSpPr>
          <p:cNvPr id="24" name="Shape 22"/>
          <p:cNvSpPr/>
          <p:nvPr/>
        </p:nvSpPr>
        <p:spPr>
          <a:xfrm>
            <a:off x="8046720" y="2798064"/>
            <a:ext cx="210312" cy="0"/>
          </a:xfrm>
          <a:prstGeom prst="line">
            <a:avLst/>
          </a:prstGeom>
          <a:noFill/>
          <a:ln w="17145">
            <a:solidFill>
              <a:srgbClr val="2F7253"/>
            </a:solidFill>
            <a:prstDash val="solid"/>
            <a:tailEnd type="triangle"/>
          </a:ln>
        </p:spPr>
      </p:sp>
      <p:sp>
        <p:nvSpPr>
          <p:cNvPr id="25" name="Shape 23"/>
          <p:cNvSpPr/>
          <p:nvPr/>
        </p:nvSpPr>
        <p:spPr>
          <a:xfrm>
            <a:off x="8275320" y="1847088"/>
            <a:ext cx="1664208" cy="1874520"/>
          </a:xfrm>
          <a:prstGeom prst="roundRect">
            <a:avLst>
              <a:gd name="adj" fmla="val 6593"/>
            </a:avLst>
          </a:prstGeom>
          <a:solidFill>
            <a:srgbClr val="F2E9D1"/>
          </a:solidFill>
          <a:ln w="8890">
            <a:solidFill>
              <a:srgbClr val="D1DDD0"/>
            </a:solidFill>
            <a:prstDash val="solid"/>
          </a:ln>
        </p:spPr>
      </p:sp>
      <p:sp>
        <p:nvSpPr>
          <p:cNvPr id="26" name="Text 24"/>
          <p:cNvSpPr txBox="1"/>
          <p:nvPr/>
        </p:nvSpPr>
        <p:spPr>
          <a:xfrm>
            <a:off x="8412480" y="1975104"/>
            <a:ext cx="365760" cy="201168"/>
          </a:xfrm>
          <a:prstGeom prst="rect">
            <a:avLst/>
          </a:prstGeom>
          <a:noFill/>
          <a:ln/>
        </p:spPr>
        <p:txBody>
          <a:bodyPr wrap="square" lIns="0" tIns="0" rIns="0" bIns="0" rtlCol="0" anchor="ctr">
            <a:normAutofit/>
          </a:bodyPr>
          <a:lstStyle/>
          <a:p>
            <a:pPr algn="l" indent="0" marL="0">
              <a:buNone/>
            </a:pPr>
            <a:r>
              <a:rPr lang="en-US" sz="950" b="1" dirty="0">
                <a:solidFill>
                  <a:srgbClr val="2F7253"/>
                </a:solidFill>
                <a:latin typeface="Aptos" pitchFamily="34" charset="0"/>
                <a:ea typeface="Aptos" pitchFamily="34" charset="-122"/>
                <a:cs typeface="Aptos" pitchFamily="34" charset="-120"/>
              </a:rPr>
              <a:t>05</a:t>
            </a:r>
            <a:endParaRPr lang="en-US" sz="950" dirty="0"/>
          </a:p>
        </p:txBody>
      </p:sp>
      <p:sp>
        <p:nvSpPr>
          <p:cNvPr id="27" name="Text 25"/>
          <p:cNvSpPr txBox="1"/>
          <p:nvPr/>
        </p:nvSpPr>
        <p:spPr>
          <a:xfrm>
            <a:off x="8412480" y="2286000"/>
            <a:ext cx="1389888" cy="256032"/>
          </a:xfrm>
          <a:prstGeom prst="rect">
            <a:avLst/>
          </a:prstGeom>
          <a:noFill/>
          <a:ln/>
        </p:spPr>
        <p:txBody>
          <a:bodyPr wrap="square" lIns="0" tIns="0" rIns="0" bIns="0" rtlCol="0" anchor="ctr">
            <a:normAutofit/>
          </a:bodyPr>
          <a:lstStyle/>
          <a:p>
            <a:pPr algn="l" indent="0" marL="0">
              <a:buNone/>
            </a:pPr>
            <a:r>
              <a:rPr lang="en-US" sz="1200" b="1" dirty="0">
                <a:solidFill>
                  <a:srgbClr val="163B2E"/>
                </a:solidFill>
                <a:latin typeface="Aptos" pitchFamily="34" charset="0"/>
                <a:ea typeface="Aptos" pitchFamily="34" charset="-122"/>
                <a:cs typeface="Aptos" pitchFamily="34" charset="-120"/>
              </a:rPr>
              <a:t>DECIDE</a:t>
            </a:r>
            <a:endParaRPr lang="en-US" sz="1200" dirty="0"/>
          </a:p>
        </p:txBody>
      </p:sp>
      <p:sp>
        <p:nvSpPr>
          <p:cNvPr id="28" name="Text 26"/>
          <p:cNvSpPr txBox="1"/>
          <p:nvPr/>
        </p:nvSpPr>
        <p:spPr>
          <a:xfrm>
            <a:off x="8412480" y="2660904"/>
            <a:ext cx="1408176" cy="786384"/>
          </a:xfrm>
          <a:prstGeom prst="rect">
            <a:avLst/>
          </a:prstGeom>
          <a:noFill/>
          <a:ln/>
        </p:spPr>
        <p:txBody>
          <a:bodyPr wrap="square" lIns="0" tIns="0" rIns="0" bIns="0" rtlCol="0" anchor="t">
            <a:normAutofit/>
          </a:bodyPr>
          <a:lstStyle/>
          <a:p>
            <a:pPr algn="l" indent="0" marL="0">
              <a:buNone/>
            </a:pPr>
            <a:r>
              <a:rPr lang="en-US" sz="1040" dirty="0">
                <a:solidFill>
                  <a:srgbClr val="17251E"/>
                </a:solidFill>
                <a:latin typeface="Aptos" pitchFamily="34" charset="0"/>
                <a:ea typeface="Aptos" pitchFamily="34" charset="-122"/>
                <a:cs typeface="Aptos" pitchFamily="34" charset="-120"/>
              </a:rPr>
              <a:t>Explain the alert</a:t>
            </a:r>
            <a:endParaRPr lang="en-US" sz="1040" dirty="0"/>
          </a:p>
          <a:p>
            <a:pPr algn="l" indent="0" marL="0">
              <a:buNone/>
            </a:pPr>
            <a:r>
              <a:rPr lang="en-US" sz="1040" dirty="0">
                <a:solidFill>
                  <a:srgbClr val="17251E"/>
                </a:solidFill>
                <a:latin typeface="Aptos" pitchFamily="34" charset="0"/>
                <a:ea typeface="Aptos" pitchFamily="34" charset="-122"/>
                <a:cs typeface="Aptos" pitchFamily="34" charset="-120"/>
              </a:rPr>
              <a:t>Show uncertainty</a:t>
            </a:r>
            <a:endParaRPr lang="en-US" sz="1040" dirty="0"/>
          </a:p>
          <a:p>
            <a:pPr algn="l" indent="0" marL="0">
              <a:buNone/>
            </a:pPr>
            <a:r>
              <a:rPr lang="en-US" sz="1040" dirty="0">
                <a:solidFill>
                  <a:srgbClr val="17251E"/>
                </a:solidFill>
                <a:latin typeface="Aptos" pitchFamily="34" charset="0"/>
                <a:ea typeface="Aptos" pitchFamily="34" charset="-122"/>
                <a:cs typeface="Aptos" pitchFamily="34" charset="-120"/>
              </a:rPr>
              <a:t>Farmer review / action</a:t>
            </a:r>
            <a:endParaRPr lang="en-US" sz="1040" dirty="0"/>
          </a:p>
        </p:txBody>
      </p:sp>
      <p:sp>
        <p:nvSpPr>
          <p:cNvPr id="29" name="Shape 27"/>
          <p:cNvSpPr/>
          <p:nvPr/>
        </p:nvSpPr>
        <p:spPr>
          <a:xfrm>
            <a:off x="9966960" y="2798064"/>
            <a:ext cx="210312" cy="0"/>
          </a:xfrm>
          <a:prstGeom prst="line">
            <a:avLst/>
          </a:prstGeom>
          <a:noFill/>
          <a:ln w="17145">
            <a:solidFill>
              <a:srgbClr val="2F7253"/>
            </a:solidFill>
            <a:prstDash val="solid"/>
            <a:tailEnd type="triangle"/>
          </a:ln>
        </p:spPr>
      </p:sp>
      <p:sp>
        <p:nvSpPr>
          <p:cNvPr id="30" name="Shape 28"/>
          <p:cNvSpPr/>
          <p:nvPr/>
        </p:nvSpPr>
        <p:spPr>
          <a:xfrm>
            <a:off x="10195560" y="1847088"/>
            <a:ext cx="1664208" cy="1874520"/>
          </a:xfrm>
          <a:prstGeom prst="roundRect">
            <a:avLst>
              <a:gd name="adj" fmla="val 6593"/>
            </a:avLst>
          </a:prstGeom>
          <a:solidFill>
            <a:srgbClr val="DDEBDD"/>
          </a:solidFill>
          <a:ln w="8890">
            <a:solidFill>
              <a:srgbClr val="D1DDD0"/>
            </a:solidFill>
            <a:prstDash val="solid"/>
          </a:ln>
        </p:spPr>
      </p:sp>
      <p:sp>
        <p:nvSpPr>
          <p:cNvPr id="31" name="Text 29"/>
          <p:cNvSpPr txBox="1"/>
          <p:nvPr/>
        </p:nvSpPr>
        <p:spPr>
          <a:xfrm>
            <a:off x="10332720" y="1975104"/>
            <a:ext cx="365760" cy="201168"/>
          </a:xfrm>
          <a:prstGeom prst="rect">
            <a:avLst/>
          </a:prstGeom>
          <a:noFill/>
          <a:ln/>
        </p:spPr>
        <p:txBody>
          <a:bodyPr wrap="square" lIns="0" tIns="0" rIns="0" bIns="0" rtlCol="0" anchor="ctr">
            <a:normAutofit/>
          </a:bodyPr>
          <a:lstStyle/>
          <a:p>
            <a:pPr algn="l" indent="0" marL="0">
              <a:buNone/>
            </a:pPr>
            <a:r>
              <a:rPr lang="en-US" sz="950" b="1" dirty="0">
                <a:solidFill>
                  <a:srgbClr val="2F7253"/>
                </a:solidFill>
                <a:latin typeface="Aptos" pitchFamily="34" charset="0"/>
                <a:ea typeface="Aptos" pitchFamily="34" charset="-122"/>
                <a:cs typeface="Aptos" pitchFamily="34" charset="-120"/>
              </a:rPr>
              <a:t>06</a:t>
            </a:r>
            <a:endParaRPr lang="en-US" sz="950" dirty="0"/>
          </a:p>
        </p:txBody>
      </p:sp>
      <p:sp>
        <p:nvSpPr>
          <p:cNvPr id="32" name="Text 30"/>
          <p:cNvSpPr txBox="1"/>
          <p:nvPr/>
        </p:nvSpPr>
        <p:spPr>
          <a:xfrm>
            <a:off x="10332720" y="2286000"/>
            <a:ext cx="1389888" cy="256032"/>
          </a:xfrm>
          <a:prstGeom prst="rect">
            <a:avLst/>
          </a:prstGeom>
          <a:noFill/>
          <a:ln/>
        </p:spPr>
        <p:txBody>
          <a:bodyPr wrap="square" lIns="0" tIns="0" rIns="0" bIns="0" rtlCol="0" anchor="ctr">
            <a:normAutofit/>
          </a:bodyPr>
          <a:lstStyle/>
          <a:p>
            <a:pPr algn="l" indent="0" marL="0">
              <a:buNone/>
            </a:pPr>
            <a:r>
              <a:rPr lang="en-US" sz="1200" b="1" dirty="0">
                <a:solidFill>
                  <a:srgbClr val="163B2E"/>
                </a:solidFill>
                <a:latin typeface="Aptos" pitchFamily="34" charset="0"/>
                <a:ea typeface="Aptos" pitchFamily="34" charset="-122"/>
                <a:cs typeface="Aptos" pitchFamily="34" charset="-120"/>
              </a:rPr>
              <a:t>LEARN</a:t>
            </a:r>
            <a:endParaRPr lang="en-US" sz="1200" dirty="0"/>
          </a:p>
        </p:txBody>
      </p:sp>
      <p:sp>
        <p:nvSpPr>
          <p:cNvPr id="33" name="Text 31"/>
          <p:cNvSpPr txBox="1"/>
          <p:nvPr/>
        </p:nvSpPr>
        <p:spPr>
          <a:xfrm>
            <a:off x="10332720" y="2660904"/>
            <a:ext cx="1408176" cy="786384"/>
          </a:xfrm>
          <a:prstGeom prst="rect">
            <a:avLst/>
          </a:prstGeom>
          <a:noFill/>
          <a:ln/>
        </p:spPr>
        <p:txBody>
          <a:bodyPr wrap="square" lIns="0" tIns="0" rIns="0" bIns="0" rtlCol="0" anchor="t">
            <a:normAutofit/>
          </a:bodyPr>
          <a:lstStyle/>
          <a:p>
            <a:pPr algn="l" indent="0" marL="0">
              <a:buNone/>
            </a:pPr>
            <a:r>
              <a:rPr lang="en-US" sz="1040" dirty="0">
                <a:solidFill>
                  <a:srgbClr val="17251E"/>
                </a:solidFill>
                <a:latin typeface="Aptos" pitchFamily="34" charset="0"/>
                <a:ea typeface="Aptos" pitchFamily="34" charset="-122"/>
                <a:cs typeface="Aptos" pitchFamily="34" charset="-120"/>
              </a:rPr>
              <a:t>Record outcomes</a:t>
            </a:r>
            <a:endParaRPr lang="en-US" sz="1040" dirty="0"/>
          </a:p>
          <a:p>
            <a:pPr algn="l" indent="0" marL="0">
              <a:buNone/>
            </a:pPr>
            <a:r>
              <a:rPr lang="en-US" sz="1040" dirty="0">
                <a:solidFill>
                  <a:srgbClr val="17251E"/>
                </a:solidFill>
                <a:latin typeface="Aptos" pitchFamily="34" charset="0"/>
                <a:ea typeface="Aptos" pitchFamily="34" charset="-122"/>
                <a:cs typeface="Aptos" pitchFamily="34" charset="-120"/>
              </a:rPr>
              <a:t>Check drift + overrides</a:t>
            </a:r>
            <a:endParaRPr lang="en-US" sz="1040" dirty="0"/>
          </a:p>
          <a:p>
            <a:pPr algn="l" indent="0" marL="0">
              <a:buNone/>
            </a:pPr>
            <a:r>
              <a:rPr lang="en-US" sz="1040" dirty="0">
                <a:solidFill>
                  <a:srgbClr val="17251E"/>
                </a:solidFill>
                <a:latin typeface="Aptos" pitchFamily="34" charset="0"/>
                <a:ea typeface="Aptos" pitchFamily="34" charset="-122"/>
                <a:cs typeface="Aptos" pitchFamily="34" charset="-120"/>
              </a:rPr>
              <a:t>Audit and retrain</a:t>
            </a:r>
            <a:endParaRPr lang="en-US" sz="1040" dirty="0"/>
          </a:p>
        </p:txBody>
      </p:sp>
      <p:sp>
        <p:nvSpPr>
          <p:cNvPr id="34" name="Text 32"/>
          <p:cNvSpPr txBox="1"/>
          <p:nvPr/>
        </p:nvSpPr>
        <p:spPr>
          <a:xfrm>
            <a:off x="630936" y="4160520"/>
            <a:ext cx="6949440" cy="210312"/>
          </a:xfrm>
          <a:prstGeom prst="rect">
            <a:avLst/>
          </a:prstGeom>
          <a:noFill/>
          <a:ln/>
        </p:spPr>
        <p:txBody>
          <a:bodyPr wrap="square" lIns="0" tIns="0" rIns="0" bIns="0" rtlCol="0" anchor="ctr">
            <a:normAutofit/>
          </a:bodyPr>
          <a:lstStyle/>
          <a:p>
            <a:pPr algn="l" indent="0" marL="0">
              <a:buNone/>
            </a:pPr>
            <a:r>
              <a:rPr lang="en-US" sz="1000" b="1" spc="90" kern="0" dirty="0">
                <a:solidFill>
                  <a:srgbClr val="2F7253"/>
                </a:solidFill>
                <a:latin typeface="Aptos" pitchFamily="34" charset="0"/>
                <a:ea typeface="Aptos" pitchFamily="34" charset="-122"/>
                <a:cs typeface="Aptos" pitchFamily="34" charset="-120"/>
              </a:rPr>
              <a:t>THREE DESIGN REQUIREMENTS THAT CUT ACROSS EVERY STAGE</a:t>
            </a:r>
            <a:endParaRPr lang="en-US" sz="1000" dirty="0"/>
          </a:p>
        </p:txBody>
      </p:sp>
      <p:sp>
        <p:nvSpPr>
          <p:cNvPr id="35" name="Shape 33"/>
          <p:cNvSpPr/>
          <p:nvPr/>
        </p:nvSpPr>
        <p:spPr>
          <a:xfrm>
            <a:off x="621792" y="4507992"/>
            <a:ext cx="3456432" cy="1051560"/>
          </a:xfrm>
          <a:prstGeom prst="roundRect">
            <a:avLst>
              <a:gd name="adj" fmla="val 10435"/>
            </a:avLst>
          </a:prstGeom>
          <a:solidFill>
            <a:srgbClr val="FFFFFF"/>
          </a:solidFill>
          <a:ln w="8890">
            <a:solidFill>
              <a:srgbClr val="D9E1D7"/>
            </a:solidFill>
            <a:prstDash val="solid"/>
          </a:ln>
        </p:spPr>
      </p:sp>
      <p:sp>
        <p:nvSpPr>
          <p:cNvPr id="36" name="Text 34"/>
          <p:cNvSpPr txBox="1"/>
          <p:nvPr/>
        </p:nvSpPr>
        <p:spPr>
          <a:xfrm>
            <a:off x="777240" y="4672584"/>
            <a:ext cx="3072384" cy="182880"/>
          </a:xfrm>
          <a:prstGeom prst="rect">
            <a:avLst/>
          </a:prstGeom>
          <a:noFill/>
          <a:ln/>
        </p:spPr>
        <p:txBody>
          <a:bodyPr wrap="square" lIns="0" tIns="0" rIns="0" bIns="0" rtlCol="0" anchor="ctr">
            <a:normAutofit/>
          </a:bodyPr>
          <a:lstStyle/>
          <a:p>
            <a:pPr algn="l" indent="0" marL="0">
              <a:buNone/>
            </a:pPr>
            <a:r>
              <a:rPr lang="en-US" sz="950" b="1" spc="50" kern="0" dirty="0">
                <a:solidFill>
                  <a:srgbClr val="2F7253"/>
                </a:solidFill>
                <a:latin typeface="Aptos" pitchFamily="34" charset="0"/>
                <a:ea typeface="Aptos" pitchFamily="34" charset="-122"/>
                <a:cs typeface="Aptos" pitchFamily="34" charset="-120"/>
              </a:rPr>
              <a:t>DATA PROVENANCE</a:t>
            </a:r>
            <a:endParaRPr lang="en-US" sz="950" dirty="0"/>
          </a:p>
        </p:txBody>
      </p:sp>
      <p:sp>
        <p:nvSpPr>
          <p:cNvPr id="37" name="Text 35"/>
          <p:cNvSpPr txBox="1"/>
          <p:nvPr/>
        </p:nvSpPr>
        <p:spPr>
          <a:xfrm>
            <a:off x="777240" y="4965192"/>
            <a:ext cx="3090672" cy="420624"/>
          </a:xfrm>
          <a:prstGeom prst="rect">
            <a:avLst/>
          </a:prstGeom>
          <a:noFill/>
          <a:ln/>
        </p:spPr>
        <p:txBody>
          <a:bodyPr wrap="square" lIns="0" tIns="0" rIns="0" bIns="0" rtlCol="0" anchor="t">
            <a:normAutofit/>
          </a:bodyPr>
          <a:lstStyle/>
          <a:p>
            <a:pPr algn="l" indent="0" marL="0">
              <a:buNone/>
            </a:pPr>
            <a:r>
              <a:rPr lang="en-US" sz="1050" dirty="0">
                <a:solidFill>
                  <a:srgbClr val="617065"/>
                </a:solidFill>
                <a:latin typeface="Aptos" pitchFamily="34" charset="0"/>
                <a:ea typeface="Aptos" pitchFamily="34" charset="-122"/>
                <a:cs typeface="Aptos" pitchFamily="34" charset="-120"/>
              </a:rPr>
              <a:t>Keep timestamps, units, licences, and model versions attached.</a:t>
            </a:r>
            <a:endParaRPr lang="en-US" sz="1050" dirty="0"/>
          </a:p>
        </p:txBody>
      </p:sp>
      <p:sp>
        <p:nvSpPr>
          <p:cNvPr id="38" name="Shape 36"/>
          <p:cNvSpPr/>
          <p:nvPr/>
        </p:nvSpPr>
        <p:spPr>
          <a:xfrm>
            <a:off x="4306824" y="4507992"/>
            <a:ext cx="3456432" cy="1051560"/>
          </a:xfrm>
          <a:prstGeom prst="roundRect">
            <a:avLst>
              <a:gd name="adj" fmla="val 10435"/>
            </a:avLst>
          </a:prstGeom>
          <a:solidFill>
            <a:srgbClr val="FFFFFF"/>
          </a:solidFill>
          <a:ln w="8890">
            <a:solidFill>
              <a:srgbClr val="D9E1D7"/>
            </a:solidFill>
            <a:prstDash val="solid"/>
          </a:ln>
        </p:spPr>
      </p:sp>
      <p:sp>
        <p:nvSpPr>
          <p:cNvPr id="39" name="Text 37"/>
          <p:cNvSpPr txBox="1"/>
          <p:nvPr/>
        </p:nvSpPr>
        <p:spPr>
          <a:xfrm>
            <a:off x="4462272" y="4672584"/>
            <a:ext cx="3072384" cy="182880"/>
          </a:xfrm>
          <a:prstGeom prst="rect">
            <a:avLst/>
          </a:prstGeom>
          <a:noFill/>
          <a:ln/>
        </p:spPr>
        <p:txBody>
          <a:bodyPr wrap="square" lIns="0" tIns="0" rIns="0" bIns="0" rtlCol="0" anchor="ctr">
            <a:normAutofit/>
          </a:bodyPr>
          <a:lstStyle/>
          <a:p>
            <a:pPr algn="l" indent="0" marL="0">
              <a:buNone/>
            </a:pPr>
            <a:r>
              <a:rPr lang="en-US" sz="950" b="1" spc="50" kern="0" dirty="0">
                <a:solidFill>
                  <a:srgbClr val="2F7253"/>
                </a:solidFill>
                <a:latin typeface="Aptos" pitchFamily="34" charset="0"/>
                <a:ea typeface="Aptos" pitchFamily="34" charset="-122"/>
                <a:cs typeface="Aptos" pitchFamily="34" charset="-120"/>
              </a:rPr>
              <a:t>CONNECTIVITY RESILIENCE</a:t>
            </a:r>
            <a:endParaRPr lang="en-US" sz="950" dirty="0"/>
          </a:p>
        </p:txBody>
      </p:sp>
      <p:sp>
        <p:nvSpPr>
          <p:cNvPr id="40" name="Text 38"/>
          <p:cNvSpPr txBox="1"/>
          <p:nvPr/>
        </p:nvSpPr>
        <p:spPr>
          <a:xfrm>
            <a:off x="4462272" y="4965192"/>
            <a:ext cx="3090672" cy="420624"/>
          </a:xfrm>
          <a:prstGeom prst="rect">
            <a:avLst/>
          </a:prstGeom>
          <a:noFill/>
          <a:ln/>
        </p:spPr>
        <p:txBody>
          <a:bodyPr wrap="square" lIns="0" tIns="0" rIns="0" bIns="0" rtlCol="0" anchor="t">
            <a:normAutofit/>
          </a:bodyPr>
          <a:lstStyle/>
          <a:p>
            <a:pPr algn="l" indent="0" marL="0">
              <a:buNone/>
            </a:pPr>
            <a:r>
              <a:rPr lang="en-US" sz="1050" dirty="0">
                <a:solidFill>
                  <a:srgbClr val="617065"/>
                </a:solidFill>
                <a:latin typeface="Aptos" pitchFamily="34" charset="0"/>
                <a:ea typeface="Aptos" pitchFamily="34" charset="-122"/>
                <a:cs typeface="Aptos" pitchFamily="34" charset="-120"/>
              </a:rPr>
              <a:t>Queue uploads and define safe behaviour when sensors or networks fail.</a:t>
            </a:r>
            <a:endParaRPr lang="en-US" sz="1050" dirty="0"/>
          </a:p>
        </p:txBody>
      </p:sp>
      <p:sp>
        <p:nvSpPr>
          <p:cNvPr id="41" name="Shape 39"/>
          <p:cNvSpPr/>
          <p:nvPr/>
        </p:nvSpPr>
        <p:spPr>
          <a:xfrm>
            <a:off x="7991856" y="4507992"/>
            <a:ext cx="3456432" cy="1051560"/>
          </a:xfrm>
          <a:prstGeom prst="roundRect">
            <a:avLst>
              <a:gd name="adj" fmla="val 10435"/>
            </a:avLst>
          </a:prstGeom>
          <a:solidFill>
            <a:srgbClr val="FFFFFF"/>
          </a:solidFill>
          <a:ln w="8890">
            <a:solidFill>
              <a:srgbClr val="D9E1D7"/>
            </a:solidFill>
            <a:prstDash val="solid"/>
          </a:ln>
        </p:spPr>
      </p:sp>
      <p:sp>
        <p:nvSpPr>
          <p:cNvPr id="42" name="Text 40"/>
          <p:cNvSpPr txBox="1"/>
          <p:nvPr/>
        </p:nvSpPr>
        <p:spPr>
          <a:xfrm>
            <a:off x="8147304" y="4672584"/>
            <a:ext cx="3072384" cy="182880"/>
          </a:xfrm>
          <a:prstGeom prst="rect">
            <a:avLst/>
          </a:prstGeom>
          <a:noFill/>
          <a:ln/>
        </p:spPr>
        <p:txBody>
          <a:bodyPr wrap="square" lIns="0" tIns="0" rIns="0" bIns="0" rtlCol="0" anchor="ctr">
            <a:normAutofit/>
          </a:bodyPr>
          <a:lstStyle/>
          <a:p>
            <a:pPr algn="l" indent="0" marL="0">
              <a:buNone/>
            </a:pPr>
            <a:r>
              <a:rPr lang="en-US" sz="950" b="1" spc="50" kern="0" dirty="0">
                <a:solidFill>
                  <a:srgbClr val="2F7253"/>
                </a:solidFill>
                <a:latin typeface="Aptos" pitchFamily="34" charset="0"/>
                <a:ea typeface="Aptos" pitchFamily="34" charset="-122"/>
                <a:cs typeface="Aptos" pitchFamily="34" charset="-120"/>
              </a:rPr>
              <a:t>HUMAN OVERSIGHT</a:t>
            </a:r>
            <a:endParaRPr lang="en-US" sz="950" dirty="0"/>
          </a:p>
        </p:txBody>
      </p:sp>
      <p:sp>
        <p:nvSpPr>
          <p:cNvPr id="43" name="Text 41"/>
          <p:cNvSpPr txBox="1"/>
          <p:nvPr/>
        </p:nvSpPr>
        <p:spPr>
          <a:xfrm>
            <a:off x="8147304" y="4965192"/>
            <a:ext cx="3090672" cy="420624"/>
          </a:xfrm>
          <a:prstGeom prst="rect">
            <a:avLst/>
          </a:prstGeom>
          <a:noFill/>
          <a:ln/>
        </p:spPr>
        <p:txBody>
          <a:bodyPr wrap="square" lIns="0" tIns="0" rIns="0" bIns="0" rtlCol="0" anchor="t">
            <a:normAutofit/>
          </a:bodyPr>
          <a:lstStyle/>
          <a:p>
            <a:pPr algn="l" indent="0" marL="0">
              <a:buNone/>
            </a:pPr>
            <a:r>
              <a:rPr lang="en-US" sz="1050" dirty="0">
                <a:solidFill>
                  <a:srgbClr val="617065"/>
                </a:solidFill>
                <a:latin typeface="Aptos" pitchFamily="34" charset="0"/>
                <a:ea typeface="Aptos" pitchFamily="34" charset="-122"/>
                <a:cs typeface="Aptos" pitchFamily="34" charset="-120"/>
              </a:rPr>
              <a:t>Show confidence and provide a clear override / escalation path.</a:t>
            </a:r>
            <a:endParaRPr lang="en-US" sz="1050" dirty="0"/>
          </a:p>
        </p:txBody>
      </p:sp>
      <p:sp>
        <p:nvSpPr>
          <p:cNvPr id="44" name="Text 42"/>
          <p:cNvSpPr txBox="1"/>
          <p:nvPr/>
        </p:nvSpPr>
        <p:spPr>
          <a:xfrm>
            <a:off x="7315200" y="6556248"/>
            <a:ext cx="3611880" cy="128016"/>
          </a:xfrm>
          <a:prstGeom prst="rect">
            <a:avLst/>
          </a:prstGeom>
          <a:noFill/>
          <a:ln/>
        </p:spPr>
        <p:txBody>
          <a:bodyPr wrap="square" lIns="0" tIns="0" rIns="0" bIns="0" rtlCol="0" anchor="ctr">
            <a:normAutofit/>
          </a:bodyPr>
          <a:lstStyle/>
          <a:p>
            <a:pPr algn="r" indent="0" marL="0">
              <a:buNone/>
            </a:pPr>
            <a:r>
              <a:rPr lang="en-US" sz="730" dirty="0">
                <a:solidFill>
                  <a:srgbClr val="617065"/>
                </a:solidFill>
                <a:latin typeface="Aptos" pitchFamily="34" charset="0"/>
                <a:ea typeface="Aptos" pitchFamily="34" charset="-122"/>
                <a:cs typeface="Aptos" pitchFamily="34" charset="-120"/>
              </a:rPr>
              <a:t>Architecture synthesised from [1], [5], [7]–[9], [46]</a:t>
            </a:r>
            <a:endParaRPr lang="en-US" sz="730" dirty="0"/>
          </a:p>
        </p:txBody>
      </p:sp>
      <p:sp>
        <p:nvSpPr>
          <p:cNvPr id="25" name="Slide Number Placeholder 0"/>
          <p:cNvSpPr>
            <a:spLocks noGrp="1"/>
          </p:cNvSpPr>
          <p:nvPr>
            <p:ph type="sldNum" sz="quarter" idx="4294967295"/>
          </p:nvPr>
        </p:nvSpPr>
        <p:spPr>
          <a:xfrm>
            <a:off x="1120140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56A"/>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94360" y="329184"/>
            <a:ext cx="10972800" cy="201168"/>
          </a:xfrm>
          <a:prstGeom prst="rect">
            <a:avLst/>
          </a:prstGeom>
          <a:noFill/>
          <a:ln/>
        </p:spPr>
        <p:txBody>
          <a:bodyPr wrap="square" lIns="0" tIns="0" rIns="0" bIns="0" rtlCol="0" anchor="ctr">
            <a:normAutofit/>
          </a:bodyPr>
          <a:lstStyle/>
          <a:p>
            <a:pPr algn="l" indent="0" marL="0">
              <a:buNone/>
            </a:pPr>
            <a:r>
              <a:rPr lang="en-US" sz="1000" b="1" spc="125" kern="0" dirty="0">
                <a:solidFill>
                  <a:srgbClr val="2F7253"/>
                </a:solidFill>
                <a:latin typeface="Aptos" pitchFamily="34" charset="0"/>
                <a:ea typeface="Aptos" pitchFamily="34" charset="-122"/>
                <a:cs typeface="Aptos" pitchFamily="34" charset="-120"/>
              </a:rPr>
              <a:t>03  /  CROP &amp; LIVESTOCK PREDICTION</a:t>
            </a:r>
            <a:endParaRPr lang="en-US" sz="1000" dirty="0"/>
          </a:p>
        </p:txBody>
      </p:sp>
      <p:sp>
        <p:nvSpPr>
          <p:cNvPr id="3" name="Text 1"/>
          <p:cNvSpPr txBox="1"/>
          <p:nvPr/>
        </p:nvSpPr>
        <p:spPr>
          <a:xfrm>
            <a:off x="594360" y="612648"/>
            <a:ext cx="11018520" cy="457200"/>
          </a:xfrm>
          <a:prstGeom prst="rect">
            <a:avLst/>
          </a:prstGeom>
          <a:noFill/>
          <a:ln/>
        </p:spPr>
        <p:txBody>
          <a:bodyPr wrap="square" lIns="0" tIns="0" rIns="0" bIns="0" rtlCol="0" anchor="ctr">
            <a:normAutofit/>
          </a:bodyPr>
          <a:lstStyle/>
          <a:p>
            <a:pPr algn="l" indent="0" marL="0">
              <a:buNone/>
            </a:pPr>
            <a:r>
              <a:rPr lang="en-US" sz="2600" b="1" dirty="0">
                <a:solidFill>
                  <a:srgbClr val="163B2E"/>
                </a:solidFill>
                <a:latin typeface="Aptos Display" pitchFamily="34" charset="0"/>
                <a:ea typeface="Aptos Display" pitchFamily="34" charset="-122"/>
                <a:cs typeface="Aptos Display" pitchFamily="34" charset="-120"/>
              </a:rPr>
              <a:t>Prediction is useful when uncertainty is visible</a:t>
            </a:r>
            <a:endParaRPr lang="en-US" sz="2600" dirty="0"/>
          </a:p>
        </p:txBody>
      </p:sp>
      <p:sp>
        <p:nvSpPr>
          <p:cNvPr id="4" name="Text 2"/>
          <p:cNvSpPr txBox="1"/>
          <p:nvPr/>
        </p:nvSpPr>
        <p:spPr>
          <a:xfrm>
            <a:off x="612648" y="1115568"/>
            <a:ext cx="10927080" cy="301752"/>
          </a:xfrm>
          <a:prstGeom prst="rect">
            <a:avLst/>
          </a:prstGeom>
          <a:noFill/>
          <a:ln/>
        </p:spPr>
        <p:txBody>
          <a:bodyPr wrap="square" lIns="0" tIns="0" rIns="0" bIns="0" rtlCol="0" anchor="ctr">
            <a:normAutofit/>
          </a:bodyPr>
          <a:lstStyle/>
          <a:p>
            <a:pPr algn="l" indent="0" marL="0">
              <a:buNone/>
            </a:pPr>
            <a:r>
              <a:rPr lang="en-US" sz="1250" dirty="0">
                <a:solidFill>
                  <a:srgbClr val="617065"/>
                </a:solidFill>
                <a:latin typeface="Aptos" pitchFamily="34" charset="0"/>
                <a:ea typeface="Aptos" pitchFamily="34" charset="-122"/>
                <a:cs typeface="Aptos" pitchFamily="34" charset="-120"/>
              </a:rPr>
              <a:t>Compare models within the same study—and test whether results transfer to new farms, regions, and seasons.</a:t>
            </a:r>
            <a:endParaRPr lang="en-US" sz="1250" dirty="0"/>
          </a:p>
        </p:txBody>
      </p:sp>
      <p:sp>
        <p:nvSpPr>
          <p:cNvPr id="5" name="Shape 3"/>
          <p:cNvSpPr/>
          <p:nvPr/>
        </p:nvSpPr>
        <p:spPr>
          <a:xfrm>
            <a:off x="621792" y="1664208"/>
            <a:ext cx="3886200" cy="4251960"/>
          </a:xfrm>
          <a:prstGeom prst="roundRect">
            <a:avLst>
              <a:gd name="adj" fmla="val 2824"/>
            </a:avLst>
          </a:prstGeom>
          <a:solidFill>
            <a:srgbClr val="FFFFFF"/>
          </a:solidFill>
          <a:ln w="8890">
            <a:solidFill>
              <a:srgbClr val="D9E1D7"/>
            </a:solidFill>
            <a:prstDash val="solid"/>
          </a:ln>
        </p:spPr>
      </p:sp>
      <p:sp>
        <p:nvSpPr>
          <p:cNvPr id="6" name="Text 4"/>
          <p:cNvSpPr txBox="1"/>
          <p:nvPr/>
        </p:nvSpPr>
        <p:spPr>
          <a:xfrm>
            <a:off x="877824" y="1901952"/>
            <a:ext cx="2103120" cy="201168"/>
          </a:xfrm>
          <a:prstGeom prst="rect">
            <a:avLst/>
          </a:prstGeom>
          <a:noFill/>
          <a:ln/>
        </p:spPr>
        <p:txBody>
          <a:bodyPr wrap="square" lIns="0" tIns="0" rIns="0" bIns="0" rtlCol="0" anchor="ctr">
            <a:normAutofit/>
          </a:bodyPr>
          <a:lstStyle/>
          <a:p>
            <a:pPr algn="l" indent="0" marL="0">
              <a:buNone/>
            </a:pPr>
            <a:r>
              <a:rPr lang="en-US" sz="1000" b="1" spc="100" kern="0" dirty="0">
                <a:solidFill>
                  <a:srgbClr val="2F7253"/>
                </a:solidFill>
                <a:latin typeface="Aptos" pitchFamily="34" charset="0"/>
                <a:ea typeface="Aptos" pitchFamily="34" charset="-122"/>
                <a:cs typeface="Aptos" pitchFamily="34" charset="-120"/>
              </a:rPr>
              <a:t>MODEL CHOICES</a:t>
            </a:r>
            <a:endParaRPr lang="en-US" sz="1000" dirty="0"/>
          </a:p>
        </p:txBody>
      </p:sp>
      <p:sp>
        <p:nvSpPr>
          <p:cNvPr id="7" name="Shape 5"/>
          <p:cNvSpPr/>
          <p:nvPr/>
        </p:nvSpPr>
        <p:spPr>
          <a:xfrm>
            <a:off x="877824" y="2414016"/>
            <a:ext cx="82296" cy="82296"/>
          </a:xfrm>
          <a:prstGeom prst="ellipse">
            <a:avLst/>
          </a:prstGeom>
          <a:solidFill>
            <a:srgbClr val="2F7253"/>
          </a:solidFill>
          <a:ln w="2540">
            <a:solidFill>
              <a:srgbClr val="2F7253"/>
            </a:solidFill>
            <a:prstDash val="solid"/>
          </a:ln>
        </p:spPr>
      </p:sp>
      <p:sp>
        <p:nvSpPr>
          <p:cNvPr id="8" name="Text 6"/>
          <p:cNvSpPr txBox="1"/>
          <p:nvPr/>
        </p:nvSpPr>
        <p:spPr>
          <a:xfrm>
            <a:off x="1042416" y="2331720"/>
            <a:ext cx="3081528" cy="210312"/>
          </a:xfrm>
          <a:prstGeom prst="rect">
            <a:avLst/>
          </a:prstGeom>
          <a:noFill/>
          <a:ln/>
        </p:spPr>
        <p:txBody>
          <a:bodyPr wrap="square" lIns="0" tIns="0" rIns="0" bIns="0" rtlCol="0" anchor="ctr">
            <a:normAutofit/>
          </a:bodyPr>
          <a:lstStyle/>
          <a:p>
            <a:pPr algn="l" indent="0" marL="0">
              <a:buNone/>
            </a:pPr>
            <a:r>
              <a:rPr lang="en-US" sz="1300" b="1" dirty="0">
                <a:solidFill>
                  <a:srgbClr val="163B2E"/>
                </a:solidFill>
                <a:latin typeface="Aptos" pitchFamily="34" charset="0"/>
                <a:ea typeface="Aptos" pitchFamily="34" charset="-122"/>
                <a:cs typeface="Aptos" pitchFamily="34" charset="-120"/>
              </a:rPr>
              <a:t>Regression &amp; regularised models</a:t>
            </a:r>
            <a:endParaRPr lang="en-US" sz="1300" dirty="0"/>
          </a:p>
        </p:txBody>
      </p:sp>
      <p:sp>
        <p:nvSpPr>
          <p:cNvPr id="9" name="Text 7"/>
          <p:cNvSpPr txBox="1"/>
          <p:nvPr/>
        </p:nvSpPr>
        <p:spPr>
          <a:xfrm>
            <a:off x="1042416" y="2560320"/>
            <a:ext cx="3081528" cy="347472"/>
          </a:xfrm>
          <a:prstGeom prst="rect">
            <a:avLst/>
          </a:prstGeom>
          <a:noFill/>
          <a:ln/>
        </p:spPr>
        <p:txBody>
          <a:bodyPr wrap="square" lIns="0" tIns="0" rIns="0" bIns="0" rtlCol="0" anchor="t">
            <a:normAutofit/>
          </a:bodyPr>
          <a:lstStyle/>
          <a:p>
            <a:pPr algn="l" indent="0" marL="0">
              <a:buNone/>
            </a:pPr>
            <a:r>
              <a:rPr lang="en-US" sz="1050" dirty="0">
                <a:solidFill>
                  <a:srgbClr val="617065"/>
                </a:solidFill>
                <a:latin typeface="Aptos" pitchFamily="34" charset="0"/>
                <a:ea typeface="Aptos" pitchFamily="34" charset="-122"/>
                <a:cs typeface="Aptos" pitchFamily="34" charset="-120"/>
              </a:rPr>
              <a:t>Transparent baselines for tabular data.</a:t>
            </a:r>
            <a:endParaRPr lang="en-US" sz="1050" dirty="0"/>
          </a:p>
        </p:txBody>
      </p:sp>
      <p:sp>
        <p:nvSpPr>
          <p:cNvPr id="10" name="Shape 8"/>
          <p:cNvSpPr/>
          <p:nvPr/>
        </p:nvSpPr>
        <p:spPr>
          <a:xfrm>
            <a:off x="877824" y="3163824"/>
            <a:ext cx="82296" cy="82296"/>
          </a:xfrm>
          <a:prstGeom prst="ellipse">
            <a:avLst/>
          </a:prstGeom>
          <a:solidFill>
            <a:srgbClr val="2F7253"/>
          </a:solidFill>
          <a:ln w="2540">
            <a:solidFill>
              <a:srgbClr val="2F7253"/>
            </a:solidFill>
            <a:prstDash val="solid"/>
          </a:ln>
        </p:spPr>
      </p:sp>
      <p:sp>
        <p:nvSpPr>
          <p:cNvPr id="11" name="Text 9"/>
          <p:cNvSpPr txBox="1"/>
          <p:nvPr/>
        </p:nvSpPr>
        <p:spPr>
          <a:xfrm>
            <a:off x="1042416" y="3081528"/>
            <a:ext cx="3081528" cy="210312"/>
          </a:xfrm>
          <a:prstGeom prst="rect">
            <a:avLst/>
          </a:prstGeom>
          <a:noFill/>
          <a:ln/>
        </p:spPr>
        <p:txBody>
          <a:bodyPr wrap="square" lIns="0" tIns="0" rIns="0" bIns="0" rtlCol="0" anchor="ctr">
            <a:normAutofit/>
          </a:bodyPr>
          <a:lstStyle/>
          <a:p>
            <a:pPr algn="l" indent="0" marL="0">
              <a:buNone/>
            </a:pPr>
            <a:r>
              <a:rPr lang="en-US" sz="1300" b="1" dirty="0">
                <a:solidFill>
                  <a:srgbClr val="163B2E"/>
                </a:solidFill>
                <a:latin typeface="Aptos" pitchFamily="34" charset="0"/>
                <a:ea typeface="Aptos" pitchFamily="34" charset="-122"/>
                <a:cs typeface="Aptos" pitchFamily="34" charset="-120"/>
              </a:rPr>
              <a:t>Tree ensembles</a:t>
            </a:r>
            <a:endParaRPr lang="en-US" sz="1300" dirty="0"/>
          </a:p>
        </p:txBody>
      </p:sp>
      <p:sp>
        <p:nvSpPr>
          <p:cNvPr id="12" name="Text 10"/>
          <p:cNvSpPr txBox="1"/>
          <p:nvPr/>
        </p:nvSpPr>
        <p:spPr>
          <a:xfrm>
            <a:off x="1042416" y="3310128"/>
            <a:ext cx="3081528" cy="438912"/>
          </a:xfrm>
          <a:prstGeom prst="rect">
            <a:avLst/>
          </a:prstGeom>
          <a:noFill/>
          <a:ln/>
        </p:spPr>
        <p:txBody>
          <a:bodyPr wrap="square" lIns="0" tIns="0" rIns="0" bIns="0" rtlCol="0" anchor="t">
            <a:normAutofit/>
          </a:bodyPr>
          <a:lstStyle/>
          <a:p>
            <a:pPr algn="l" indent="0" marL="0">
              <a:buNone/>
            </a:pPr>
            <a:r>
              <a:rPr lang="en-US" sz="1050" dirty="0">
                <a:solidFill>
                  <a:srgbClr val="617065"/>
                </a:solidFill>
                <a:latin typeface="Aptos" pitchFamily="34" charset="0"/>
                <a:ea typeface="Aptos" pitchFamily="34" charset="-122"/>
                <a:cs typeface="Aptos" pitchFamily="34" charset="-120"/>
              </a:rPr>
              <a:t>Random Forest and boosted trees model non-linear interactions.</a:t>
            </a:r>
            <a:endParaRPr lang="en-US" sz="1050" dirty="0"/>
          </a:p>
        </p:txBody>
      </p:sp>
      <p:sp>
        <p:nvSpPr>
          <p:cNvPr id="13" name="Shape 11"/>
          <p:cNvSpPr/>
          <p:nvPr/>
        </p:nvSpPr>
        <p:spPr>
          <a:xfrm>
            <a:off x="877824" y="3995928"/>
            <a:ext cx="82296" cy="82296"/>
          </a:xfrm>
          <a:prstGeom prst="ellipse">
            <a:avLst/>
          </a:prstGeom>
          <a:solidFill>
            <a:srgbClr val="2F7253"/>
          </a:solidFill>
          <a:ln w="2540">
            <a:solidFill>
              <a:srgbClr val="2F7253"/>
            </a:solidFill>
            <a:prstDash val="solid"/>
          </a:ln>
        </p:spPr>
      </p:sp>
      <p:sp>
        <p:nvSpPr>
          <p:cNvPr id="14" name="Text 12"/>
          <p:cNvSpPr txBox="1"/>
          <p:nvPr/>
        </p:nvSpPr>
        <p:spPr>
          <a:xfrm>
            <a:off x="1042416" y="3913632"/>
            <a:ext cx="3081528" cy="210312"/>
          </a:xfrm>
          <a:prstGeom prst="rect">
            <a:avLst/>
          </a:prstGeom>
          <a:noFill/>
          <a:ln/>
        </p:spPr>
        <p:txBody>
          <a:bodyPr wrap="square" lIns="0" tIns="0" rIns="0" bIns="0" rtlCol="0" anchor="ctr">
            <a:normAutofit/>
          </a:bodyPr>
          <a:lstStyle/>
          <a:p>
            <a:pPr algn="l" indent="0" marL="0">
              <a:buNone/>
            </a:pPr>
            <a:r>
              <a:rPr lang="en-US" sz="1300" b="1" dirty="0">
                <a:solidFill>
                  <a:srgbClr val="163B2E"/>
                </a:solidFill>
                <a:latin typeface="Aptos" pitchFamily="34" charset="0"/>
                <a:ea typeface="Aptos" pitchFamily="34" charset="-122"/>
                <a:cs typeface="Aptos" pitchFamily="34" charset="-120"/>
              </a:rPr>
              <a:t>Deep learning</a:t>
            </a:r>
            <a:endParaRPr lang="en-US" sz="1300" dirty="0"/>
          </a:p>
        </p:txBody>
      </p:sp>
      <p:sp>
        <p:nvSpPr>
          <p:cNvPr id="15" name="Text 13"/>
          <p:cNvSpPr txBox="1"/>
          <p:nvPr/>
        </p:nvSpPr>
        <p:spPr>
          <a:xfrm>
            <a:off x="1042416" y="4142232"/>
            <a:ext cx="3081528" cy="548640"/>
          </a:xfrm>
          <a:prstGeom prst="rect">
            <a:avLst/>
          </a:prstGeom>
          <a:noFill/>
          <a:ln/>
        </p:spPr>
        <p:txBody>
          <a:bodyPr wrap="square" lIns="0" tIns="0" rIns="0" bIns="0" rtlCol="0" anchor="t">
            <a:normAutofit/>
          </a:bodyPr>
          <a:lstStyle/>
          <a:p>
            <a:pPr algn="l" indent="0" marL="0">
              <a:buNone/>
            </a:pPr>
            <a:r>
              <a:rPr lang="en-US" sz="1050" dirty="0">
                <a:solidFill>
                  <a:srgbClr val="617065"/>
                </a:solidFill>
                <a:latin typeface="Aptos" pitchFamily="34" charset="0"/>
                <a:ea typeface="Aptos" pitchFamily="34" charset="-122"/>
                <a:cs typeface="Aptos" pitchFamily="34" charset="-120"/>
              </a:rPr>
              <a:t>Useful for imagery or long sequences, but often harder to debug and more data-hungry.</a:t>
            </a:r>
            <a:endParaRPr lang="en-US" sz="1050" dirty="0"/>
          </a:p>
        </p:txBody>
      </p:sp>
      <p:sp>
        <p:nvSpPr>
          <p:cNvPr id="16" name="Shape 14"/>
          <p:cNvSpPr/>
          <p:nvPr/>
        </p:nvSpPr>
        <p:spPr>
          <a:xfrm>
            <a:off x="877824" y="4946904"/>
            <a:ext cx="82296" cy="82296"/>
          </a:xfrm>
          <a:prstGeom prst="ellipse">
            <a:avLst/>
          </a:prstGeom>
          <a:solidFill>
            <a:srgbClr val="D28A45"/>
          </a:solidFill>
          <a:ln w="2540">
            <a:solidFill>
              <a:srgbClr val="D28A45"/>
            </a:solidFill>
            <a:prstDash val="solid"/>
          </a:ln>
        </p:spPr>
      </p:sp>
      <p:sp>
        <p:nvSpPr>
          <p:cNvPr id="17" name="Text 15"/>
          <p:cNvSpPr txBox="1"/>
          <p:nvPr/>
        </p:nvSpPr>
        <p:spPr>
          <a:xfrm>
            <a:off x="1042416" y="4864608"/>
            <a:ext cx="3081528" cy="210312"/>
          </a:xfrm>
          <a:prstGeom prst="rect">
            <a:avLst/>
          </a:prstGeom>
          <a:noFill/>
          <a:ln/>
        </p:spPr>
        <p:txBody>
          <a:bodyPr wrap="square" lIns="0" tIns="0" rIns="0" bIns="0" rtlCol="0" anchor="ctr">
            <a:normAutofit/>
          </a:bodyPr>
          <a:lstStyle/>
          <a:p>
            <a:pPr algn="l" indent="0" marL="0">
              <a:buNone/>
            </a:pPr>
            <a:r>
              <a:rPr lang="en-US" sz="1300" b="1" dirty="0">
                <a:solidFill>
                  <a:srgbClr val="163B2E"/>
                </a:solidFill>
                <a:latin typeface="Aptos" pitchFamily="34" charset="0"/>
                <a:ea typeface="Aptos" pitchFamily="34" charset="-122"/>
                <a:cs typeface="Aptos" pitchFamily="34" charset="-120"/>
              </a:rPr>
              <a:t>Validation</a:t>
            </a:r>
            <a:endParaRPr lang="en-US" sz="1300" dirty="0"/>
          </a:p>
        </p:txBody>
      </p:sp>
      <p:sp>
        <p:nvSpPr>
          <p:cNvPr id="18" name="Text 16"/>
          <p:cNvSpPr txBox="1"/>
          <p:nvPr/>
        </p:nvSpPr>
        <p:spPr>
          <a:xfrm>
            <a:off x="1042416" y="5093208"/>
            <a:ext cx="3081528" cy="438912"/>
          </a:xfrm>
          <a:prstGeom prst="rect">
            <a:avLst/>
          </a:prstGeom>
          <a:noFill/>
          <a:ln/>
        </p:spPr>
        <p:txBody>
          <a:bodyPr wrap="square" lIns="0" tIns="0" rIns="0" bIns="0" rtlCol="0" anchor="t">
            <a:normAutofit/>
          </a:bodyPr>
          <a:lstStyle/>
          <a:p>
            <a:pPr algn="l" indent="0" marL="0">
              <a:buNone/>
            </a:pPr>
            <a:r>
              <a:rPr lang="en-US" sz="1050" dirty="0">
                <a:solidFill>
                  <a:srgbClr val="617065"/>
                </a:solidFill>
                <a:latin typeface="Aptos" pitchFamily="34" charset="0"/>
                <a:ea typeface="Aptos" pitchFamily="34" charset="-122"/>
                <a:cs typeface="Aptos" pitchFamily="34" charset="-120"/>
              </a:rPr>
              <a:t>Hold out whole farms, regions, or seasons where possible.</a:t>
            </a:r>
            <a:endParaRPr lang="en-US" sz="1050" dirty="0"/>
          </a:p>
        </p:txBody>
      </p:sp>
      <p:sp>
        <p:nvSpPr>
          <p:cNvPr id="19" name="Text 17"/>
          <p:cNvSpPr txBox="1"/>
          <p:nvPr/>
        </p:nvSpPr>
        <p:spPr>
          <a:xfrm>
            <a:off x="877824" y="5513832"/>
            <a:ext cx="3246120" cy="256032"/>
          </a:xfrm>
          <a:prstGeom prst="rect">
            <a:avLst/>
          </a:prstGeom>
          <a:noFill/>
          <a:ln/>
        </p:spPr>
        <p:txBody>
          <a:bodyPr wrap="square" lIns="0" tIns="0" rIns="0" bIns="0" rtlCol="0" anchor="ctr">
            <a:normAutofit/>
          </a:bodyPr>
          <a:lstStyle/>
          <a:p>
            <a:pPr algn="l" indent="0" marL="0">
              <a:buNone/>
            </a:pPr>
            <a:r>
              <a:rPr lang="en-US" sz="1050" b="1" dirty="0">
                <a:solidFill>
                  <a:srgbClr val="163B2E"/>
                </a:solidFill>
                <a:latin typeface="Aptos" pitchFamily="34" charset="0"/>
                <a:ea typeface="Aptos" pitchFamily="34" charset="-122"/>
                <a:cs typeface="Aptos" pitchFamily="34" charset="-120"/>
              </a:rPr>
              <a:t>A score is not enough: report error, context, uncertainty, and decision cost.</a:t>
            </a:r>
            <a:endParaRPr lang="en-US" sz="1050" dirty="0"/>
          </a:p>
        </p:txBody>
      </p:sp>
      <p:sp>
        <p:nvSpPr>
          <p:cNvPr id="20" name="Text 18"/>
          <p:cNvSpPr txBox="1"/>
          <p:nvPr/>
        </p:nvSpPr>
        <p:spPr>
          <a:xfrm>
            <a:off x="4828032" y="1792224"/>
            <a:ext cx="3657600" cy="210312"/>
          </a:xfrm>
          <a:prstGeom prst="rect">
            <a:avLst/>
          </a:prstGeom>
          <a:noFill/>
          <a:ln/>
        </p:spPr>
        <p:txBody>
          <a:bodyPr wrap="square" lIns="0" tIns="0" rIns="0" bIns="0" rtlCol="0" anchor="ctr">
            <a:normAutofit/>
          </a:bodyPr>
          <a:lstStyle/>
          <a:p>
            <a:pPr algn="l" indent="0" marL="0">
              <a:buNone/>
            </a:pPr>
            <a:r>
              <a:rPr lang="en-US" sz="1000" b="1" spc="80" kern="0" dirty="0">
                <a:solidFill>
                  <a:srgbClr val="2F7253"/>
                </a:solidFill>
                <a:latin typeface="Aptos" pitchFamily="34" charset="0"/>
                <a:ea typeface="Aptos" pitchFamily="34" charset="-122"/>
                <a:cs typeface="Aptos" pitchFamily="34" charset="-120"/>
              </a:rPr>
              <a:t>ONE WHEAT-YIELD STUDY  [17]</a:t>
            </a:r>
            <a:endParaRPr lang="en-US" sz="1000" dirty="0"/>
          </a:p>
        </p:txBody>
      </p:sp>
      <p:sp>
        <p:nvSpPr>
          <p:cNvPr id="21" name="Shape 19"/>
          <p:cNvSpPr/>
          <p:nvPr/>
        </p:nvSpPr>
        <p:spPr>
          <a:xfrm>
            <a:off x="4800600" y="2148840"/>
            <a:ext cx="2971800" cy="2359152"/>
          </a:xfrm>
          <a:prstGeom prst="roundRect">
            <a:avLst>
              <a:gd name="adj" fmla="val 4651"/>
            </a:avLst>
          </a:prstGeom>
          <a:solidFill>
            <a:srgbClr val="163B2E"/>
          </a:solidFill>
          <a:ln w="8890">
            <a:solidFill>
              <a:srgbClr val="163B2E"/>
            </a:solidFill>
            <a:prstDash val="solid"/>
          </a:ln>
        </p:spPr>
      </p:sp>
      <p:sp>
        <p:nvSpPr>
          <p:cNvPr id="22" name="Shape 20"/>
          <p:cNvSpPr/>
          <p:nvPr/>
        </p:nvSpPr>
        <p:spPr>
          <a:xfrm>
            <a:off x="5047488" y="2368296"/>
            <a:ext cx="2496312" cy="256032"/>
          </a:xfrm>
          <a:prstGeom prst="roundRect">
            <a:avLst>
              <a:gd name="adj" fmla="val 42857"/>
            </a:avLst>
          </a:prstGeom>
          <a:solidFill>
            <a:srgbClr val="C9E86D"/>
          </a:solidFill>
          <a:ln w="1270">
            <a:solidFill>
              <a:srgbClr val="C9E86D"/>
            </a:solidFill>
            <a:prstDash val="solid"/>
          </a:ln>
        </p:spPr>
      </p:sp>
      <p:sp>
        <p:nvSpPr>
          <p:cNvPr id="23" name="Text 21"/>
          <p:cNvSpPr txBox="1"/>
          <p:nvPr/>
        </p:nvSpPr>
        <p:spPr>
          <a:xfrm>
            <a:off x="5120640" y="2377440"/>
            <a:ext cx="2350008" cy="219456"/>
          </a:xfrm>
          <a:prstGeom prst="rect">
            <a:avLst/>
          </a:prstGeom>
          <a:noFill/>
          <a:ln/>
        </p:spPr>
        <p:txBody>
          <a:bodyPr wrap="square" lIns="0" tIns="0" rIns="0" bIns="0" rtlCol="0" anchor="ctr">
            <a:normAutofit/>
          </a:bodyPr>
          <a:lstStyle/>
          <a:p>
            <a:pPr algn="ctr" indent="0" marL="0">
              <a:buNone/>
            </a:pPr>
            <a:r>
              <a:rPr lang="en-US" sz="830" b="1" dirty="0">
                <a:solidFill>
                  <a:srgbClr val="163B2E"/>
                </a:solidFill>
                <a:latin typeface="Aptos" pitchFamily="34" charset="0"/>
                <a:ea typeface="Aptos" pitchFamily="34" charset="-122"/>
                <a:cs typeface="Aptos" pitchFamily="34" charset="-120"/>
              </a:rPr>
              <a:t>BETTER OF THE TWO CONFIGURATIONS</a:t>
            </a:r>
            <a:endParaRPr lang="en-US" sz="830" dirty="0"/>
          </a:p>
        </p:txBody>
      </p:sp>
      <p:sp>
        <p:nvSpPr>
          <p:cNvPr id="24" name="Text 22"/>
          <p:cNvSpPr txBox="1"/>
          <p:nvPr/>
        </p:nvSpPr>
        <p:spPr>
          <a:xfrm>
            <a:off x="5084064" y="2807208"/>
            <a:ext cx="2377440" cy="585216"/>
          </a:xfrm>
          <a:prstGeom prst="rect">
            <a:avLst/>
          </a:prstGeom>
          <a:noFill/>
          <a:ln/>
        </p:spPr>
        <p:txBody>
          <a:bodyPr wrap="square" lIns="0" tIns="0" rIns="0" bIns="0" rtlCol="0" anchor="t">
            <a:normAutofit/>
          </a:bodyPr>
          <a:lstStyle/>
          <a:p>
            <a:pPr algn="l" indent="0" marL="0">
              <a:buNone/>
            </a:pPr>
            <a:r>
              <a:rPr lang="en-US" sz="1800" b="1" dirty="0">
                <a:solidFill>
                  <a:srgbClr val="FFFFFF"/>
                </a:solidFill>
                <a:latin typeface="Aptos" pitchFamily="34" charset="0"/>
                <a:ea typeface="Aptos" pitchFamily="34" charset="-122"/>
                <a:cs typeface="Aptos" pitchFamily="34" charset="-120"/>
              </a:rPr>
              <a:t>Random Forest</a:t>
            </a:r>
            <a:endParaRPr lang="en-US" sz="1800" dirty="0"/>
          </a:p>
          <a:p>
            <a:pPr algn="l" indent="0" marL="0">
              <a:buNone/>
            </a:pPr>
            <a:r>
              <a:rPr lang="en-US" sz="1800" b="1" dirty="0">
                <a:solidFill>
                  <a:srgbClr val="FFFFFF"/>
                </a:solidFill>
                <a:latin typeface="Aptos" pitchFamily="34" charset="0"/>
                <a:ea typeface="Aptos" pitchFamily="34" charset="-122"/>
                <a:cs typeface="Aptos" pitchFamily="34" charset="-120"/>
              </a:rPr>
              <a:t>with NIRv</a:t>
            </a:r>
            <a:endParaRPr lang="en-US" sz="1800" dirty="0"/>
          </a:p>
        </p:txBody>
      </p:sp>
      <p:sp>
        <p:nvSpPr>
          <p:cNvPr id="25" name="Text 23"/>
          <p:cNvSpPr txBox="1"/>
          <p:nvPr/>
        </p:nvSpPr>
        <p:spPr>
          <a:xfrm>
            <a:off x="5084064" y="3584448"/>
            <a:ext cx="1463040" cy="384048"/>
          </a:xfrm>
          <a:prstGeom prst="rect">
            <a:avLst/>
          </a:prstGeom>
          <a:noFill/>
          <a:ln/>
        </p:spPr>
        <p:txBody>
          <a:bodyPr wrap="square" lIns="0" tIns="0" rIns="0" bIns="0" rtlCol="0" anchor="ctr">
            <a:normAutofit/>
          </a:bodyPr>
          <a:lstStyle/>
          <a:p>
            <a:pPr algn="l" indent="0" marL="0">
              <a:buNone/>
            </a:pPr>
            <a:r>
              <a:rPr lang="en-US" sz="2300" b="1" dirty="0">
                <a:solidFill>
                  <a:srgbClr val="C9E86D"/>
                </a:solidFill>
                <a:latin typeface="Aptos Display" pitchFamily="34" charset="0"/>
                <a:ea typeface="Aptos Display" pitchFamily="34" charset="-122"/>
                <a:cs typeface="Aptos Display" pitchFamily="34" charset="-120"/>
              </a:rPr>
              <a:t>R²  0.74</a:t>
            </a:r>
            <a:endParaRPr lang="en-US" sz="2300" dirty="0"/>
          </a:p>
        </p:txBody>
      </p:sp>
      <p:sp>
        <p:nvSpPr>
          <p:cNvPr id="26" name="Text 24"/>
          <p:cNvSpPr txBox="1"/>
          <p:nvPr/>
        </p:nvSpPr>
        <p:spPr>
          <a:xfrm>
            <a:off x="5084064" y="4014216"/>
            <a:ext cx="2331720" cy="228600"/>
          </a:xfrm>
          <a:prstGeom prst="rect">
            <a:avLst/>
          </a:prstGeom>
          <a:noFill/>
          <a:ln/>
        </p:spPr>
        <p:txBody>
          <a:bodyPr wrap="square" lIns="0" tIns="0" rIns="0" bIns="0" rtlCol="0" anchor="ctr">
            <a:normAutofit/>
          </a:bodyPr>
          <a:lstStyle/>
          <a:p>
            <a:pPr algn="l" indent="0" marL="0">
              <a:buNone/>
            </a:pPr>
            <a:r>
              <a:rPr lang="en-US" sz="1120" dirty="0">
                <a:solidFill>
                  <a:srgbClr val="E0EBE3"/>
                </a:solidFill>
                <a:latin typeface="Aptos" pitchFamily="34" charset="0"/>
                <a:ea typeface="Aptos" pitchFamily="34" charset="-122"/>
                <a:cs typeface="Aptos" pitchFamily="34" charset="-120"/>
              </a:rPr>
              <a:t>RMSE  758 kg/ha</a:t>
            </a:r>
            <a:endParaRPr lang="en-US" sz="1120" dirty="0"/>
          </a:p>
        </p:txBody>
      </p:sp>
      <p:sp>
        <p:nvSpPr>
          <p:cNvPr id="27" name="Shape 25"/>
          <p:cNvSpPr/>
          <p:nvPr/>
        </p:nvSpPr>
        <p:spPr>
          <a:xfrm>
            <a:off x="8010144" y="2148840"/>
            <a:ext cx="2971800" cy="2359152"/>
          </a:xfrm>
          <a:prstGeom prst="roundRect">
            <a:avLst>
              <a:gd name="adj" fmla="val 4651"/>
            </a:avLst>
          </a:prstGeom>
          <a:solidFill>
            <a:srgbClr val="FFFFFF"/>
          </a:solidFill>
          <a:ln w="8890">
            <a:solidFill>
              <a:srgbClr val="D9E1D7"/>
            </a:solidFill>
            <a:prstDash val="solid"/>
          </a:ln>
        </p:spPr>
      </p:sp>
      <p:sp>
        <p:nvSpPr>
          <p:cNvPr id="28" name="Shape 26"/>
          <p:cNvSpPr/>
          <p:nvPr/>
        </p:nvSpPr>
        <p:spPr>
          <a:xfrm>
            <a:off x="8284464" y="2368296"/>
            <a:ext cx="1828800" cy="256032"/>
          </a:xfrm>
          <a:prstGeom prst="roundRect">
            <a:avLst>
              <a:gd name="adj" fmla="val 42857"/>
            </a:avLst>
          </a:prstGeom>
          <a:solidFill>
            <a:srgbClr val="EAF0E7"/>
          </a:solidFill>
          <a:ln w="1270">
            <a:solidFill>
              <a:srgbClr val="EAF0E7"/>
            </a:solidFill>
            <a:prstDash val="solid"/>
          </a:ln>
        </p:spPr>
      </p:sp>
      <p:sp>
        <p:nvSpPr>
          <p:cNvPr id="29" name="Text 27"/>
          <p:cNvSpPr txBox="1"/>
          <p:nvPr/>
        </p:nvSpPr>
        <p:spPr>
          <a:xfrm>
            <a:off x="8357616" y="2377440"/>
            <a:ext cx="1682496" cy="219456"/>
          </a:xfrm>
          <a:prstGeom prst="rect">
            <a:avLst/>
          </a:prstGeom>
          <a:noFill/>
          <a:ln/>
        </p:spPr>
        <p:txBody>
          <a:bodyPr wrap="square" lIns="0" tIns="0" rIns="0" bIns="0" rtlCol="0" anchor="ctr">
            <a:normAutofit/>
          </a:bodyPr>
          <a:lstStyle/>
          <a:p>
            <a:pPr algn="ctr" indent="0" marL="0">
              <a:buNone/>
            </a:pPr>
            <a:r>
              <a:rPr lang="en-US" sz="830" b="1" dirty="0">
                <a:solidFill>
                  <a:srgbClr val="2F7253"/>
                </a:solidFill>
                <a:latin typeface="Aptos" pitchFamily="34" charset="0"/>
                <a:ea typeface="Aptos" pitchFamily="34" charset="-122"/>
                <a:cs typeface="Aptos" pitchFamily="34" charset="-120"/>
              </a:rPr>
              <a:t>ALTERNATIVE INPUT</a:t>
            </a:r>
            <a:endParaRPr lang="en-US" sz="830" dirty="0"/>
          </a:p>
        </p:txBody>
      </p:sp>
      <p:sp>
        <p:nvSpPr>
          <p:cNvPr id="30" name="Text 28"/>
          <p:cNvSpPr txBox="1"/>
          <p:nvPr/>
        </p:nvSpPr>
        <p:spPr>
          <a:xfrm>
            <a:off x="8284464" y="2807208"/>
            <a:ext cx="2331720" cy="585216"/>
          </a:xfrm>
          <a:prstGeom prst="rect">
            <a:avLst/>
          </a:prstGeom>
          <a:noFill/>
          <a:ln/>
        </p:spPr>
        <p:txBody>
          <a:bodyPr wrap="square" lIns="0" tIns="0" rIns="0" bIns="0" rtlCol="0" anchor="t">
            <a:normAutofit/>
          </a:bodyPr>
          <a:lstStyle/>
          <a:p>
            <a:pPr algn="l" indent="0" marL="0">
              <a:buNone/>
            </a:pPr>
            <a:r>
              <a:rPr lang="en-US" sz="1800" b="1" dirty="0">
                <a:solidFill>
                  <a:srgbClr val="163B2E"/>
                </a:solidFill>
                <a:latin typeface="Aptos" pitchFamily="34" charset="0"/>
                <a:ea typeface="Aptos" pitchFamily="34" charset="-122"/>
                <a:cs typeface="Aptos" pitchFamily="34" charset="-120"/>
              </a:rPr>
              <a:t>Random Forest</a:t>
            </a:r>
            <a:endParaRPr lang="en-US" sz="1800" dirty="0"/>
          </a:p>
          <a:p>
            <a:pPr algn="l" indent="0" marL="0">
              <a:buNone/>
            </a:pPr>
            <a:r>
              <a:rPr lang="en-US" sz="1800" b="1" dirty="0">
                <a:solidFill>
                  <a:srgbClr val="163B2E"/>
                </a:solidFill>
                <a:latin typeface="Aptos" pitchFamily="34" charset="0"/>
                <a:ea typeface="Aptos" pitchFamily="34" charset="-122"/>
                <a:cs typeface="Aptos" pitchFamily="34" charset="-120"/>
              </a:rPr>
              <a:t>with EVI</a:t>
            </a:r>
            <a:endParaRPr lang="en-US" sz="1800" dirty="0"/>
          </a:p>
        </p:txBody>
      </p:sp>
      <p:sp>
        <p:nvSpPr>
          <p:cNvPr id="31" name="Text 29"/>
          <p:cNvSpPr txBox="1"/>
          <p:nvPr/>
        </p:nvSpPr>
        <p:spPr>
          <a:xfrm>
            <a:off x="8284464" y="3584448"/>
            <a:ext cx="1463040" cy="384048"/>
          </a:xfrm>
          <a:prstGeom prst="rect">
            <a:avLst/>
          </a:prstGeom>
          <a:noFill/>
          <a:ln/>
        </p:spPr>
        <p:txBody>
          <a:bodyPr wrap="square" lIns="0" tIns="0" rIns="0" bIns="0" rtlCol="0" anchor="ctr">
            <a:normAutofit/>
          </a:bodyPr>
          <a:lstStyle/>
          <a:p>
            <a:pPr algn="l" indent="0" marL="0">
              <a:buNone/>
            </a:pPr>
            <a:r>
              <a:rPr lang="en-US" sz="2300" b="1" dirty="0">
                <a:solidFill>
                  <a:srgbClr val="2F7253"/>
                </a:solidFill>
                <a:latin typeface="Aptos Display" pitchFamily="34" charset="0"/>
                <a:ea typeface="Aptos Display" pitchFamily="34" charset="-122"/>
                <a:cs typeface="Aptos Display" pitchFamily="34" charset="-120"/>
              </a:rPr>
              <a:t>R²  0.73</a:t>
            </a:r>
            <a:endParaRPr lang="en-US" sz="2300" dirty="0"/>
          </a:p>
        </p:txBody>
      </p:sp>
      <p:sp>
        <p:nvSpPr>
          <p:cNvPr id="32" name="Text 30"/>
          <p:cNvSpPr txBox="1"/>
          <p:nvPr/>
        </p:nvSpPr>
        <p:spPr>
          <a:xfrm>
            <a:off x="8284464" y="4014216"/>
            <a:ext cx="2331720" cy="228600"/>
          </a:xfrm>
          <a:prstGeom prst="rect">
            <a:avLst/>
          </a:prstGeom>
          <a:noFill/>
          <a:ln/>
        </p:spPr>
        <p:txBody>
          <a:bodyPr wrap="square" lIns="0" tIns="0" rIns="0" bIns="0" rtlCol="0" anchor="ctr">
            <a:normAutofit/>
          </a:bodyPr>
          <a:lstStyle/>
          <a:p>
            <a:pPr algn="l" indent="0" marL="0">
              <a:buNone/>
            </a:pPr>
            <a:r>
              <a:rPr lang="en-US" sz="1120" dirty="0">
                <a:solidFill>
                  <a:srgbClr val="617065"/>
                </a:solidFill>
                <a:latin typeface="Aptos" pitchFamily="34" charset="0"/>
                <a:ea typeface="Aptos" pitchFamily="34" charset="-122"/>
                <a:cs typeface="Aptos" pitchFamily="34" charset="-120"/>
              </a:rPr>
              <a:t>RMSE  762 kg/ha</a:t>
            </a:r>
            <a:endParaRPr lang="en-US" sz="1120" dirty="0"/>
          </a:p>
        </p:txBody>
      </p:sp>
      <p:sp>
        <p:nvSpPr>
          <p:cNvPr id="33" name="Shape 31"/>
          <p:cNvSpPr/>
          <p:nvPr/>
        </p:nvSpPr>
        <p:spPr>
          <a:xfrm>
            <a:off x="7781544" y="3337560"/>
            <a:ext cx="219456" cy="0"/>
          </a:xfrm>
          <a:prstGeom prst="line">
            <a:avLst/>
          </a:prstGeom>
          <a:noFill/>
          <a:ln w="17780">
            <a:solidFill>
              <a:srgbClr val="2F7253"/>
            </a:solidFill>
            <a:prstDash val="solid"/>
            <a:tailEnd type="triangle"/>
          </a:ln>
        </p:spPr>
      </p:sp>
      <p:sp>
        <p:nvSpPr>
          <p:cNvPr id="34" name="Shape 32"/>
          <p:cNvSpPr/>
          <p:nvPr/>
        </p:nvSpPr>
        <p:spPr>
          <a:xfrm>
            <a:off x="4818888" y="4828032"/>
            <a:ext cx="6163056" cy="950976"/>
          </a:xfrm>
          <a:prstGeom prst="roundRect">
            <a:avLst>
              <a:gd name="adj" fmla="val 11538"/>
            </a:avLst>
          </a:prstGeom>
          <a:solidFill>
            <a:srgbClr val="E7F4BA"/>
          </a:solidFill>
          <a:ln w="8890">
            <a:solidFill>
              <a:srgbClr val="D7E5BA"/>
            </a:solidFill>
            <a:prstDash val="solid"/>
          </a:ln>
        </p:spPr>
      </p:sp>
      <p:sp>
        <p:nvSpPr>
          <p:cNvPr id="35" name="Text 33"/>
          <p:cNvSpPr txBox="1"/>
          <p:nvPr/>
        </p:nvSpPr>
        <p:spPr>
          <a:xfrm>
            <a:off x="5047488" y="5001768"/>
            <a:ext cx="2606040" cy="182880"/>
          </a:xfrm>
          <a:prstGeom prst="rect">
            <a:avLst/>
          </a:prstGeom>
          <a:noFill/>
          <a:ln/>
        </p:spPr>
        <p:txBody>
          <a:bodyPr wrap="square" lIns="0" tIns="0" rIns="0" bIns="0" rtlCol="0" anchor="ctr">
            <a:normAutofit/>
          </a:bodyPr>
          <a:lstStyle/>
          <a:p>
            <a:pPr algn="l" indent="0" marL="0">
              <a:buNone/>
            </a:pPr>
            <a:r>
              <a:rPr lang="en-US" sz="950" b="1" spc="50" kern="0" dirty="0">
                <a:solidFill>
                  <a:srgbClr val="2F7253"/>
                </a:solidFill>
                <a:latin typeface="Aptos" pitchFamily="34" charset="0"/>
                <a:ea typeface="Aptos" pitchFamily="34" charset="-122"/>
                <a:cs typeface="Aptos" pitchFamily="34" charset="-120"/>
              </a:rPr>
              <a:t>READ THE DIFFERENCE CORRECTLY</a:t>
            </a:r>
            <a:endParaRPr lang="en-US" sz="950" dirty="0"/>
          </a:p>
        </p:txBody>
      </p:sp>
      <p:sp>
        <p:nvSpPr>
          <p:cNvPr id="36" name="Text 34"/>
          <p:cNvSpPr txBox="1"/>
          <p:nvPr/>
        </p:nvSpPr>
        <p:spPr>
          <a:xfrm>
            <a:off x="5047488" y="5257800"/>
            <a:ext cx="5641848" cy="310896"/>
          </a:xfrm>
          <a:prstGeom prst="rect">
            <a:avLst/>
          </a:prstGeom>
          <a:noFill/>
          <a:ln/>
        </p:spPr>
        <p:txBody>
          <a:bodyPr wrap="square" lIns="0" tIns="0" rIns="0" bIns="0" rtlCol="0" anchor="ctr">
            <a:normAutofit/>
          </a:bodyPr>
          <a:lstStyle/>
          <a:p>
            <a:pPr algn="l" indent="0" marL="0">
              <a:buNone/>
            </a:pPr>
            <a:r>
              <a:rPr lang="en-US" sz="1060" dirty="0">
                <a:solidFill>
                  <a:srgbClr val="17251E"/>
                </a:solidFill>
                <a:latin typeface="Aptos" pitchFamily="34" charset="0"/>
                <a:ea typeface="Aptos" pitchFamily="34" charset="-122"/>
                <a:cs typeface="Aptos" pitchFamily="34" charset="-120"/>
              </a:rPr>
              <a:t>NIRv performed modestly better in this study. It does not establish that NIRv is always superior or that the score will hold in a different growing region.</a:t>
            </a:r>
            <a:endParaRPr lang="en-US" sz="1060" dirty="0"/>
          </a:p>
        </p:txBody>
      </p:sp>
      <p:sp>
        <p:nvSpPr>
          <p:cNvPr id="37" name="Text 35"/>
          <p:cNvSpPr txBox="1"/>
          <p:nvPr/>
        </p:nvSpPr>
        <p:spPr>
          <a:xfrm>
            <a:off x="7315200" y="6556248"/>
            <a:ext cx="3611880" cy="128016"/>
          </a:xfrm>
          <a:prstGeom prst="rect">
            <a:avLst/>
          </a:prstGeom>
          <a:noFill/>
          <a:ln/>
        </p:spPr>
        <p:txBody>
          <a:bodyPr wrap="square" lIns="0" tIns="0" rIns="0" bIns="0" rtlCol="0" anchor="ctr">
            <a:normAutofit/>
          </a:bodyPr>
          <a:lstStyle/>
          <a:p>
            <a:pPr algn="r" indent="0" marL="0">
              <a:buNone/>
            </a:pPr>
            <a:r>
              <a:rPr lang="en-US" sz="730" dirty="0">
                <a:solidFill>
                  <a:srgbClr val="617065"/>
                </a:solidFill>
                <a:latin typeface="Aptos" pitchFamily="34" charset="0"/>
                <a:ea typeface="Aptos" pitchFamily="34" charset="-122"/>
                <a:cs typeface="Aptos" pitchFamily="34" charset="-120"/>
              </a:rPr>
              <a:t>Li et al. [17], Computers and Electronics in Agriculture (2022)</a:t>
            </a:r>
            <a:endParaRPr lang="en-US" sz="730" dirty="0"/>
          </a:p>
        </p:txBody>
      </p:sp>
      <p:sp>
        <p:nvSpPr>
          <p:cNvPr id="25" name="Slide Number Placeholder 0"/>
          <p:cNvSpPr>
            <a:spLocks noGrp="1"/>
          </p:cNvSpPr>
          <p:nvPr>
            <p:ph type="sldNum" sz="quarter" idx="4294967295"/>
          </p:nvPr>
        </p:nvSpPr>
        <p:spPr>
          <a:xfrm>
            <a:off x="1120140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56A"/>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94360" y="329184"/>
            <a:ext cx="10972800" cy="201168"/>
          </a:xfrm>
          <a:prstGeom prst="rect">
            <a:avLst/>
          </a:prstGeom>
          <a:noFill/>
          <a:ln/>
        </p:spPr>
        <p:txBody>
          <a:bodyPr wrap="square" lIns="0" tIns="0" rIns="0" bIns="0" rtlCol="0" anchor="ctr">
            <a:normAutofit/>
          </a:bodyPr>
          <a:lstStyle/>
          <a:p>
            <a:pPr algn="l" indent="0" marL="0">
              <a:buNone/>
            </a:pPr>
            <a:r>
              <a:rPr lang="en-US" sz="1000" b="1" spc="125" kern="0" dirty="0">
                <a:solidFill>
                  <a:srgbClr val="2F7253"/>
                </a:solidFill>
                <a:latin typeface="Aptos" pitchFamily="34" charset="0"/>
                <a:ea typeface="Aptos" pitchFamily="34" charset="-122"/>
                <a:cs typeface="Aptos" pitchFamily="34" charset="-120"/>
              </a:rPr>
              <a:t>04  /  MONITORING &amp; DETECTION</a:t>
            </a:r>
            <a:endParaRPr lang="en-US" sz="1000" dirty="0"/>
          </a:p>
        </p:txBody>
      </p:sp>
      <p:sp>
        <p:nvSpPr>
          <p:cNvPr id="3" name="Text 1"/>
          <p:cNvSpPr txBox="1"/>
          <p:nvPr/>
        </p:nvSpPr>
        <p:spPr>
          <a:xfrm>
            <a:off x="594360" y="612648"/>
            <a:ext cx="11018520" cy="457200"/>
          </a:xfrm>
          <a:prstGeom prst="rect">
            <a:avLst/>
          </a:prstGeom>
          <a:noFill/>
          <a:ln/>
        </p:spPr>
        <p:txBody>
          <a:bodyPr wrap="square" lIns="0" tIns="0" rIns="0" bIns="0" rtlCol="0" anchor="ctr">
            <a:normAutofit/>
          </a:bodyPr>
          <a:lstStyle/>
          <a:p>
            <a:pPr algn="l" indent="0" marL="0">
              <a:buNone/>
            </a:pPr>
            <a:r>
              <a:rPr lang="en-US" sz="2600" b="1" dirty="0">
                <a:solidFill>
                  <a:srgbClr val="163B2E"/>
                </a:solidFill>
                <a:latin typeface="Aptos Display" pitchFamily="34" charset="0"/>
                <a:ea typeface="Aptos Display" pitchFamily="34" charset="-122"/>
                <a:cs typeface="Aptos Display" pitchFamily="34" charset="-120"/>
              </a:rPr>
              <a:t>A high score only means something with its metric and dataset</a:t>
            </a:r>
            <a:endParaRPr lang="en-US" sz="2600" dirty="0"/>
          </a:p>
        </p:txBody>
      </p:sp>
      <p:sp>
        <p:nvSpPr>
          <p:cNvPr id="4" name="Text 2"/>
          <p:cNvSpPr txBox="1"/>
          <p:nvPr/>
        </p:nvSpPr>
        <p:spPr>
          <a:xfrm>
            <a:off x="612648" y="1115568"/>
            <a:ext cx="10927080" cy="301752"/>
          </a:xfrm>
          <a:prstGeom prst="rect">
            <a:avLst/>
          </a:prstGeom>
          <a:noFill/>
          <a:ln/>
        </p:spPr>
        <p:txBody>
          <a:bodyPr wrap="square" lIns="0" tIns="0" rIns="0" bIns="0" rtlCol="0" anchor="ctr">
            <a:normAutofit/>
          </a:bodyPr>
          <a:lstStyle/>
          <a:p>
            <a:pPr algn="l" indent="0" marL="0">
              <a:buNone/>
            </a:pPr>
            <a:r>
              <a:rPr lang="en-US" sz="1250" dirty="0">
                <a:solidFill>
                  <a:srgbClr val="617065"/>
                </a:solidFill>
                <a:latin typeface="Aptos" pitchFamily="34" charset="0"/>
                <a:ea typeface="Aptos" pitchFamily="34" charset="-122"/>
                <a:cs typeface="Aptos" pitchFamily="34" charset="-120"/>
              </a:rPr>
              <a:t>Classification, object detection, and segmentation answer different questions.</a:t>
            </a:r>
            <a:endParaRPr lang="en-US" sz="1250" dirty="0"/>
          </a:p>
        </p:txBody>
      </p:sp>
      <p:sp>
        <p:nvSpPr>
          <p:cNvPr id="5" name="Shape 3"/>
          <p:cNvSpPr/>
          <p:nvPr/>
        </p:nvSpPr>
        <p:spPr>
          <a:xfrm>
            <a:off x="621792" y="1847088"/>
            <a:ext cx="3291840" cy="2999232"/>
          </a:xfrm>
          <a:prstGeom prst="roundRect">
            <a:avLst>
              <a:gd name="adj" fmla="val 3659"/>
            </a:avLst>
          </a:prstGeom>
          <a:solidFill>
            <a:srgbClr val="163B2E"/>
          </a:solidFill>
          <a:ln w="8890">
            <a:solidFill>
              <a:srgbClr val="163B2E"/>
            </a:solidFill>
            <a:prstDash val="solid"/>
          </a:ln>
        </p:spPr>
      </p:sp>
      <p:sp>
        <p:nvSpPr>
          <p:cNvPr id="6" name="Shape 4"/>
          <p:cNvSpPr/>
          <p:nvPr/>
        </p:nvSpPr>
        <p:spPr>
          <a:xfrm>
            <a:off x="621792" y="1847088"/>
            <a:ext cx="64008" cy="2999232"/>
          </a:xfrm>
          <a:prstGeom prst="rect">
            <a:avLst>
              <a:gd name="adj" fmla="val 171429"/>
            </a:avLst>
          </a:prstGeom>
          <a:solidFill>
            <a:srgbClr val="C9E86D"/>
          </a:solidFill>
          <a:ln w="1270">
            <a:solidFill>
              <a:srgbClr val="C9E86D"/>
            </a:solidFill>
            <a:prstDash val="solid"/>
          </a:ln>
        </p:spPr>
      </p:sp>
      <p:sp>
        <p:nvSpPr>
          <p:cNvPr id="7" name="Text 5"/>
          <p:cNvSpPr txBox="1"/>
          <p:nvPr/>
        </p:nvSpPr>
        <p:spPr>
          <a:xfrm>
            <a:off x="822960" y="2075688"/>
            <a:ext cx="2889504" cy="228600"/>
          </a:xfrm>
          <a:prstGeom prst="rect">
            <a:avLst/>
          </a:prstGeom>
          <a:noFill/>
          <a:ln/>
        </p:spPr>
        <p:txBody>
          <a:bodyPr wrap="square" lIns="0" tIns="0" rIns="0" bIns="0" rtlCol="0" anchor="ctr">
            <a:normAutofit/>
          </a:bodyPr>
          <a:lstStyle/>
          <a:p>
            <a:pPr algn="l" indent="0" marL="0">
              <a:buNone/>
            </a:pPr>
            <a:r>
              <a:rPr lang="en-US" sz="1020" b="1" spc="55" kern="0" dirty="0">
                <a:solidFill>
                  <a:srgbClr val="C9E86D"/>
                </a:solidFill>
                <a:latin typeface="Aptos" pitchFamily="34" charset="0"/>
                <a:ea typeface="Aptos" pitchFamily="34" charset="-122"/>
                <a:cs typeface="Aptos" pitchFamily="34" charset="-120"/>
              </a:rPr>
              <a:t>TOMATO VIRUS</a:t>
            </a:r>
            <a:endParaRPr lang="en-US" sz="1020" dirty="0"/>
          </a:p>
        </p:txBody>
      </p:sp>
      <p:sp>
        <p:nvSpPr>
          <p:cNvPr id="8" name="Text 6"/>
          <p:cNvSpPr txBox="1"/>
          <p:nvPr/>
        </p:nvSpPr>
        <p:spPr>
          <a:xfrm>
            <a:off x="822960" y="2395728"/>
            <a:ext cx="2852928" cy="493776"/>
          </a:xfrm>
          <a:prstGeom prst="rect">
            <a:avLst/>
          </a:prstGeom>
          <a:noFill/>
          <a:ln/>
        </p:spPr>
        <p:txBody>
          <a:bodyPr wrap="square" lIns="0" tIns="0" rIns="0" bIns="0" rtlCol="0" anchor="t">
            <a:normAutofit/>
          </a:bodyPr>
          <a:lstStyle/>
          <a:p>
            <a:pPr algn="l" indent="0" marL="0">
              <a:buNone/>
            </a:pPr>
            <a:r>
              <a:rPr lang="en-US" sz="1020" dirty="0">
                <a:solidFill>
                  <a:srgbClr val="DDE8DE"/>
                </a:solidFill>
                <a:latin typeface="Aptos" pitchFamily="34" charset="0"/>
                <a:ea typeface="Aptos" pitchFamily="34" charset="-122"/>
                <a:cs typeface="Aptos" pitchFamily="34" charset="-120"/>
              </a:rPr>
              <a:t>Greenhouse images captured with a mobile phone  •  [23]</a:t>
            </a:r>
            <a:endParaRPr lang="en-US" sz="1020" dirty="0"/>
          </a:p>
        </p:txBody>
      </p:sp>
      <p:sp>
        <p:nvSpPr>
          <p:cNvPr id="9" name="Shape 7"/>
          <p:cNvSpPr/>
          <p:nvPr/>
        </p:nvSpPr>
        <p:spPr>
          <a:xfrm>
            <a:off x="822960" y="3008376"/>
            <a:ext cx="2862072" cy="0"/>
          </a:xfrm>
          <a:prstGeom prst="line">
            <a:avLst/>
          </a:prstGeom>
          <a:noFill/>
          <a:ln w="10160">
            <a:solidFill>
              <a:srgbClr val="517662"/>
            </a:solidFill>
            <a:prstDash val="solid"/>
          </a:ln>
        </p:spPr>
      </p:sp>
      <p:sp>
        <p:nvSpPr>
          <p:cNvPr id="10" name="Text 8"/>
          <p:cNvSpPr txBox="1"/>
          <p:nvPr/>
        </p:nvSpPr>
        <p:spPr>
          <a:xfrm>
            <a:off x="822960" y="3227832"/>
            <a:ext cx="2834640" cy="466344"/>
          </a:xfrm>
          <a:prstGeom prst="rect">
            <a:avLst/>
          </a:prstGeom>
          <a:noFill/>
          <a:ln/>
        </p:spPr>
        <p:txBody>
          <a:bodyPr wrap="square" lIns="0" tIns="0" rIns="0" bIns="0" rtlCol="0" anchor="ctr">
            <a:normAutofit/>
          </a:bodyPr>
          <a:lstStyle/>
          <a:p>
            <a:pPr algn="l" indent="0" marL="0">
              <a:buNone/>
            </a:pPr>
            <a:r>
              <a:rPr lang="en-US" sz="2500" b="1" dirty="0">
                <a:solidFill>
                  <a:srgbClr val="C9E86D"/>
                </a:solidFill>
                <a:latin typeface="Aptos Display" pitchFamily="34" charset="0"/>
                <a:ea typeface="Aptos Display" pitchFamily="34" charset="-122"/>
                <a:cs typeface="Aptos Display" pitchFamily="34" charset="-120"/>
              </a:rPr>
              <a:t>91.07%</a:t>
            </a:r>
            <a:endParaRPr lang="en-US" sz="2500" dirty="0"/>
          </a:p>
        </p:txBody>
      </p:sp>
      <p:sp>
        <p:nvSpPr>
          <p:cNvPr id="11" name="Text 9"/>
          <p:cNvSpPr txBox="1"/>
          <p:nvPr/>
        </p:nvSpPr>
        <p:spPr>
          <a:xfrm>
            <a:off x="822960" y="3685032"/>
            <a:ext cx="2834640" cy="182880"/>
          </a:xfrm>
          <a:prstGeom prst="rect">
            <a:avLst/>
          </a:prstGeom>
          <a:noFill/>
          <a:ln/>
        </p:spPr>
        <p:txBody>
          <a:bodyPr wrap="square" lIns="0" tIns="0" rIns="0" bIns="0" rtlCol="0" anchor="ctr">
            <a:normAutofit/>
          </a:bodyPr>
          <a:lstStyle/>
          <a:p>
            <a:pPr algn="l" indent="0" marL="0">
              <a:buNone/>
            </a:pPr>
            <a:r>
              <a:rPr lang="en-US" sz="1040" dirty="0">
                <a:solidFill>
                  <a:srgbClr val="DDE8DE"/>
                </a:solidFill>
                <a:latin typeface="Aptos" pitchFamily="34" charset="0"/>
                <a:ea typeface="Aptos" pitchFamily="34" charset="-122"/>
                <a:cs typeface="Aptos" pitchFamily="34" charset="-120"/>
              </a:rPr>
              <a:t>test accuracy</a:t>
            </a:r>
            <a:endParaRPr lang="en-US" sz="1040" dirty="0"/>
          </a:p>
        </p:txBody>
      </p:sp>
      <p:sp>
        <p:nvSpPr>
          <p:cNvPr id="12" name="Text 10"/>
          <p:cNvSpPr txBox="1"/>
          <p:nvPr/>
        </p:nvSpPr>
        <p:spPr>
          <a:xfrm>
            <a:off x="822960" y="3986784"/>
            <a:ext cx="2834640" cy="347472"/>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Aptos Display" pitchFamily="34" charset="0"/>
                <a:ea typeface="Aptos Display" pitchFamily="34" charset="-122"/>
                <a:cs typeface="Aptos Display" pitchFamily="34" charset="-120"/>
              </a:rPr>
              <a:t>94.10%</a:t>
            </a:r>
            <a:endParaRPr lang="en-US" sz="1800" dirty="0"/>
          </a:p>
        </p:txBody>
      </p:sp>
      <p:sp>
        <p:nvSpPr>
          <p:cNvPr id="13" name="Text 11"/>
          <p:cNvSpPr txBox="1"/>
          <p:nvPr/>
        </p:nvSpPr>
        <p:spPr>
          <a:xfrm>
            <a:off x="822960" y="4352544"/>
            <a:ext cx="2834640" cy="182880"/>
          </a:xfrm>
          <a:prstGeom prst="rect">
            <a:avLst/>
          </a:prstGeom>
          <a:noFill/>
          <a:ln/>
        </p:spPr>
        <p:txBody>
          <a:bodyPr wrap="square" lIns="0" tIns="0" rIns="0" bIns="0" rtlCol="0" anchor="ctr">
            <a:normAutofit/>
          </a:bodyPr>
          <a:lstStyle/>
          <a:p>
            <a:pPr algn="l" indent="0" marL="0">
              <a:buNone/>
            </a:pPr>
            <a:r>
              <a:rPr lang="en-US" sz="1030" dirty="0">
                <a:solidFill>
                  <a:srgbClr val="DDE8DE"/>
                </a:solidFill>
                <a:latin typeface="Aptos" pitchFamily="34" charset="0"/>
                <a:ea typeface="Aptos" pitchFamily="34" charset="-122"/>
                <a:cs typeface="Aptos" pitchFamily="34" charset="-120"/>
              </a:rPr>
              <a:t>mAP @ IoU 0.5</a:t>
            </a:r>
            <a:endParaRPr lang="en-US" sz="1030" dirty="0"/>
          </a:p>
        </p:txBody>
      </p:sp>
      <p:sp>
        <p:nvSpPr>
          <p:cNvPr id="14" name="Shape 12"/>
          <p:cNvSpPr/>
          <p:nvPr/>
        </p:nvSpPr>
        <p:spPr>
          <a:xfrm>
            <a:off x="4453128" y="1847088"/>
            <a:ext cx="3291840" cy="2999232"/>
          </a:xfrm>
          <a:prstGeom prst="roundRect">
            <a:avLst>
              <a:gd name="adj" fmla="val 3659"/>
            </a:avLst>
          </a:prstGeom>
          <a:solidFill>
            <a:srgbClr val="FFFFFF"/>
          </a:solidFill>
          <a:ln w="8890">
            <a:solidFill>
              <a:srgbClr val="D9E1D7"/>
            </a:solidFill>
            <a:prstDash val="solid"/>
          </a:ln>
        </p:spPr>
      </p:sp>
      <p:sp>
        <p:nvSpPr>
          <p:cNvPr id="15" name="Shape 13"/>
          <p:cNvSpPr/>
          <p:nvPr/>
        </p:nvSpPr>
        <p:spPr>
          <a:xfrm>
            <a:off x="4453128" y="1847088"/>
            <a:ext cx="64008" cy="2999232"/>
          </a:xfrm>
          <a:prstGeom prst="rect">
            <a:avLst>
              <a:gd name="adj" fmla="val 171429"/>
            </a:avLst>
          </a:prstGeom>
          <a:solidFill>
            <a:srgbClr val="2F7253"/>
          </a:solidFill>
          <a:ln w="1270">
            <a:solidFill>
              <a:srgbClr val="2F7253"/>
            </a:solidFill>
            <a:prstDash val="solid"/>
          </a:ln>
        </p:spPr>
      </p:sp>
      <p:sp>
        <p:nvSpPr>
          <p:cNvPr id="16" name="Text 14"/>
          <p:cNvSpPr txBox="1"/>
          <p:nvPr/>
        </p:nvSpPr>
        <p:spPr>
          <a:xfrm>
            <a:off x="4654296" y="2075688"/>
            <a:ext cx="2889504" cy="228600"/>
          </a:xfrm>
          <a:prstGeom prst="rect">
            <a:avLst/>
          </a:prstGeom>
          <a:noFill/>
          <a:ln/>
        </p:spPr>
        <p:txBody>
          <a:bodyPr wrap="square" lIns="0" tIns="0" rIns="0" bIns="0" rtlCol="0" anchor="ctr">
            <a:normAutofit/>
          </a:bodyPr>
          <a:lstStyle/>
          <a:p>
            <a:pPr algn="l" indent="0" marL="0">
              <a:buNone/>
            </a:pPr>
            <a:r>
              <a:rPr lang="en-US" sz="1020" b="1" spc="55" kern="0" dirty="0">
                <a:solidFill>
                  <a:srgbClr val="2F7253"/>
                </a:solidFill>
                <a:latin typeface="Aptos" pitchFamily="34" charset="0"/>
                <a:ea typeface="Aptos" pitchFamily="34" charset="-122"/>
                <a:cs typeface="Aptos" pitchFamily="34" charset="-120"/>
              </a:rPr>
              <a:t>COFFEE LEAF SEGMENTATION</a:t>
            </a:r>
            <a:endParaRPr lang="en-US" sz="1020" dirty="0"/>
          </a:p>
        </p:txBody>
      </p:sp>
      <p:sp>
        <p:nvSpPr>
          <p:cNvPr id="17" name="Text 15"/>
          <p:cNvSpPr txBox="1"/>
          <p:nvPr/>
        </p:nvSpPr>
        <p:spPr>
          <a:xfrm>
            <a:off x="4654296" y="2395728"/>
            <a:ext cx="2852928" cy="493776"/>
          </a:xfrm>
          <a:prstGeom prst="rect">
            <a:avLst/>
          </a:prstGeom>
          <a:noFill/>
          <a:ln/>
        </p:spPr>
        <p:txBody>
          <a:bodyPr wrap="square" lIns="0" tIns="0" rIns="0" bIns="0" rtlCol="0" anchor="t">
            <a:normAutofit/>
          </a:bodyPr>
          <a:lstStyle/>
          <a:p>
            <a:pPr algn="l" indent="0" marL="0">
              <a:buNone/>
            </a:pPr>
            <a:r>
              <a:rPr lang="en-US" sz="1020" dirty="0">
                <a:solidFill>
                  <a:srgbClr val="617065"/>
                </a:solidFill>
                <a:latin typeface="Aptos" pitchFamily="34" charset="0"/>
                <a:ea typeface="Aptos" pitchFamily="34" charset="-122"/>
                <a:cs typeface="Aptos" pitchFamily="34" charset="-120"/>
              </a:rPr>
              <a:t>Disease / pest regions in in-field images  •  [24]</a:t>
            </a:r>
            <a:endParaRPr lang="en-US" sz="1020" dirty="0"/>
          </a:p>
        </p:txBody>
      </p:sp>
      <p:sp>
        <p:nvSpPr>
          <p:cNvPr id="18" name="Shape 16"/>
          <p:cNvSpPr/>
          <p:nvPr/>
        </p:nvSpPr>
        <p:spPr>
          <a:xfrm>
            <a:off x="4654296" y="3008376"/>
            <a:ext cx="2862072" cy="0"/>
          </a:xfrm>
          <a:prstGeom prst="line">
            <a:avLst/>
          </a:prstGeom>
          <a:noFill/>
          <a:ln w="10160">
            <a:solidFill>
              <a:srgbClr val="D9E1D7"/>
            </a:solidFill>
            <a:prstDash val="solid"/>
          </a:ln>
        </p:spPr>
      </p:sp>
      <p:sp>
        <p:nvSpPr>
          <p:cNvPr id="19" name="Text 17"/>
          <p:cNvSpPr txBox="1"/>
          <p:nvPr/>
        </p:nvSpPr>
        <p:spPr>
          <a:xfrm>
            <a:off x="4654296" y="3227832"/>
            <a:ext cx="2834640" cy="466344"/>
          </a:xfrm>
          <a:prstGeom prst="rect">
            <a:avLst/>
          </a:prstGeom>
          <a:noFill/>
          <a:ln/>
        </p:spPr>
        <p:txBody>
          <a:bodyPr wrap="square" lIns="0" tIns="0" rIns="0" bIns="0" rtlCol="0" anchor="ctr">
            <a:normAutofit/>
          </a:bodyPr>
          <a:lstStyle/>
          <a:p>
            <a:pPr algn="l" indent="0" marL="0">
              <a:buNone/>
            </a:pPr>
            <a:r>
              <a:rPr lang="en-US" sz="2500" b="1" dirty="0">
                <a:solidFill>
                  <a:srgbClr val="163B2E"/>
                </a:solidFill>
                <a:latin typeface="Aptos Display" pitchFamily="34" charset="0"/>
                <a:ea typeface="Aptos Display" pitchFamily="34" charset="-122"/>
                <a:cs typeface="Aptos Display" pitchFamily="34" charset="-120"/>
              </a:rPr>
              <a:t>94.25%</a:t>
            </a:r>
            <a:endParaRPr lang="en-US" sz="2500" dirty="0"/>
          </a:p>
        </p:txBody>
      </p:sp>
      <p:sp>
        <p:nvSpPr>
          <p:cNvPr id="20" name="Text 18"/>
          <p:cNvSpPr txBox="1"/>
          <p:nvPr/>
        </p:nvSpPr>
        <p:spPr>
          <a:xfrm>
            <a:off x="4654296" y="3685032"/>
            <a:ext cx="2834640" cy="182880"/>
          </a:xfrm>
          <a:prstGeom prst="rect">
            <a:avLst/>
          </a:prstGeom>
          <a:noFill/>
          <a:ln/>
        </p:spPr>
        <p:txBody>
          <a:bodyPr wrap="square" lIns="0" tIns="0" rIns="0" bIns="0" rtlCol="0" anchor="ctr">
            <a:normAutofit/>
          </a:bodyPr>
          <a:lstStyle/>
          <a:p>
            <a:pPr algn="l" indent="0" marL="0">
              <a:buNone/>
            </a:pPr>
            <a:r>
              <a:rPr lang="en-US" sz="1040" dirty="0">
                <a:solidFill>
                  <a:srgbClr val="617065"/>
                </a:solidFill>
                <a:latin typeface="Aptos" pitchFamily="34" charset="0"/>
                <a:ea typeface="Aptos" pitchFamily="34" charset="-122"/>
                <a:cs typeface="Aptos" pitchFamily="34" charset="-120"/>
              </a:rPr>
              <a:t>U-Net mIoU</a:t>
            </a:r>
            <a:endParaRPr lang="en-US" sz="1040" dirty="0"/>
          </a:p>
        </p:txBody>
      </p:sp>
      <p:sp>
        <p:nvSpPr>
          <p:cNvPr id="21" name="Text 19"/>
          <p:cNvSpPr txBox="1"/>
          <p:nvPr/>
        </p:nvSpPr>
        <p:spPr>
          <a:xfrm>
            <a:off x="4654296" y="3986784"/>
            <a:ext cx="2834640" cy="347472"/>
          </a:xfrm>
          <a:prstGeom prst="rect">
            <a:avLst/>
          </a:prstGeom>
          <a:noFill/>
          <a:ln/>
        </p:spPr>
        <p:txBody>
          <a:bodyPr wrap="square" lIns="0" tIns="0" rIns="0" bIns="0" rtlCol="0" anchor="ctr">
            <a:normAutofit/>
          </a:bodyPr>
          <a:lstStyle/>
          <a:p>
            <a:pPr algn="l" indent="0" marL="0">
              <a:buNone/>
            </a:pPr>
            <a:r>
              <a:rPr lang="en-US" sz="1800" b="1" dirty="0">
                <a:solidFill>
                  <a:srgbClr val="2F7253"/>
                </a:solidFill>
                <a:latin typeface="Aptos Display" pitchFamily="34" charset="0"/>
                <a:ea typeface="Aptos Display" pitchFamily="34" charset="-122"/>
                <a:cs typeface="Aptos Display" pitchFamily="34" charset="-120"/>
              </a:rPr>
              <a:t>93.54%</a:t>
            </a:r>
            <a:endParaRPr lang="en-US" sz="1800" dirty="0"/>
          </a:p>
        </p:txBody>
      </p:sp>
      <p:sp>
        <p:nvSpPr>
          <p:cNvPr id="22" name="Text 20"/>
          <p:cNvSpPr txBox="1"/>
          <p:nvPr/>
        </p:nvSpPr>
        <p:spPr>
          <a:xfrm>
            <a:off x="4654296" y="4352544"/>
            <a:ext cx="2834640" cy="182880"/>
          </a:xfrm>
          <a:prstGeom prst="rect">
            <a:avLst/>
          </a:prstGeom>
          <a:noFill/>
          <a:ln/>
        </p:spPr>
        <p:txBody>
          <a:bodyPr wrap="square" lIns="0" tIns="0" rIns="0" bIns="0" rtlCol="0" anchor="ctr">
            <a:normAutofit/>
          </a:bodyPr>
          <a:lstStyle/>
          <a:p>
            <a:pPr algn="l" indent="0" marL="0">
              <a:buNone/>
            </a:pPr>
            <a:r>
              <a:rPr lang="en-US" sz="1030" dirty="0">
                <a:solidFill>
                  <a:srgbClr val="617065"/>
                </a:solidFill>
                <a:latin typeface="Aptos" pitchFamily="34" charset="0"/>
                <a:ea typeface="Aptos" pitchFamily="34" charset="-122"/>
                <a:cs typeface="Aptos" pitchFamily="34" charset="-120"/>
              </a:rPr>
              <a:t>PSPNet mIoU</a:t>
            </a:r>
            <a:endParaRPr lang="en-US" sz="1030" dirty="0"/>
          </a:p>
        </p:txBody>
      </p:sp>
      <p:sp>
        <p:nvSpPr>
          <p:cNvPr id="23" name="Shape 21"/>
          <p:cNvSpPr/>
          <p:nvPr/>
        </p:nvSpPr>
        <p:spPr>
          <a:xfrm>
            <a:off x="8284464" y="1847088"/>
            <a:ext cx="3291840" cy="2999232"/>
          </a:xfrm>
          <a:prstGeom prst="roundRect">
            <a:avLst>
              <a:gd name="adj" fmla="val 3659"/>
            </a:avLst>
          </a:prstGeom>
          <a:solidFill>
            <a:srgbClr val="FFFFFF"/>
          </a:solidFill>
          <a:ln w="8890">
            <a:solidFill>
              <a:srgbClr val="D9E1D7"/>
            </a:solidFill>
            <a:prstDash val="solid"/>
          </a:ln>
        </p:spPr>
      </p:sp>
      <p:sp>
        <p:nvSpPr>
          <p:cNvPr id="24" name="Shape 22"/>
          <p:cNvSpPr/>
          <p:nvPr/>
        </p:nvSpPr>
        <p:spPr>
          <a:xfrm>
            <a:off x="8284464" y="1847088"/>
            <a:ext cx="64008" cy="2999232"/>
          </a:xfrm>
          <a:prstGeom prst="rect">
            <a:avLst>
              <a:gd name="adj" fmla="val 171429"/>
            </a:avLst>
          </a:prstGeom>
          <a:solidFill>
            <a:srgbClr val="D28A45"/>
          </a:solidFill>
          <a:ln w="1270">
            <a:solidFill>
              <a:srgbClr val="D28A45"/>
            </a:solidFill>
            <a:prstDash val="solid"/>
          </a:ln>
        </p:spPr>
      </p:sp>
      <p:sp>
        <p:nvSpPr>
          <p:cNvPr id="25" name="Text 23"/>
          <p:cNvSpPr txBox="1"/>
          <p:nvPr/>
        </p:nvSpPr>
        <p:spPr>
          <a:xfrm>
            <a:off x="8485632" y="2075688"/>
            <a:ext cx="2889504" cy="228600"/>
          </a:xfrm>
          <a:prstGeom prst="rect">
            <a:avLst/>
          </a:prstGeom>
          <a:noFill/>
          <a:ln/>
        </p:spPr>
        <p:txBody>
          <a:bodyPr wrap="square" lIns="0" tIns="0" rIns="0" bIns="0" rtlCol="0" anchor="ctr">
            <a:normAutofit/>
          </a:bodyPr>
          <a:lstStyle/>
          <a:p>
            <a:pPr algn="l" indent="0" marL="0">
              <a:buNone/>
            </a:pPr>
            <a:r>
              <a:rPr lang="en-US" sz="1020" b="1" spc="55" kern="0" dirty="0">
                <a:solidFill>
                  <a:srgbClr val="2F7253"/>
                </a:solidFill>
                <a:latin typeface="Aptos" pitchFamily="34" charset="0"/>
                <a:ea typeface="Aptos" pitchFamily="34" charset="-122"/>
                <a:cs typeface="Aptos" pitchFamily="34" charset="-120"/>
              </a:rPr>
              <a:t>COFFEE INSTANCE TASK</a:t>
            </a:r>
            <a:endParaRPr lang="en-US" sz="1020" dirty="0"/>
          </a:p>
        </p:txBody>
      </p:sp>
      <p:sp>
        <p:nvSpPr>
          <p:cNvPr id="26" name="Text 24"/>
          <p:cNvSpPr txBox="1"/>
          <p:nvPr/>
        </p:nvSpPr>
        <p:spPr>
          <a:xfrm>
            <a:off x="8485632" y="2395728"/>
            <a:ext cx="2852928" cy="493776"/>
          </a:xfrm>
          <a:prstGeom prst="rect">
            <a:avLst/>
          </a:prstGeom>
          <a:noFill/>
          <a:ln/>
        </p:spPr>
        <p:txBody>
          <a:bodyPr wrap="square" lIns="0" tIns="0" rIns="0" bIns="0" rtlCol="0" anchor="t">
            <a:normAutofit/>
          </a:bodyPr>
          <a:lstStyle/>
          <a:p>
            <a:pPr algn="l" indent="0" marL="0">
              <a:buNone/>
            </a:pPr>
            <a:r>
              <a:rPr lang="en-US" sz="1020" dirty="0">
                <a:solidFill>
                  <a:srgbClr val="617065"/>
                </a:solidFill>
                <a:latin typeface="Aptos" pitchFamily="34" charset="0"/>
                <a:ea typeface="Aptos" pitchFamily="34" charset="-122"/>
                <a:cs typeface="Aptos" pitchFamily="34" charset="-120"/>
              </a:rPr>
              <a:t>Identify leaf instances, not only disease classes  •  [24]</a:t>
            </a:r>
            <a:endParaRPr lang="en-US" sz="1020" dirty="0"/>
          </a:p>
        </p:txBody>
      </p:sp>
      <p:sp>
        <p:nvSpPr>
          <p:cNvPr id="27" name="Shape 25"/>
          <p:cNvSpPr/>
          <p:nvPr/>
        </p:nvSpPr>
        <p:spPr>
          <a:xfrm>
            <a:off x="8485632" y="3008376"/>
            <a:ext cx="2862072" cy="0"/>
          </a:xfrm>
          <a:prstGeom prst="line">
            <a:avLst/>
          </a:prstGeom>
          <a:noFill/>
          <a:ln w="10160">
            <a:solidFill>
              <a:srgbClr val="D9E1D7"/>
            </a:solidFill>
            <a:prstDash val="solid"/>
          </a:ln>
        </p:spPr>
      </p:sp>
      <p:sp>
        <p:nvSpPr>
          <p:cNvPr id="28" name="Text 26"/>
          <p:cNvSpPr txBox="1"/>
          <p:nvPr/>
        </p:nvSpPr>
        <p:spPr>
          <a:xfrm>
            <a:off x="8485632" y="3227832"/>
            <a:ext cx="2834640" cy="466344"/>
          </a:xfrm>
          <a:prstGeom prst="rect">
            <a:avLst/>
          </a:prstGeom>
          <a:noFill/>
          <a:ln/>
        </p:spPr>
        <p:txBody>
          <a:bodyPr wrap="square" lIns="0" tIns="0" rIns="0" bIns="0" rtlCol="0" anchor="ctr">
            <a:normAutofit/>
          </a:bodyPr>
          <a:lstStyle/>
          <a:p>
            <a:pPr algn="l" indent="0" marL="0">
              <a:buNone/>
            </a:pPr>
            <a:r>
              <a:rPr lang="en-US" sz="2500" b="1" dirty="0">
                <a:solidFill>
                  <a:srgbClr val="163B2E"/>
                </a:solidFill>
                <a:latin typeface="Aptos Display" pitchFamily="34" charset="0"/>
                <a:ea typeface="Aptos Display" pitchFamily="34" charset="-122"/>
                <a:cs typeface="Aptos Display" pitchFamily="34" charset="-120"/>
              </a:rPr>
              <a:t>73.90%</a:t>
            </a:r>
            <a:endParaRPr lang="en-US" sz="2500" dirty="0"/>
          </a:p>
        </p:txBody>
      </p:sp>
      <p:sp>
        <p:nvSpPr>
          <p:cNvPr id="29" name="Text 27"/>
          <p:cNvSpPr txBox="1"/>
          <p:nvPr/>
        </p:nvSpPr>
        <p:spPr>
          <a:xfrm>
            <a:off x="8485632" y="3685032"/>
            <a:ext cx="2834640" cy="182880"/>
          </a:xfrm>
          <a:prstGeom prst="rect">
            <a:avLst/>
          </a:prstGeom>
          <a:noFill/>
          <a:ln/>
        </p:spPr>
        <p:txBody>
          <a:bodyPr wrap="square" lIns="0" tIns="0" rIns="0" bIns="0" rtlCol="0" anchor="ctr">
            <a:normAutofit/>
          </a:bodyPr>
          <a:lstStyle/>
          <a:p>
            <a:pPr algn="l" indent="0" marL="0">
              <a:buNone/>
            </a:pPr>
            <a:r>
              <a:rPr lang="en-US" sz="1040" dirty="0">
                <a:solidFill>
                  <a:srgbClr val="617065"/>
                </a:solidFill>
                <a:latin typeface="Aptos" pitchFamily="34" charset="0"/>
                <a:ea typeface="Aptos" pitchFamily="34" charset="-122"/>
                <a:cs typeface="Aptos" pitchFamily="34" charset="-120"/>
              </a:rPr>
              <a:t>Mask R-CNN precision</a:t>
            </a:r>
            <a:endParaRPr lang="en-US" sz="1040" dirty="0"/>
          </a:p>
        </p:txBody>
      </p:sp>
      <p:sp>
        <p:nvSpPr>
          <p:cNvPr id="30" name="Text 28"/>
          <p:cNvSpPr txBox="1"/>
          <p:nvPr/>
        </p:nvSpPr>
        <p:spPr>
          <a:xfrm>
            <a:off x="8485632" y="3986784"/>
            <a:ext cx="2834640" cy="347472"/>
          </a:xfrm>
          <a:prstGeom prst="rect">
            <a:avLst/>
          </a:prstGeom>
          <a:noFill/>
          <a:ln/>
        </p:spPr>
        <p:txBody>
          <a:bodyPr wrap="square" lIns="0" tIns="0" rIns="0" bIns="0" rtlCol="0" anchor="ctr">
            <a:normAutofit/>
          </a:bodyPr>
          <a:lstStyle/>
          <a:p>
            <a:pPr algn="l" indent="0" marL="0">
              <a:buNone/>
            </a:pPr>
            <a:r>
              <a:rPr lang="en-US" sz="1800" b="1" dirty="0">
                <a:solidFill>
                  <a:srgbClr val="2F7253"/>
                </a:solidFill>
                <a:latin typeface="Aptos Display" pitchFamily="34" charset="0"/>
                <a:ea typeface="Aptos Display" pitchFamily="34" charset="-122"/>
                <a:cs typeface="Aptos Display" pitchFamily="34" charset="-120"/>
              </a:rPr>
              <a:t>71.90%</a:t>
            </a:r>
            <a:endParaRPr lang="en-US" sz="1800" dirty="0"/>
          </a:p>
        </p:txBody>
      </p:sp>
      <p:sp>
        <p:nvSpPr>
          <p:cNvPr id="31" name="Text 29"/>
          <p:cNvSpPr txBox="1"/>
          <p:nvPr/>
        </p:nvSpPr>
        <p:spPr>
          <a:xfrm>
            <a:off x="8485632" y="4352544"/>
            <a:ext cx="2834640" cy="182880"/>
          </a:xfrm>
          <a:prstGeom prst="rect">
            <a:avLst/>
          </a:prstGeom>
          <a:noFill/>
          <a:ln/>
        </p:spPr>
        <p:txBody>
          <a:bodyPr wrap="square" lIns="0" tIns="0" rIns="0" bIns="0" rtlCol="0" anchor="ctr">
            <a:normAutofit/>
          </a:bodyPr>
          <a:lstStyle/>
          <a:p>
            <a:pPr algn="l" indent="0" marL="0">
              <a:buNone/>
            </a:pPr>
            <a:r>
              <a:rPr lang="en-US" sz="1030" dirty="0">
                <a:solidFill>
                  <a:srgbClr val="617065"/>
                </a:solidFill>
                <a:latin typeface="Aptos" pitchFamily="34" charset="0"/>
                <a:ea typeface="Aptos" pitchFamily="34" charset="-122"/>
                <a:cs typeface="Aptos" pitchFamily="34" charset="-120"/>
              </a:rPr>
              <a:t>Mask R-CNN recall</a:t>
            </a:r>
            <a:endParaRPr lang="en-US" sz="1030" dirty="0"/>
          </a:p>
        </p:txBody>
      </p:sp>
      <p:sp>
        <p:nvSpPr>
          <p:cNvPr id="32" name="Shape 30"/>
          <p:cNvSpPr/>
          <p:nvPr/>
        </p:nvSpPr>
        <p:spPr>
          <a:xfrm>
            <a:off x="621792" y="5202936"/>
            <a:ext cx="10954512" cy="585216"/>
          </a:xfrm>
          <a:prstGeom prst="roundRect">
            <a:avLst>
              <a:gd name="adj" fmla="val 18750"/>
            </a:avLst>
          </a:prstGeom>
          <a:solidFill>
            <a:srgbClr val="F1EBD7"/>
          </a:solidFill>
          <a:ln w="8890">
            <a:solidFill>
              <a:srgbClr val="E6DABD"/>
            </a:solidFill>
            <a:prstDash val="solid"/>
          </a:ln>
        </p:spPr>
      </p:sp>
      <p:sp>
        <p:nvSpPr>
          <p:cNvPr id="33" name="Text 31"/>
          <p:cNvSpPr txBox="1"/>
          <p:nvPr/>
        </p:nvSpPr>
        <p:spPr>
          <a:xfrm>
            <a:off x="859536" y="5376672"/>
            <a:ext cx="1828800" cy="182880"/>
          </a:xfrm>
          <a:prstGeom prst="rect">
            <a:avLst/>
          </a:prstGeom>
          <a:noFill/>
          <a:ln/>
        </p:spPr>
        <p:txBody>
          <a:bodyPr wrap="square" lIns="0" tIns="0" rIns="0" bIns="0" rtlCol="0" anchor="ctr">
            <a:normAutofit/>
          </a:bodyPr>
          <a:lstStyle/>
          <a:p>
            <a:pPr algn="l" indent="0" marL="0">
              <a:buNone/>
            </a:pPr>
            <a:r>
              <a:rPr lang="en-US" sz="970" b="1" spc="60" kern="0" dirty="0">
                <a:solidFill>
                  <a:srgbClr val="8E622D"/>
                </a:solidFill>
                <a:latin typeface="Aptos" pitchFamily="34" charset="0"/>
                <a:ea typeface="Aptos" pitchFamily="34" charset="-122"/>
                <a:cs typeface="Aptos" pitchFamily="34" charset="-120"/>
              </a:rPr>
              <a:t>NOT A LEADERBOARD</a:t>
            </a:r>
            <a:endParaRPr lang="en-US" sz="970" dirty="0"/>
          </a:p>
        </p:txBody>
      </p:sp>
      <p:sp>
        <p:nvSpPr>
          <p:cNvPr id="34" name="Text 32"/>
          <p:cNvSpPr txBox="1"/>
          <p:nvPr/>
        </p:nvSpPr>
        <p:spPr>
          <a:xfrm>
            <a:off x="2532888" y="5294376"/>
            <a:ext cx="8659368" cy="356616"/>
          </a:xfrm>
          <a:prstGeom prst="rect">
            <a:avLst/>
          </a:prstGeom>
          <a:noFill/>
          <a:ln/>
        </p:spPr>
        <p:txBody>
          <a:bodyPr wrap="square" lIns="0" tIns="0" rIns="0" bIns="0" rtlCol="0" anchor="ctr">
            <a:normAutofit/>
          </a:bodyPr>
          <a:lstStyle/>
          <a:p>
            <a:pPr algn="l" indent="0" marL="0">
              <a:buNone/>
            </a:pPr>
            <a:r>
              <a:rPr lang="en-US" sz="1100" dirty="0">
                <a:solidFill>
                  <a:srgbClr val="17251E"/>
                </a:solidFill>
                <a:latin typeface="Aptos" pitchFamily="34" charset="0"/>
                <a:ea typeface="Aptos" pitchFamily="34" charset="-122"/>
                <a:cs typeface="Aptos" pitchFamily="34" charset="-120"/>
              </a:rPr>
              <a:t>Accuracy ≠ mAP ≠ mIoU ≠ precision / recall. Different datasets, tasks, and capture settings prevent direct ranking; field transfer needs external testing.</a:t>
            </a:r>
            <a:endParaRPr lang="en-US" sz="1100" dirty="0"/>
          </a:p>
        </p:txBody>
      </p:sp>
      <p:sp>
        <p:nvSpPr>
          <p:cNvPr id="35" name="Text 33"/>
          <p:cNvSpPr txBox="1"/>
          <p:nvPr/>
        </p:nvSpPr>
        <p:spPr>
          <a:xfrm>
            <a:off x="7315200" y="6556248"/>
            <a:ext cx="3611880" cy="128016"/>
          </a:xfrm>
          <a:prstGeom prst="rect">
            <a:avLst/>
          </a:prstGeom>
          <a:noFill/>
          <a:ln/>
        </p:spPr>
        <p:txBody>
          <a:bodyPr wrap="square" lIns="0" tIns="0" rIns="0" bIns="0" rtlCol="0" anchor="ctr">
            <a:normAutofit/>
          </a:bodyPr>
          <a:lstStyle/>
          <a:p>
            <a:pPr algn="r" indent="0" marL="0">
              <a:buNone/>
            </a:pPr>
            <a:r>
              <a:rPr lang="en-US" sz="730" dirty="0">
                <a:solidFill>
                  <a:srgbClr val="617065"/>
                </a:solidFill>
                <a:latin typeface="Aptos" pitchFamily="34" charset="0"/>
                <a:ea typeface="Aptos" pitchFamily="34" charset="-122"/>
                <a:cs typeface="Aptos" pitchFamily="34" charset="-120"/>
              </a:rPr>
              <a:t>Selected results from [23], [24]; foundational benchmarks [56], [57]</a:t>
            </a:r>
            <a:endParaRPr lang="en-US" sz="730" dirty="0"/>
          </a:p>
        </p:txBody>
      </p:sp>
      <p:sp>
        <p:nvSpPr>
          <p:cNvPr id="25" name="Slide Number Placeholder 0"/>
          <p:cNvSpPr>
            <a:spLocks noGrp="1"/>
          </p:cNvSpPr>
          <p:nvPr>
            <p:ph type="sldNum" sz="quarter" idx="4294967295"/>
          </p:nvPr>
        </p:nvSpPr>
        <p:spPr>
          <a:xfrm>
            <a:off x="1120140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56A"/>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94360" y="329184"/>
            <a:ext cx="10972800" cy="201168"/>
          </a:xfrm>
          <a:prstGeom prst="rect">
            <a:avLst/>
          </a:prstGeom>
          <a:noFill/>
          <a:ln/>
        </p:spPr>
        <p:txBody>
          <a:bodyPr wrap="square" lIns="0" tIns="0" rIns="0" bIns="0" rtlCol="0" anchor="ctr">
            <a:normAutofit/>
          </a:bodyPr>
          <a:lstStyle/>
          <a:p>
            <a:pPr algn="l" indent="0" marL="0">
              <a:buNone/>
            </a:pPr>
            <a:r>
              <a:rPr lang="en-US" sz="1000" b="1" spc="125" kern="0" dirty="0">
                <a:solidFill>
                  <a:srgbClr val="2F7253"/>
                </a:solidFill>
                <a:latin typeface="Aptos" pitchFamily="34" charset="0"/>
                <a:ea typeface="Aptos" pitchFamily="34" charset="-122"/>
                <a:cs typeface="Aptos" pitchFamily="34" charset="-120"/>
              </a:rPr>
              <a:t>05  /  RESOURCE &amp; OPERATIONS OPTIMISATION</a:t>
            </a:r>
            <a:endParaRPr lang="en-US" sz="1000" dirty="0"/>
          </a:p>
        </p:txBody>
      </p:sp>
      <p:sp>
        <p:nvSpPr>
          <p:cNvPr id="3" name="Text 1"/>
          <p:cNvSpPr txBox="1"/>
          <p:nvPr/>
        </p:nvSpPr>
        <p:spPr>
          <a:xfrm>
            <a:off x="594360" y="612648"/>
            <a:ext cx="11018520" cy="457200"/>
          </a:xfrm>
          <a:prstGeom prst="rect">
            <a:avLst/>
          </a:prstGeom>
          <a:noFill/>
          <a:ln/>
        </p:spPr>
        <p:txBody>
          <a:bodyPr wrap="square" lIns="0" tIns="0" rIns="0" bIns="0" rtlCol="0" anchor="ctr">
            <a:normAutofit/>
          </a:bodyPr>
          <a:lstStyle/>
          <a:p>
            <a:pPr algn="l" indent="0" marL="0">
              <a:buNone/>
            </a:pPr>
            <a:r>
              <a:rPr lang="en-US" sz="2600" b="1" dirty="0">
                <a:solidFill>
                  <a:srgbClr val="163B2E"/>
                </a:solidFill>
                <a:latin typeface="Aptos Display" pitchFamily="34" charset="0"/>
                <a:ea typeface="Aptos Display" pitchFamily="34" charset="-122"/>
                <a:cs typeface="Aptos Display" pitchFamily="34" charset="-120"/>
              </a:rPr>
              <a:t>Optimisation converts estimates into sequential actions</a:t>
            </a:r>
            <a:endParaRPr lang="en-US" sz="2600" dirty="0"/>
          </a:p>
        </p:txBody>
      </p:sp>
      <p:sp>
        <p:nvSpPr>
          <p:cNvPr id="4" name="Text 2"/>
          <p:cNvSpPr txBox="1"/>
          <p:nvPr/>
        </p:nvSpPr>
        <p:spPr>
          <a:xfrm>
            <a:off x="612648" y="1115568"/>
            <a:ext cx="10927080" cy="301752"/>
          </a:xfrm>
          <a:prstGeom prst="rect">
            <a:avLst/>
          </a:prstGeom>
          <a:noFill/>
          <a:ln/>
        </p:spPr>
        <p:txBody>
          <a:bodyPr wrap="square" lIns="0" tIns="0" rIns="0" bIns="0" rtlCol="0" anchor="ctr">
            <a:normAutofit/>
          </a:bodyPr>
          <a:lstStyle/>
          <a:p>
            <a:pPr algn="l" indent="0" marL="0">
              <a:buNone/>
            </a:pPr>
            <a:r>
              <a:rPr lang="en-US" sz="1250" dirty="0">
                <a:solidFill>
                  <a:srgbClr val="617065"/>
                </a:solidFill>
                <a:latin typeface="Aptos" pitchFamily="34" charset="0"/>
                <a:ea typeface="Aptos" pitchFamily="34" charset="-122"/>
                <a:cs typeface="Aptos" pitchFamily="34" charset="-120"/>
              </a:rPr>
              <a:t>The objective is not maximum automation; it is a safe decision under real constraints.</a:t>
            </a:r>
            <a:endParaRPr lang="en-US" sz="1250" dirty="0"/>
          </a:p>
        </p:txBody>
      </p:sp>
      <p:sp>
        <p:nvSpPr>
          <p:cNvPr id="5" name="Shape 3"/>
          <p:cNvSpPr/>
          <p:nvPr/>
        </p:nvSpPr>
        <p:spPr>
          <a:xfrm>
            <a:off x="621792" y="1719072"/>
            <a:ext cx="3886200" cy="4114800"/>
          </a:xfrm>
          <a:prstGeom prst="roundRect">
            <a:avLst>
              <a:gd name="adj" fmla="val 2824"/>
            </a:avLst>
          </a:prstGeom>
          <a:solidFill>
            <a:srgbClr val="163B2E"/>
          </a:solidFill>
          <a:ln w="8890">
            <a:solidFill>
              <a:srgbClr val="163B2E"/>
            </a:solidFill>
            <a:prstDash val="solid"/>
          </a:ln>
        </p:spPr>
      </p:sp>
      <p:sp>
        <p:nvSpPr>
          <p:cNvPr id="6" name="Text 4"/>
          <p:cNvSpPr txBox="1"/>
          <p:nvPr/>
        </p:nvSpPr>
        <p:spPr>
          <a:xfrm>
            <a:off x="896112" y="1975104"/>
            <a:ext cx="3246120" cy="219456"/>
          </a:xfrm>
          <a:prstGeom prst="rect">
            <a:avLst/>
          </a:prstGeom>
          <a:noFill/>
          <a:ln/>
        </p:spPr>
        <p:txBody>
          <a:bodyPr wrap="square" lIns="0" tIns="0" rIns="0" bIns="0" rtlCol="0" anchor="ctr">
            <a:normAutofit/>
          </a:bodyPr>
          <a:lstStyle/>
          <a:p>
            <a:pPr algn="l" indent="0" marL="0">
              <a:buNone/>
            </a:pPr>
            <a:r>
              <a:rPr lang="en-US" sz="970" b="1" spc="40" kern="0" dirty="0">
                <a:solidFill>
                  <a:srgbClr val="C9E86D"/>
                </a:solidFill>
                <a:latin typeface="Aptos" pitchFamily="34" charset="0"/>
                <a:ea typeface="Aptos" pitchFamily="34" charset="-122"/>
                <a:cs typeface="Aptos" pitchFamily="34" charset="-120"/>
              </a:rPr>
              <a:t>RICE IRRIGATION • RL SIMULATION [38]</a:t>
            </a:r>
            <a:endParaRPr lang="en-US" sz="970" dirty="0"/>
          </a:p>
        </p:txBody>
      </p:sp>
      <p:sp>
        <p:nvSpPr>
          <p:cNvPr id="7" name="Text 5"/>
          <p:cNvSpPr txBox="1"/>
          <p:nvPr/>
        </p:nvSpPr>
        <p:spPr>
          <a:xfrm>
            <a:off x="896112" y="2432304"/>
            <a:ext cx="2286000" cy="667512"/>
          </a:xfrm>
          <a:prstGeom prst="rect">
            <a:avLst/>
          </a:prstGeom>
          <a:noFill/>
          <a:ln/>
        </p:spPr>
        <p:txBody>
          <a:bodyPr wrap="square" lIns="0" tIns="0" rIns="0" bIns="0" rtlCol="0" anchor="ctr">
            <a:normAutofit/>
          </a:bodyPr>
          <a:lstStyle/>
          <a:p>
            <a:pPr algn="l" indent="0" marL="0">
              <a:buNone/>
            </a:pPr>
            <a:r>
              <a:rPr lang="en-US" sz="4000" b="1" dirty="0">
                <a:solidFill>
                  <a:srgbClr val="FFFFFF"/>
                </a:solidFill>
                <a:latin typeface="Aptos Display" pitchFamily="34" charset="0"/>
                <a:ea typeface="Aptos Display" pitchFamily="34" charset="-122"/>
                <a:cs typeface="Aptos Display" pitchFamily="34" charset="-120"/>
              </a:rPr>
              <a:t>23 mm</a:t>
            </a:r>
            <a:endParaRPr lang="en-US" sz="4000" dirty="0"/>
          </a:p>
        </p:txBody>
      </p:sp>
      <p:sp>
        <p:nvSpPr>
          <p:cNvPr id="8" name="Text 6"/>
          <p:cNvSpPr txBox="1"/>
          <p:nvPr/>
        </p:nvSpPr>
        <p:spPr>
          <a:xfrm>
            <a:off x="896112" y="3072384"/>
            <a:ext cx="2971800" cy="347472"/>
          </a:xfrm>
          <a:prstGeom prst="rect">
            <a:avLst/>
          </a:prstGeom>
          <a:noFill/>
          <a:ln/>
        </p:spPr>
        <p:txBody>
          <a:bodyPr wrap="square" lIns="0" tIns="0" rIns="0" bIns="0" rtlCol="0" anchor="ctr">
            <a:normAutofit/>
          </a:bodyPr>
          <a:lstStyle/>
          <a:p>
            <a:pPr algn="l" indent="0" marL="0">
              <a:buNone/>
            </a:pPr>
            <a:r>
              <a:rPr lang="en-US" sz="1240" dirty="0">
                <a:solidFill>
                  <a:srgbClr val="DBE8DE"/>
                </a:solidFill>
                <a:latin typeface="Aptos" pitchFamily="34" charset="0"/>
                <a:ea typeface="Aptos" pitchFamily="34" charset="-122"/>
                <a:cs typeface="Aptos" pitchFamily="34" charset="-120"/>
              </a:rPr>
              <a:t>less irrigation reported in the simulation</a:t>
            </a:r>
            <a:endParaRPr lang="en-US" sz="1240" dirty="0"/>
          </a:p>
        </p:txBody>
      </p:sp>
      <p:sp>
        <p:nvSpPr>
          <p:cNvPr id="9" name="Shape 7"/>
          <p:cNvSpPr/>
          <p:nvPr/>
        </p:nvSpPr>
        <p:spPr>
          <a:xfrm>
            <a:off x="896112" y="3611880"/>
            <a:ext cx="3264408" cy="0"/>
          </a:xfrm>
          <a:prstGeom prst="line">
            <a:avLst/>
          </a:prstGeom>
          <a:noFill/>
          <a:ln w="11430">
            <a:solidFill>
              <a:srgbClr val="527763"/>
            </a:solidFill>
            <a:prstDash val="solid"/>
          </a:ln>
        </p:spPr>
      </p:sp>
      <p:sp>
        <p:nvSpPr>
          <p:cNvPr id="10" name="Text 8"/>
          <p:cNvSpPr txBox="1"/>
          <p:nvPr/>
        </p:nvSpPr>
        <p:spPr>
          <a:xfrm>
            <a:off x="896112" y="3840480"/>
            <a:ext cx="2286000" cy="594360"/>
          </a:xfrm>
          <a:prstGeom prst="rect">
            <a:avLst/>
          </a:prstGeom>
          <a:noFill/>
          <a:ln/>
        </p:spPr>
        <p:txBody>
          <a:bodyPr wrap="square" lIns="0" tIns="0" rIns="0" bIns="0" rtlCol="0" anchor="ctr">
            <a:normAutofit/>
          </a:bodyPr>
          <a:lstStyle/>
          <a:p>
            <a:pPr algn="l" indent="0" marL="0">
              <a:buNone/>
            </a:pPr>
            <a:r>
              <a:rPr lang="en-US" sz="3200" b="1" dirty="0">
                <a:solidFill>
                  <a:srgbClr val="C9E86D"/>
                </a:solidFill>
                <a:latin typeface="Aptos Display" pitchFamily="34" charset="0"/>
                <a:ea typeface="Aptos Display" pitchFamily="34" charset="-122"/>
                <a:cs typeface="Aptos Display" pitchFamily="34" charset="-120"/>
              </a:rPr>
              <a:t>21 mm</a:t>
            </a:r>
            <a:endParaRPr lang="en-US" sz="3200" dirty="0"/>
          </a:p>
        </p:txBody>
      </p:sp>
      <p:sp>
        <p:nvSpPr>
          <p:cNvPr id="11" name="Text 9"/>
          <p:cNvSpPr txBox="1"/>
          <p:nvPr/>
        </p:nvSpPr>
        <p:spPr>
          <a:xfrm>
            <a:off x="896112" y="4434840"/>
            <a:ext cx="2880360" cy="246888"/>
          </a:xfrm>
          <a:prstGeom prst="rect">
            <a:avLst/>
          </a:prstGeom>
          <a:noFill/>
          <a:ln/>
        </p:spPr>
        <p:txBody>
          <a:bodyPr wrap="square" lIns="0" tIns="0" rIns="0" bIns="0" rtlCol="0" anchor="ctr">
            <a:normAutofit/>
          </a:bodyPr>
          <a:lstStyle/>
          <a:p>
            <a:pPr algn="l" indent="0" marL="0">
              <a:buNone/>
            </a:pPr>
            <a:r>
              <a:rPr lang="en-US" sz="1240" dirty="0">
                <a:solidFill>
                  <a:srgbClr val="DBE8DE"/>
                </a:solidFill>
                <a:latin typeface="Aptos" pitchFamily="34" charset="0"/>
                <a:ea typeface="Aptos" pitchFamily="34" charset="-122"/>
                <a:cs typeface="Aptos" pitchFamily="34" charset="-120"/>
              </a:rPr>
              <a:t>less drainage</a:t>
            </a:r>
            <a:endParaRPr lang="en-US" sz="1240" dirty="0"/>
          </a:p>
        </p:txBody>
      </p:sp>
      <p:sp>
        <p:nvSpPr>
          <p:cNvPr id="12" name="Text 10"/>
          <p:cNvSpPr txBox="1"/>
          <p:nvPr/>
        </p:nvSpPr>
        <p:spPr>
          <a:xfrm>
            <a:off x="896112" y="4965192"/>
            <a:ext cx="3182112" cy="493776"/>
          </a:xfrm>
          <a:prstGeom prst="rect">
            <a:avLst/>
          </a:prstGeom>
          <a:noFill/>
          <a:ln/>
        </p:spPr>
        <p:txBody>
          <a:bodyPr wrap="square" lIns="0" tIns="0" rIns="0" bIns="0" rtlCol="0" anchor="t">
            <a:normAutofit/>
          </a:bodyPr>
          <a:lstStyle/>
          <a:p>
            <a:pPr algn="l" indent="0" marL="0">
              <a:buNone/>
            </a:pPr>
            <a:r>
              <a:rPr lang="en-US" sz="1080" dirty="0">
                <a:solidFill>
                  <a:srgbClr val="FFFFFF"/>
                </a:solidFill>
                <a:latin typeface="Aptos" pitchFamily="34" charset="0"/>
                <a:ea typeface="Aptos" pitchFamily="34" charset="-122"/>
                <a:cs typeface="Aptos" pitchFamily="34" charset="-120"/>
              </a:rPr>
              <a:t>No significant yield reduction within the study simulation; field savings are not established by this result.</a:t>
            </a:r>
            <a:endParaRPr lang="en-US" sz="1080" dirty="0"/>
          </a:p>
        </p:txBody>
      </p:sp>
      <p:sp>
        <p:nvSpPr>
          <p:cNvPr id="13" name="Text 11"/>
          <p:cNvSpPr txBox="1"/>
          <p:nvPr/>
        </p:nvSpPr>
        <p:spPr>
          <a:xfrm>
            <a:off x="4919472" y="1856232"/>
            <a:ext cx="3017520" cy="219456"/>
          </a:xfrm>
          <a:prstGeom prst="rect">
            <a:avLst/>
          </a:prstGeom>
          <a:noFill/>
          <a:ln/>
        </p:spPr>
        <p:txBody>
          <a:bodyPr wrap="square" lIns="0" tIns="0" rIns="0" bIns="0" rtlCol="0" anchor="ctr">
            <a:normAutofit/>
          </a:bodyPr>
          <a:lstStyle/>
          <a:p>
            <a:pPr algn="l" indent="0" marL="0">
              <a:buNone/>
            </a:pPr>
            <a:r>
              <a:rPr lang="en-US" sz="1000" b="1" spc="100" kern="0" dirty="0">
                <a:solidFill>
                  <a:srgbClr val="2F7253"/>
                </a:solidFill>
                <a:latin typeface="Aptos" pitchFamily="34" charset="0"/>
                <a:ea typeface="Aptos" pitchFamily="34" charset="-122"/>
                <a:cs typeface="Aptos" pitchFamily="34" charset="-120"/>
              </a:rPr>
              <a:t>DECISION LOOP</a:t>
            </a:r>
            <a:endParaRPr lang="en-US" sz="1000" dirty="0"/>
          </a:p>
        </p:txBody>
      </p:sp>
      <p:sp>
        <p:nvSpPr>
          <p:cNvPr id="14" name="Shape 12"/>
          <p:cNvSpPr/>
          <p:nvPr/>
        </p:nvSpPr>
        <p:spPr>
          <a:xfrm>
            <a:off x="4937760" y="2304288"/>
            <a:ext cx="347472" cy="347472"/>
          </a:xfrm>
          <a:prstGeom prst="ellipse">
            <a:avLst/>
          </a:prstGeom>
          <a:solidFill>
            <a:srgbClr val="DCEAE3"/>
          </a:solidFill>
          <a:ln w="6350">
            <a:solidFill>
              <a:srgbClr val="D0DED3"/>
            </a:solidFill>
            <a:prstDash val="solid"/>
          </a:ln>
        </p:spPr>
      </p:sp>
      <p:sp>
        <p:nvSpPr>
          <p:cNvPr id="15" name="Text 13"/>
          <p:cNvSpPr txBox="1"/>
          <p:nvPr/>
        </p:nvSpPr>
        <p:spPr>
          <a:xfrm>
            <a:off x="4937760" y="2350008"/>
            <a:ext cx="347472" cy="192024"/>
          </a:xfrm>
          <a:prstGeom prst="rect">
            <a:avLst/>
          </a:prstGeom>
          <a:noFill/>
          <a:ln/>
        </p:spPr>
        <p:txBody>
          <a:bodyPr wrap="square" lIns="0" tIns="0" rIns="0" bIns="0" rtlCol="0" anchor="ctr">
            <a:normAutofit/>
          </a:bodyPr>
          <a:lstStyle/>
          <a:p>
            <a:pPr algn="ctr" indent="0" marL="0">
              <a:buNone/>
            </a:pPr>
            <a:r>
              <a:rPr lang="en-US" sz="1000" b="1" dirty="0">
                <a:solidFill>
                  <a:srgbClr val="163B2E"/>
                </a:solidFill>
                <a:latin typeface="Aptos" pitchFamily="34" charset="0"/>
                <a:ea typeface="Aptos" pitchFamily="34" charset="-122"/>
                <a:cs typeface="Aptos" pitchFamily="34" charset="-120"/>
              </a:rPr>
              <a:t>1</a:t>
            </a:r>
            <a:endParaRPr lang="en-US" sz="1000" dirty="0"/>
          </a:p>
        </p:txBody>
      </p:sp>
      <p:sp>
        <p:nvSpPr>
          <p:cNvPr id="16" name="Text 14"/>
          <p:cNvSpPr txBox="1"/>
          <p:nvPr/>
        </p:nvSpPr>
        <p:spPr>
          <a:xfrm>
            <a:off x="5449824" y="2276856"/>
            <a:ext cx="1417320" cy="237744"/>
          </a:xfrm>
          <a:prstGeom prst="rect">
            <a:avLst/>
          </a:prstGeom>
          <a:noFill/>
          <a:ln/>
        </p:spPr>
        <p:txBody>
          <a:bodyPr wrap="square" lIns="0" tIns="0" rIns="0" bIns="0" rtlCol="0" anchor="ctr">
            <a:normAutofit/>
          </a:bodyPr>
          <a:lstStyle/>
          <a:p>
            <a:pPr algn="l" indent="0" marL="0">
              <a:buNone/>
            </a:pPr>
            <a:r>
              <a:rPr lang="en-US" sz="1300" b="1" dirty="0">
                <a:solidFill>
                  <a:srgbClr val="163B2E"/>
                </a:solidFill>
                <a:latin typeface="Aptos" pitchFamily="34" charset="0"/>
                <a:ea typeface="Aptos" pitchFamily="34" charset="-122"/>
                <a:cs typeface="Aptos" pitchFamily="34" charset="-120"/>
              </a:rPr>
              <a:t>Observe</a:t>
            </a:r>
            <a:endParaRPr lang="en-US" sz="1300" dirty="0"/>
          </a:p>
        </p:txBody>
      </p:sp>
      <p:sp>
        <p:nvSpPr>
          <p:cNvPr id="17" name="Text 15"/>
          <p:cNvSpPr txBox="1"/>
          <p:nvPr/>
        </p:nvSpPr>
        <p:spPr>
          <a:xfrm>
            <a:off x="6876288" y="2286000"/>
            <a:ext cx="3474720" cy="256032"/>
          </a:xfrm>
          <a:prstGeom prst="rect">
            <a:avLst/>
          </a:prstGeom>
          <a:noFill/>
          <a:ln/>
        </p:spPr>
        <p:txBody>
          <a:bodyPr wrap="square" lIns="0" tIns="0" rIns="0" bIns="0" rtlCol="0" anchor="ctr">
            <a:normAutofit/>
          </a:bodyPr>
          <a:lstStyle/>
          <a:p>
            <a:pPr algn="l" indent="0" marL="0">
              <a:buNone/>
            </a:pPr>
            <a:r>
              <a:rPr lang="en-US" sz="1130" dirty="0">
                <a:solidFill>
                  <a:srgbClr val="617065"/>
                </a:solidFill>
                <a:latin typeface="Aptos" pitchFamily="34" charset="0"/>
                <a:ea typeface="Aptos" pitchFamily="34" charset="-122"/>
                <a:cs typeface="Aptos" pitchFamily="34" charset="-120"/>
              </a:rPr>
              <a:t>Weather + soil moisture</a:t>
            </a:r>
            <a:endParaRPr lang="en-US" sz="1130" dirty="0"/>
          </a:p>
        </p:txBody>
      </p:sp>
      <p:sp>
        <p:nvSpPr>
          <p:cNvPr id="18" name="Shape 16"/>
          <p:cNvSpPr/>
          <p:nvPr/>
        </p:nvSpPr>
        <p:spPr>
          <a:xfrm>
            <a:off x="5111496" y="2670048"/>
            <a:ext cx="0" cy="256032"/>
          </a:xfrm>
          <a:prstGeom prst="line">
            <a:avLst/>
          </a:prstGeom>
          <a:noFill/>
          <a:ln w="13970">
            <a:solidFill>
              <a:srgbClr val="B6C9BB"/>
            </a:solidFill>
            <a:prstDash val="solid"/>
          </a:ln>
        </p:spPr>
      </p:sp>
      <p:sp>
        <p:nvSpPr>
          <p:cNvPr id="19" name="Shape 17"/>
          <p:cNvSpPr/>
          <p:nvPr/>
        </p:nvSpPr>
        <p:spPr>
          <a:xfrm>
            <a:off x="4937760" y="2999232"/>
            <a:ext cx="347472" cy="347472"/>
          </a:xfrm>
          <a:prstGeom prst="ellipse">
            <a:avLst/>
          </a:prstGeom>
          <a:solidFill>
            <a:srgbClr val="DCEAE3"/>
          </a:solidFill>
          <a:ln w="6350">
            <a:solidFill>
              <a:srgbClr val="D0DED3"/>
            </a:solidFill>
            <a:prstDash val="solid"/>
          </a:ln>
        </p:spPr>
      </p:sp>
      <p:sp>
        <p:nvSpPr>
          <p:cNvPr id="20" name="Text 18"/>
          <p:cNvSpPr txBox="1"/>
          <p:nvPr/>
        </p:nvSpPr>
        <p:spPr>
          <a:xfrm>
            <a:off x="4937760" y="3044952"/>
            <a:ext cx="347472" cy="192024"/>
          </a:xfrm>
          <a:prstGeom prst="rect">
            <a:avLst/>
          </a:prstGeom>
          <a:noFill/>
          <a:ln/>
        </p:spPr>
        <p:txBody>
          <a:bodyPr wrap="square" lIns="0" tIns="0" rIns="0" bIns="0" rtlCol="0" anchor="ctr">
            <a:normAutofit/>
          </a:bodyPr>
          <a:lstStyle/>
          <a:p>
            <a:pPr algn="ctr" indent="0" marL="0">
              <a:buNone/>
            </a:pPr>
            <a:r>
              <a:rPr lang="en-US" sz="1000" b="1" dirty="0">
                <a:solidFill>
                  <a:srgbClr val="163B2E"/>
                </a:solidFill>
                <a:latin typeface="Aptos" pitchFamily="34" charset="0"/>
                <a:ea typeface="Aptos" pitchFamily="34" charset="-122"/>
                <a:cs typeface="Aptos" pitchFamily="34" charset="-120"/>
              </a:rPr>
              <a:t>2</a:t>
            </a:r>
            <a:endParaRPr lang="en-US" sz="1000" dirty="0"/>
          </a:p>
        </p:txBody>
      </p:sp>
      <p:sp>
        <p:nvSpPr>
          <p:cNvPr id="21" name="Text 19"/>
          <p:cNvSpPr txBox="1"/>
          <p:nvPr/>
        </p:nvSpPr>
        <p:spPr>
          <a:xfrm>
            <a:off x="5449824" y="2971800"/>
            <a:ext cx="1417320" cy="237744"/>
          </a:xfrm>
          <a:prstGeom prst="rect">
            <a:avLst/>
          </a:prstGeom>
          <a:noFill/>
          <a:ln/>
        </p:spPr>
        <p:txBody>
          <a:bodyPr wrap="square" lIns="0" tIns="0" rIns="0" bIns="0" rtlCol="0" anchor="ctr">
            <a:normAutofit/>
          </a:bodyPr>
          <a:lstStyle/>
          <a:p>
            <a:pPr algn="l" indent="0" marL="0">
              <a:buNone/>
            </a:pPr>
            <a:r>
              <a:rPr lang="en-US" sz="1300" b="1" dirty="0">
                <a:solidFill>
                  <a:srgbClr val="163B2E"/>
                </a:solidFill>
                <a:latin typeface="Aptos" pitchFamily="34" charset="0"/>
                <a:ea typeface="Aptos" pitchFamily="34" charset="-122"/>
                <a:cs typeface="Aptos" pitchFamily="34" charset="-120"/>
              </a:rPr>
              <a:t>Recommend</a:t>
            </a:r>
            <a:endParaRPr lang="en-US" sz="1300" dirty="0"/>
          </a:p>
        </p:txBody>
      </p:sp>
      <p:sp>
        <p:nvSpPr>
          <p:cNvPr id="22" name="Text 20"/>
          <p:cNvSpPr txBox="1"/>
          <p:nvPr/>
        </p:nvSpPr>
        <p:spPr>
          <a:xfrm>
            <a:off x="6876288" y="2980944"/>
            <a:ext cx="3474720" cy="256032"/>
          </a:xfrm>
          <a:prstGeom prst="rect">
            <a:avLst/>
          </a:prstGeom>
          <a:noFill/>
          <a:ln/>
        </p:spPr>
        <p:txBody>
          <a:bodyPr wrap="square" lIns="0" tIns="0" rIns="0" bIns="0" rtlCol="0" anchor="ctr">
            <a:normAutofit/>
          </a:bodyPr>
          <a:lstStyle/>
          <a:p>
            <a:pPr algn="l" indent="0" marL="0">
              <a:buNone/>
            </a:pPr>
            <a:r>
              <a:rPr lang="en-US" sz="1130" dirty="0">
                <a:solidFill>
                  <a:srgbClr val="617065"/>
                </a:solidFill>
                <a:latin typeface="Aptos" pitchFamily="34" charset="0"/>
                <a:ea typeface="Aptos" pitchFamily="34" charset="-122"/>
                <a:cs typeface="Aptos" pitchFamily="34" charset="-120"/>
              </a:rPr>
              <a:t>RL policy / constraints</a:t>
            </a:r>
            <a:endParaRPr lang="en-US" sz="1130" dirty="0"/>
          </a:p>
        </p:txBody>
      </p:sp>
      <p:sp>
        <p:nvSpPr>
          <p:cNvPr id="23" name="Shape 21"/>
          <p:cNvSpPr/>
          <p:nvPr/>
        </p:nvSpPr>
        <p:spPr>
          <a:xfrm>
            <a:off x="5111496" y="3364992"/>
            <a:ext cx="0" cy="256032"/>
          </a:xfrm>
          <a:prstGeom prst="line">
            <a:avLst/>
          </a:prstGeom>
          <a:noFill/>
          <a:ln w="13970">
            <a:solidFill>
              <a:srgbClr val="B6C9BB"/>
            </a:solidFill>
            <a:prstDash val="solid"/>
          </a:ln>
        </p:spPr>
      </p:sp>
      <p:sp>
        <p:nvSpPr>
          <p:cNvPr id="24" name="Shape 22"/>
          <p:cNvSpPr/>
          <p:nvPr/>
        </p:nvSpPr>
        <p:spPr>
          <a:xfrm>
            <a:off x="4937760" y="3694176"/>
            <a:ext cx="347472" cy="347472"/>
          </a:xfrm>
          <a:prstGeom prst="ellipse">
            <a:avLst/>
          </a:prstGeom>
          <a:solidFill>
            <a:srgbClr val="DCEAE3"/>
          </a:solidFill>
          <a:ln w="6350">
            <a:solidFill>
              <a:srgbClr val="D0DED3"/>
            </a:solidFill>
            <a:prstDash val="solid"/>
          </a:ln>
        </p:spPr>
      </p:sp>
      <p:sp>
        <p:nvSpPr>
          <p:cNvPr id="25" name="Text 23"/>
          <p:cNvSpPr txBox="1"/>
          <p:nvPr/>
        </p:nvSpPr>
        <p:spPr>
          <a:xfrm>
            <a:off x="4937760" y="3739896"/>
            <a:ext cx="347472" cy="192024"/>
          </a:xfrm>
          <a:prstGeom prst="rect">
            <a:avLst/>
          </a:prstGeom>
          <a:noFill/>
          <a:ln/>
        </p:spPr>
        <p:txBody>
          <a:bodyPr wrap="square" lIns="0" tIns="0" rIns="0" bIns="0" rtlCol="0" anchor="ctr">
            <a:normAutofit/>
          </a:bodyPr>
          <a:lstStyle/>
          <a:p>
            <a:pPr algn="ctr" indent="0" marL="0">
              <a:buNone/>
            </a:pPr>
            <a:r>
              <a:rPr lang="en-US" sz="1000" b="1" dirty="0">
                <a:solidFill>
                  <a:srgbClr val="163B2E"/>
                </a:solidFill>
                <a:latin typeface="Aptos" pitchFamily="34" charset="0"/>
                <a:ea typeface="Aptos" pitchFamily="34" charset="-122"/>
                <a:cs typeface="Aptos" pitchFamily="34" charset="-120"/>
              </a:rPr>
              <a:t>3</a:t>
            </a:r>
            <a:endParaRPr lang="en-US" sz="1000" dirty="0"/>
          </a:p>
        </p:txBody>
      </p:sp>
      <p:sp>
        <p:nvSpPr>
          <p:cNvPr id="26" name="Text 24"/>
          <p:cNvSpPr txBox="1"/>
          <p:nvPr/>
        </p:nvSpPr>
        <p:spPr>
          <a:xfrm>
            <a:off x="5449824" y="3666744"/>
            <a:ext cx="1417320" cy="237744"/>
          </a:xfrm>
          <a:prstGeom prst="rect">
            <a:avLst/>
          </a:prstGeom>
          <a:noFill/>
          <a:ln/>
        </p:spPr>
        <p:txBody>
          <a:bodyPr wrap="square" lIns="0" tIns="0" rIns="0" bIns="0" rtlCol="0" anchor="ctr">
            <a:normAutofit/>
          </a:bodyPr>
          <a:lstStyle/>
          <a:p>
            <a:pPr algn="l" indent="0" marL="0">
              <a:buNone/>
            </a:pPr>
            <a:r>
              <a:rPr lang="en-US" sz="1300" b="1" dirty="0">
                <a:solidFill>
                  <a:srgbClr val="163B2E"/>
                </a:solidFill>
                <a:latin typeface="Aptos" pitchFamily="34" charset="0"/>
                <a:ea typeface="Aptos" pitchFamily="34" charset="-122"/>
                <a:cs typeface="Aptos" pitchFamily="34" charset="-120"/>
              </a:rPr>
              <a:t>Act</a:t>
            </a:r>
            <a:endParaRPr lang="en-US" sz="1300" dirty="0"/>
          </a:p>
        </p:txBody>
      </p:sp>
      <p:sp>
        <p:nvSpPr>
          <p:cNvPr id="27" name="Text 25"/>
          <p:cNvSpPr txBox="1"/>
          <p:nvPr/>
        </p:nvSpPr>
        <p:spPr>
          <a:xfrm>
            <a:off x="6876288" y="3675888"/>
            <a:ext cx="3474720" cy="256032"/>
          </a:xfrm>
          <a:prstGeom prst="rect">
            <a:avLst/>
          </a:prstGeom>
          <a:noFill/>
          <a:ln/>
        </p:spPr>
        <p:txBody>
          <a:bodyPr wrap="square" lIns="0" tIns="0" rIns="0" bIns="0" rtlCol="0" anchor="ctr">
            <a:normAutofit/>
          </a:bodyPr>
          <a:lstStyle/>
          <a:p>
            <a:pPr algn="l" indent="0" marL="0">
              <a:buNone/>
            </a:pPr>
            <a:r>
              <a:rPr lang="en-US" sz="1130" dirty="0">
                <a:solidFill>
                  <a:srgbClr val="617065"/>
                </a:solidFill>
                <a:latin typeface="Aptos" pitchFamily="34" charset="0"/>
                <a:ea typeface="Aptos" pitchFamily="34" charset="-122"/>
                <a:cs typeface="Aptos" pitchFamily="34" charset="-120"/>
              </a:rPr>
              <a:t>Schedule irrigation</a:t>
            </a:r>
            <a:endParaRPr lang="en-US" sz="1130" dirty="0"/>
          </a:p>
        </p:txBody>
      </p:sp>
      <p:sp>
        <p:nvSpPr>
          <p:cNvPr id="28" name="Shape 26"/>
          <p:cNvSpPr/>
          <p:nvPr/>
        </p:nvSpPr>
        <p:spPr>
          <a:xfrm>
            <a:off x="5111496" y="4059936"/>
            <a:ext cx="0" cy="256032"/>
          </a:xfrm>
          <a:prstGeom prst="line">
            <a:avLst/>
          </a:prstGeom>
          <a:noFill/>
          <a:ln w="13970">
            <a:solidFill>
              <a:srgbClr val="B6C9BB"/>
            </a:solidFill>
            <a:prstDash val="solid"/>
          </a:ln>
        </p:spPr>
      </p:sp>
      <p:sp>
        <p:nvSpPr>
          <p:cNvPr id="29" name="Shape 27"/>
          <p:cNvSpPr/>
          <p:nvPr/>
        </p:nvSpPr>
        <p:spPr>
          <a:xfrm>
            <a:off x="4937760" y="4389120"/>
            <a:ext cx="347472" cy="347472"/>
          </a:xfrm>
          <a:prstGeom prst="ellipse">
            <a:avLst/>
          </a:prstGeom>
          <a:solidFill>
            <a:srgbClr val="C9E86D"/>
          </a:solidFill>
          <a:ln w="6350">
            <a:solidFill>
              <a:srgbClr val="BCD95A"/>
            </a:solidFill>
            <a:prstDash val="solid"/>
          </a:ln>
        </p:spPr>
      </p:sp>
      <p:sp>
        <p:nvSpPr>
          <p:cNvPr id="30" name="Text 28"/>
          <p:cNvSpPr txBox="1"/>
          <p:nvPr/>
        </p:nvSpPr>
        <p:spPr>
          <a:xfrm>
            <a:off x="4937760" y="4434840"/>
            <a:ext cx="347472" cy="192024"/>
          </a:xfrm>
          <a:prstGeom prst="rect">
            <a:avLst/>
          </a:prstGeom>
          <a:noFill/>
          <a:ln/>
        </p:spPr>
        <p:txBody>
          <a:bodyPr wrap="square" lIns="0" tIns="0" rIns="0" bIns="0" rtlCol="0" anchor="ctr">
            <a:normAutofit/>
          </a:bodyPr>
          <a:lstStyle/>
          <a:p>
            <a:pPr algn="ctr" indent="0" marL="0">
              <a:buNone/>
            </a:pPr>
            <a:r>
              <a:rPr lang="en-US" sz="1000" b="1" dirty="0">
                <a:solidFill>
                  <a:srgbClr val="163B2E"/>
                </a:solidFill>
                <a:latin typeface="Aptos" pitchFamily="34" charset="0"/>
                <a:ea typeface="Aptos" pitchFamily="34" charset="-122"/>
                <a:cs typeface="Aptos" pitchFamily="34" charset="-120"/>
              </a:rPr>
              <a:t>4</a:t>
            </a:r>
            <a:endParaRPr lang="en-US" sz="1000" dirty="0"/>
          </a:p>
        </p:txBody>
      </p:sp>
      <p:sp>
        <p:nvSpPr>
          <p:cNvPr id="31" name="Text 29"/>
          <p:cNvSpPr txBox="1"/>
          <p:nvPr/>
        </p:nvSpPr>
        <p:spPr>
          <a:xfrm>
            <a:off x="5449824" y="4361688"/>
            <a:ext cx="1417320" cy="237744"/>
          </a:xfrm>
          <a:prstGeom prst="rect">
            <a:avLst/>
          </a:prstGeom>
          <a:noFill/>
          <a:ln/>
        </p:spPr>
        <p:txBody>
          <a:bodyPr wrap="square" lIns="0" tIns="0" rIns="0" bIns="0" rtlCol="0" anchor="ctr">
            <a:normAutofit/>
          </a:bodyPr>
          <a:lstStyle/>
          <a:p>
            <a:pPr algn="l" indent="0" marL="0">
              <a:buNone/>
            </a:pPr>
            <a:r>
              <a:rPr lang="en-US" sz="1300" b="1" dirty="0">
                <a:solidFill>
                  <a:srgbClr val="163B2E"/>
                </a:solidFill>
                <a:latin typeface="Aptos" pitchFamily="34" charset="0"/>
                <a:ea typeface="Aptos" pitchFamily="34" charset="-122"/>
                <a:cs typeface="Aptos" pitchFamily="34" charset="-120"/>
              </a:rPr>
              <a:t>Measure</a:t>
            </a:r>
            <a:endParaRPr lang="en-US" sz="1300" dirty="0"/>
          </a:p>
        </p:txBody>
      </p:sp>
      <p:sp>
        <p:nvSpPr>
          <p:cNvPr id="32" name="Text 30"/>
          <p:cNvSpPr txBox="1"/>
          <p:nvPr/>
        </p:nvSpPr>
        <p:spPr>
          <a:xfrm>
            <a:off x="6876288" y="4370832"/>
            <a:ext cx="3474720" cy="256032"/>
          </a:xfrm>
          <a:prstGeom prst="rect">
            <a:avLst/>
          </a:prstGeom>
          <a:noFill/>
          <a:ln/>
        </p:spPr>
        <p:txBody>
          <a:bodyPr wrap="square" lIns="0" tIns="0" rIns="0" bIns="0" rtlCol="0" anchor="ctr">
            <a:normAutofit/>
          </a:bodyPr>
          <a:lstStyle/>
          <a:p>
            <a:pPr algn="l" indent="0" marL="0">
              <a:buNone/>
            </a:pPr>
            <a:r>
              <a:rPr lang="en-US" sz="1130" dirty="0">
                <a:solidFill>
                  <a:srgbClr val="617065"/>
                </a:solidFill>
                <a:latin typeface="Aptos" pitchFamily="34" charset="0"/>
                <a:ea typeface="Aptos" pitchFamily="34" charset="-122"/>
                <a:cs typeface="Aptos" pitchFamily="34" charset="-120"/>
              </a:rPr>
              <a:t>Check water, yield, overrides</a:t>
            </a:r>
            <a:endParaRPr lang="en-US" sz="1130" dirty="0"/>
          </a:p>
        </p:txBody>
      </p:sp>
      <p:sp>
        <p:nvSpPr>
          <p:cNvPr id="33" name="Shape 31"/>
          <p:cNvSpPr/>
          <p:nvPr/>
        </p:nvSpPr>
        <p:spPr>
          <a:xfrm>
            <a:off x="4919472" y="5221224"/>
            <a:ext cx="6035040" cy="566928"/>
          </a:xfrm>
          <a:prstGeom prst="roundRect">
            <a:avLst>
              <a:gd name="adj" fmla="val 19355"/>
            </a:avLst>
          </a:prstGeom>
          <a:solidFill>
            <a:srgbClr val="E7F4BA"/>
          </a:solidFill>
          <a:ln w="8890">
            <a:solidFill>
              <a:srgbClr val="D7E5BA"/>
            </a:solidFill>
            <a:prstDash val="solid"/>
          </a:ln>
        </p:spPr>
      </p:sp>
      <p:sp>
        <p:nvSpPr>
          <p:cNvPr id="34" name="Text 32"/>
          <p:cNvSpPr txBox="1"/>
          <p:nvPr/>
        </p:nvSpPr>
        <p:spPr>
          <a:xfrm>
            <a:off x="5138928" y="5385816"/>
            <a:ext cx="5577840" cy="210312"/>
          </a:xfrm>
          <a:prstGeom prst="rect">
            <a:avLst/>
          </a:prstGeom>
          <a:noFill/>
          <a:ln/>
        </p:spPr>
        <p:txBody>
          <a:bodyPr wrap="square" lIns="0" tIns="0" rIns="0" bIns="0" rtlCol="0" anchor="ctr">
            <a:normAutofit/>
          </a:bodyPr>
          <a:lstStyle/>
          <a:p>
            <a:pPr algn="ctr" indent="0" marL="0">
              <a:buNone/>
            </a:pPr>
            <a:r>
              <a:rPr lang="en-US" sz="1070" b="1" dirty="0">
                <a:solidFill>
                  <a:srgbClr val="163B2E"/>
                </a:solidFill>
                <a:latin typeface="Aptos" pitchFamily="34" charset="0"/>
                <a:ea typeface="Aptos" pitchFamily="34" charset="-122"/>
                <a:cs typeface="Aptos" pitchFamily="34" charset="-120"/>
              </a:rPr>
              <a:t>Other targets: fertiliser • feed • energy • fleet routing • harvest logistics</a:t>
            </a:r>
            <a:endParaRPr lang="en-US" sz="1070" dirty="0"/>
          </a:p>
        </p:txBody>
      </p:sp>
      <p:sp>
        <p:nvSpPr>
          <p:cNvPr id="35" name="Text 33"/>
          <p:cNvSpPr txBox="1"/>
          <p:nvPr/>
        </p:nvSpPr>
        <p:spPr>
          <a:xfrm>
            <a:off x="7315200" y="6556248"/>
            <a:ext cx="3611880" cy="128016"/>
          </a:xfrm>
          <a:prstGeom prst="rect">
            <a:avLst/>
          </a:prstGeom>
          <a:noFill/>
          <a:ln/>
        </p:spPr>
        <p:txBody>
          <a:bodyPr wrap="square" lIns="0" tIns="0" rIns="0" bIns="0" rtlCol="0" anchor="ctr">
            <a:normAutofit/>
          </a:bodyPr>
          <a:lstStyle/>
          <a:p>
            <a:pPr algn="r" indent="0" marL="0">
              <a:buNone/>
            </a:pPr>
            <a:r>
              <a:rPr lang="en-US" sz="730" dirty="0">
                <a:solidFill>
                  <a:srgbClr val="617065"/>
                </a:solidFill>
                <a:latin typeface="Aptos" pitchFamily="34" charset="0"/>
                <a:ea typeface="Aptos" pitchFamily="34" charset="-122"/>
                <a:cs typeface="Aptos" pitchFamily="34" charset="-120"/>
              </a:rPr>
              <a:t>Chen et al. [38], Agricultural Water Management (2021)</a:t>
            </a:r>
            <a:endParaRPr lang="en-US" sz="730" dirty="0"/>
          </a:p>
        </p:txBody>
      </p:sp>
      <p:sp>
        <p:nvSpPr>
          <p:cNvPr id="25" name="Slide Number Placeholder 0"/>
          <p:cNvSpPr>
            <a:spLocks noGrp="1"/>
          </p:cNvSpPr>
          <p:nvPr>
            <p:ph type="sldNum" sz="quarter" idx="4294967295"/>
          </p:nvPr>
        </p:nvSpPr>
        <p:spPr>
          <a:xfrm>
            <a:off x="1120140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56A"/>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94360" y="329184"/>
            <a:ext cx="10972800" cy="201168"/>
          </a:xfrm>
          <a:prstGeom prst="rect">
            <a:avLst/>
          </a:prstGeom>
          <a:noFill/>
          <a:ln/>
        </p:spPr>
        <p:txBody>
          <a:bodyPr wrap="square" lIns="0" tIns="0" rIns="0" bIns="0" rtlCol="0" anchor="ctr">
            <a:normAutofit/>
          </a:bodyPr>
          <a:lstStyle/>
          <a:p>
            <a:pPr algn="l" indent="0" marL="0">
              <a:buNone/>
            </a:pPr>
            <a:r>
              <a:rPr lang="en-US" sz="1000" b="1" spc="125" kern="0" dirty="0">
                <a:solidFill>
                  <a:srgbClr val="2F7253"/>
                </a:solidFill>
                <a:latin typeface="Aptos" pitchFamily="34" charset="0"/>
                <a:ea typeface="Aptos" pitchFamily="34" charset="-122"/>
                <a:cs typeface="Aptos" pitchFamily="34" charset="-120"/>
              </a:rPr>
              <a:t>06  /  CROSS-CUTTING ANALYSIS</a:t>
            </a:r>
            <a:endParaRPr lang="en-US" sz="1000" dirty="0"/>
          </a:p>
        </p:txBody>
      </p:sp>
      <p:sp>
        <p:nvSpPr>
          <p:cNvPr id="3" name="Text 1"/>
          <p:cNvSpPr txBox="1"/>
          <p:nvPr/>
        </p:nvSpPr>
        <p:spPr>
          <a:xfrm>
            <a:off x="594360" y="612648"/>
            <a:ext cx="11018520" cy="457200"/>
          </a:xfrm>
          <a:prstGeom prst="rect">
            <a:avLst/>
          </a:prstGeom>
          <a:noFill/>
          <a:ln/>
        </p:spPr>
        <p:txBody>
          <a:bodyPr wrap="square" lIns="0" tIns="0" rIns="0" bIns="0" rtlCol="0" anchor="ctr">
            <a:normAutofit/>
          </a:bodyPr>
          <a:lstStyle/>
          <a:p>
            <a:pPr algn="l" indent="0" marL="0">
              <a:buNone/>
            </a:pPr>
            <a:r>
              <a:rPr lang="en-US" sz="2600" b="1" dirty="0">
                <a:solidFill>
                  <a:srgbClr val="163B2E"/>
                </a:solidFill>
                <a:latin typeface="Aptos Display" pitchFamily="34" charset="0"/>
                <a:ea typeface="Aptos Display" pitchFamily="34" charset="-122"/>
                <a:cs typeface="Aptos Display" pitchFamily="34" charset="-120"/>
              </a:rPr>
              <a:t>Model choice depends on the task—not a universal winner</a:t>
            </a:r>
            <a:endParaRPr lang="en-US" sz="2600" dirty="0"/>
          </a:p>
        </p:txBody>
      </p:sp>
      <p:sp>
        <p:nvSpPr>
          <p:cNvPr id="4" name="Text 2"/>
          <p:cNvSpPr txBox="1"/>
          <p:nvPr/>
        </p:nvSpPr>
        <p:spPr>
          <a:xfrm>
            <a:off x="612648" y="1115568"/>
            <a:ext cx="10927080" cy="301752"/>
          </a:xfrm>
          <a:prstGeom prst="rect">
            <a:avLst/>
          </a:prstGeom>
          <a:noFill/>
          <a:ln/>
        </p:spPr>
        <p:txBody>
          <a:bodyPr wrap="square" lIns="0" tIns="0" rIns="0" bIns="0" rtlCol="0" anchor="ctr">
            <a:normAutofit/>
          </a:bodyPr>
          <a:lstStyle/>
          <a:p>
            <a:pPr algn="l" indent="0" marL="0">
              <a:buNone/>
            </a:pPr>
            <a:r>
              <a:rPr lang="en-US" sz="1250" dirty="0">
                <a:solidFill>
                  <a:srgbClr val="617065"/>
                </a:solidFill>
                <a:latin typeface="Aptos" pitchFamily="34" charset="0"/>
                <a:ea typeface="Aptos" pitchFamily="34" charset="-122"/>
                <a:cs typeface="Aptos" pitchFamily="34" charset="-120"/>
              </a:rPr>
              <a:t>The strongest comparisons hold the data, evaluation protocol, and decision context in view.</a:t>
            </a:r>
            <a:endParaRPr lang="en-US" sz="1250" dirty="0"/>
          </a:p>
        </p:txBody>
      </p:sp>
      <p:sp>
        <p:nvSpPr>
          <p:cNvPr id="5" name="Shape 3"/>
          <p:cNvSpPr/>
          <p:nvPr/>
        </p:nvSpPr>
        <p:spPr>
          <a:xfrm>
            <a:off x="621792" y="1783080"/>
            <a:ext cx="10954512" cy="438912"/>
          </a:xfrm>
          <a:prstGeom prst="rect">
            <a:avLst>
              <a:gd name="adj" fmla="val 25000"/>
            </a:avLst>
          </a:prstGeom>
          <a:solidFill>
            <a:srgbClr val="163B2E"/>
          </a:solidFill>
          <a:ln w="1270">
            <a:solidFill>
              <a:srgbClr val="163B2E"/>
            </a:solidFill>
            <a:prstDash val="solid"/>
          </a:ln>
        </p:spPr>
      </p:sp>
      <p:sp>
        <p:nvSpPr>
          <p:cNvPr id="6" name="Text 4"/>
          <p:cNvSpPr txBox="1"/>
          <p:nvPr/>
        </p:nvSpPr>
        <p:spPr>
          <a:xfrm>
            <a:off x="731520" y="1901952"/>
            <a:ext cx="1874520" cy="173736"/>
          </a:xfrm>
          <a:prstGeom prst="rect">
            <a:avLst/>
          </a:prstGeom>
          <a:noFill/>
          <a:ln/>
        </p:spPr>
        <p:txBody>
          <a:bodyPr wrap="square" lIns="0" tIns="0" rIns="0" bIns="0" rtlCol="0" anchor="ctr">
            <a:normAutofit/>
          </a:bodyPr>
          <a:lstStyle/>
          <a:p>
            <a:pPr algn="l" indent="0" marL="0">
              <a:buNone/>
            </a:pPr>
            <a:r>
              <a:rPr lang="en-US" sz="920" b="1" spc="40" kern="0" dirty="0">
                <a:solidFill>
                  <a:srgbClr val="FFFFFF"/>
                </a:solidFill>
                <a:latin typeface="Aptos" pitchFamily="34" charset="0"/>
                <a:ea typeface="Aptos" pitchFamily="34" charset="-122"/>
                <a:cs typeface="Aptos" pitchFamily="34" charset="-120"/>
              </a:rPr>
              <a:t>FOCUS AREA</a:t>
            </a:r>
            <a:endParaRPr lang="en-US" sz="920" dirty="0"/>
          </a:p>
        </p:txBody>
      </p:sp>
      <p:sp>
        <p:nvSpPr>
          <p:cNvPr id="7" name="Text 5"/>
          <p:cNvSpPr txBox="1"/>
          <p:nvPr/>
        </p:nvSpPr>
        <p:spPr>
          <a:xfrm>
            <a:off x="2788920" y="1901952"/>
            <a:ext cx="2331720" cy="173736"/>
          </a:xfrm>
          <a:prstGeom prst="rect">
            <a:avLst/>
          </a:prstGeom>
          <a:noFill/>
          <a:ln/>
        </p:spPr>
        <p:txBody>
          <a:bodyPr wrap="square" lIns="0" tIns="0" rIns="0" bIns="0" rtlCol="0" anchor="ctr">
            <a:normAutofit/>
          </a:bodyPr>
          <a:lstStyle/>
          <a:p>
            <a:pPr algn="l" indent="0" marL="0">
              <a:buNone/>
            </a:pPr>
            <a:r>
              <a:rPr lang="en-US" sz="920" b="1" spc="40" kern="0" dirty="0">
                <a:solidFill>
                  <a:srgbClr val="FFFFFF"/>
                </a:solidFill>
                <a:latin typeface="Aptos" pitchFamily="34" charset="0"/>
                <a:ea typeface="Aptos" pitchFamily="34" charset="-122"/>
                <a:cs typeface="Aptos" pitchFamily="34" charset="-120"/>
              </a:rPr>
              <a:t>MODEL FAMILIES</a:t>
            </a:r>
            <a:endParaRPr lang="en-US" sz="920" dirty="0"/>
          </a:p>
        </p:txBody>
      </p:sp>
      <p:sp>
        <p:nvSpPr>
          <p:cNvPr id="8" name="Text 6"/>
          <p:cNvSpPr txBox="1"/>
          <p:nvPr/>
        </p:nvSpPr>
        <p:spPr>
          <a:xfrm>
            <a:off x="5303520" y="1901952"/>
            <a:ext cx="2743200" cy="173736"/>
          </a:xfrm>
          <a:prstGeom prst="rect">
            <a:avLst/>
          </a:prstGeom>
          <a:noFill/>
          <a:ln/>
        </p:spPr>
        <p:txBody>
          <a:bodyPr wrap="square" lIns="0" tIns="0" rIns="0" bIns="0" rtlCol="0" anchor="ctr">
            <a:normAutofit/>
          </a:bodyPr>
          <a:lstStyle/>
          <a:p>
            <a:pPr algn="l" indent="0" marL="0">
              <a:buNone/>
            </a:pPr>
            <a:r>
              <a:rPr lang="en-US" sz="920" b="1" spc="40" kern="0" dirty="0">
                <a:solidFill>
                  <a:srgbClr val="FFFFFF"/>
                </a:solidFill>
                <a:latin typeface="Aptos" pitchFamily="34" charset="0"/>
                <a:ea typeface="Aptos" pitchFamily="34" charset="-122"/>
                <a:cs typeface="Aptos" pitchFamily="34" charset="-120"/>
              </a:rPr>
              <a:t>EVALUATION QUESTION</a:t>
            </a:r>
            <a:endParaRPr lang="en-US" sz="920" dirty="0"/>
          </a:p>
        </p:txBody>
      </p:sp>
      <p:sp>
        <p:nvSpPr>
          <p:cNvPr id="9" name="Text 7"/>
          <p:cNvSpPr txBox="1"/>
          <p:nvPr/>
        </p:nvSpPr>
        <p:spPr>
          <a:xfrm>
            <a:off x="8229600" y="1901952"/>
            <a:ext cx="3246120" cy="173736"/>
          </a:xfrm>
          <a:prstGeom prst="rect">
            <a:avLst/>
          </a:prstGeom>
          <a:noFill/>
          <a:ln/>
        </p:spPr>
        <p:txBody>
          <a:bodyPr wrap="square" lIns="0" tIns="0" rIns="0" bIns="0" rtlCol="0" anchor="ctr">
            <a:normAutofit/>
          </a:bodyPr>
          <a:lstStyle/>
          <a:p>
            <a:pPr algn="l" indent="0" marL="0">
              <a:buNone/>
            </a:pPr>
            <a:r>
              <a:rPr lang="en-US" sz="920" b="1" spc="40" kern="0" dirty="0">
                <a:solidFill>
                  <a:srgbClr val="FFFFFF"/>
                </a:solidFill>
                <a:latin typeface="Aptos" pitchFamily="34" charset="0"/>
                <a:ea typeface="Aptos" pitchFamily="34" charset="-122"/>
                <a:cs typeface="Aptos" pitchFamily="34" charset="-120"/>
              </a:rPr>
              <a:t>DEPLOYMENT RISK TO TEST</a:t>
            </a:r>
            <a:endParaRPr lang="en-US" sz="920" dirty="0"/>
          </a:p>
        </p:txBody>
      </p:sp>
      <p:sp>
        <p:nvSpPr>
          <p:cNvPr id="10" name="Shape 8"/>
          <p:cNvSpPr/>
          <p:nvPr/>
        </p:nvSpPr>
        <p:spPr>
          <a:xfrm>
            <a:off x="621792" y="2221992"/>
            <a:ext cx="10954512" cy="722376"/>
          </a:xfrm>
          <a:prstGeom prst="rect">
            <a:avLst>
              <a:gd name="adj" fmla="val 15190"/>
            </a:avLst>
          </a:prstGeom>
          <a:solidFill>
            <a:srgbClr val="FFFFFF"/>
          </a:solidFill>
          <a:ln w="4445">
            <a:solidFill>
              <a:srgbClr val="DCE3D9"/>
            </a:solidFill>
            <a:prstDash val="solid"/>
          </a:ln>
        </p:spPr>
      </p:sp>
      <p:sp>
        <p:nvSpPr>
          <p:cNvPr id="11" name="Text 9"/>
          <p:cNvSpPr txBox="1"/>
          <p:nvPr/>
        </p:nvSpPr>
        <p:spPr>
          <a:xfrm>
            <a:off x="731520" y="2313432"/>
            <a:ext cx="1856232" cy="539496"/>
          </a:xfrm>
          <a:prstGeom prst="rect">
            <a:avLst/>
          </a:prstGeom>
          <a:noFill/>
          <a:ln/>
        </p:spPr>
        <p:txBody>
          <a:bodyPr wrap="square" lIns="0" tIns="0" rIns="0" bIns="0" rtlCol="0" anchor="ctr">
            <a:normAutofit/>
          </a:bodyPr>
          <a:lstStyle/>
          <a:p>
            <a:pPr algn="l" indent="0" marL="0">
              <a:buNone/>
            </a:pPr>
            <a:r>
              <a:rPr lang="en-US" sz="1010" b="1" dirty="0">
                <a:solidFill>
                  <a:srgbClr val="163B2E"/>
                </a:solidFill>
                <a:latin typeface="Aptos" pitchFamily="34" charset="0"/>
                <a:ea typeface="Aptos" pitchFamily="34" charset="-122"/>
                <a:cs typeface="Aptos" pitchFamily="34" charset="-120"/>
              </a:rPr>
              <a:t>Data &amp; architecture</a:t>
            </a:r>
            <a:endParaRPr lang="en-US" sz="1010" dirty="0"/>
          </a:p>
        </p:txBody>
      </p:sp>
      <p:sp>
        <p:nvSpPr>
          <p:cNvPr id="12" name="Text 10"/>
          <p:cNvSpPr txBox="1"/>
          <p:nvPr/>
        </p:nvSpPr>
        <p:spPr>
          <a:xfrm>
            <a:off x="2788920" y="2313432"/>
            <a:ext cx="2313432" cy="539496"/>
          </a:xfrm>
          <a:prstGeom prst="rect">
            <a:avLst/>
          </a:prstGeom>
          <a:noFill/>
          <a:ln/>
        </p:spPr>
        <p:txBody>
          <a:bodyPr wrap="square" lIns="0" tIns="0" rIns="0" bIns="0" rtlCol="0" anchor="ctr">
            <a:normAutofit/>
          </a:bodyPr>
          <a:lstStyle/>
          <a:p>
            <a:pPr algn="l" indent="0" marL="0">
              <a:buNone/>
            </a:pPr>
            <a:r>
              <a:rPr lang="en-US" sz="980" dirty="0">
                <a:solidFill>
                  <a:srgbClr val="17251E"/>
                </a:solidFill>
                <a:latin typeface="Aptos" pitchFamily="34" charset="0"/>
                <a:ea typeface="Aptos" pitchFamily="34" charset="-122"/>
                <a:cs typeface="Aptos" pitchFamily="34" charset="-120"/>
              </a:rPr>
              <a:t>IoT + edge/cloud; digital twins</a:t>
            </a:r>
            <a:endParaRPr lang="en-US" sz="980" dirty="0"/>
          </a:p>
        </p:txBody>
      </p:sp>
      <p:sp>
        <p:nvSpPr>
          <p:cNvPr id="13" name="Text 11"/>
          <p:cNvSpPr txBox="1"/>
          <p:nvPr/>
        </p:nvSpPr>
        <p:spPr>
          <a:xfrm>
            <a:off x="5303520" y="2313432"/>
            <a:ext cx="2724912" cy="539496"/>
          </a:xfrm>
          <a:prstGeom prst="rect">
            <a:avLst/>
          </a:prstGeom>
          <a:noFill/>
          <a:ln/>
        </p:spPr>
        <p:txBody>
          <a:bodyPr wrap="square" lIns="0" tIns="0" rIns="0" bIns="0" rtlCol="0" anchor="ctr">
            <a:normAutofit/>
          </a:bodyPr>
          <a:lstStyle/>
          <a:p>
            <a:pPr algn="l" indent="0" marL="0">
              <a:buNone/>
            </a:pPr>
            <a:r>
              <a:rPr lang="en-US" sz="980" dirty="0">
                <a:solidFill>
                  <a:srgbClr val="17251E"/>
                </a:solidFill>
                <a:latin typeface="Aptos" pitchFamily="34" charset="0"/>
                <a:ea typeface="Aptos" pitchFamily="34" charset="-122"/>
                <a:cs typeface="Aptos" pitchFamily="34" charset="-120"/>
              </a:rPr>
              <a:t>Missingness, latency, data provenance</a:t>
            </a:r>
            <a:endParaRPr lang="en-US" sz="980" dirty="0"/>
          </a:p>
        </p:txBody>
      </p:sp>
      <p:sp>
        <p:nvSpPr>
          <p:cNvPr id="14" name="Text 12"/>
          <p:cNvSpPr txBox="1"/>
          <p:nvPr/>
        </p:nvSpPr>
        <p:spPr>
          <a:xfrm>
            <a:off x="8229600" y="2313432"/>
            <a:ext cx="3227832" cy="539496"/>
          </a:xfrm>
          <a:prstGeom prst="rect">
            <a:avLst/>
          </a:prstGeom>
          <a:noFill/>
          <a:ln/>
        </p:spPr>
        <p:txBody>
          <a:bodyPr wrap="square" lIns="0" tIns="0" rIns="0" bIns="0" rtlCol="0" anchor="ctr">
            <a:normAutofit/>
          </a:bodyPr>
          <a:lstStyle/>
          <a:p>
            <a:pPr algn="l" indent="0" marL="0">
              <a:buNone/>
            </a:pPr>
            <a:r>
              <a:rPr lang="en-US" sz="980" dirty="0">
                <a:solidFill>
                  <a:srgbClr val="17251E"/>
                </a:solidFill>
                <a:latin typeface="Aptos" pitchFamily="34" charset="0"/>
                <a:ea typeface="Aptos" pitchFamily="34" charset="-122"/>
                <a:cs typeface="Aptos" pitchFamily="34" charset="-120"/>
              </a:rPr>
              <a:t>Can the pipeline survive outages and sensor drift?</a:t>
            </a:r>
            <a:endParaRPr lang="en-US" sz="980" dirty="0"/>
          </a:p>
        </p:txBody>
      </p:sp>
      <p:sp>
        <p:nvSpPr>
          <p:cNvPr id="15" name="Shape 13"/>
          <p:cNvSpPr/>
          <p:nvPr/>
        </p:nvSpPr>
        <p:spPr>
          <a:xfrm>
            <a:off x="621792" y="2944368"/>
            <a:ext cx="10954512" cy="722376"/>
          </a:xfrm>
          <a:prstGeom prst="rect">
            <a:avLst>
              <a:gd name="adj" fmla="val 15190"/>
            </a:avLst>
          </a:prstGeom>
          <a:solidFill>
            <a:srgbClr val="EEF2E9"/>
          </a:solidFill>
          <a:ln w="4445">
            <a:solidFill>
              <a:srgbClr val="DCE3D9"/>
            </a:solidFill>
            <a:prstDash val="solid"/>
          </a:ln>
        </p:spPr>
      </p:sp>
      <p:sp>
        <p:nvSpPr>
          <p:cNvPr id="16" name="Text 14"/>
          <p:cNvSpPr txBox="1"/>
          <p:nvPr/>
        </p:nvSpPr>
        <p:spPr>
          <a:xfrm>
            <a:off x="731520" y="3035808"/>
            <a:ext cx="1856232" cy="539496"/>
          </a:xfrm>
          <a:prstGeom prst="rect">
            <a:avLst/>
          </a:prstGeom>
          <a:noFill/>
          <a:ln/>
        </p:spPr>
        <p:txBody>
          <a:bodyPr wrap="square" lIns="0" tIns="0" rIns="0" bIns="0" rtlCol="0" anchor="ctr">
            <a:normAutofit/>
          </a:bodyPr>
          <a:lstStyle/>
          <a:p>
            <a:pPr algn="l" indent="0" marL="0">
              <a:buNone/>
            </a:pPr>
            <a:r>
              <a:rPr lang="en-US" sz="1010" b="1" dirty="0">
                <a:solidFill>
                  <a:srgbClr val="163B2E"/>
                </a:solidFill>
                <a:latin typeface="Aptos" pitchFamily="34" charset="0"/>
                <a:ea typeface="Aptos" pitchFamily="34" charset="-122"/>
                <a:cs typeface="Aptos" pitchFamily="34" charset="-120"/>
              </a:rPr>
              <a:t>Production prediction</a:t>
            </a:r>
            <a:endParaRPr lang="en-US" sz="1010" dirty="0"/>
          </a:p>
        </p:txBody>
      </p:sp>
      <p:sp>
        <p:nvSpPr>
          <p:cNvPr id="17" name="Text 15"/>
          <p:cNvSpPr txBox="1"/>
          <p:nvPr/>
        </p:nvSpPr>
        <p:spPr>
          <a:xfrm>
            <a:off x="2788920" y="3035808"/>
            <a:ext cx="2313432" cy="539496"/>
          </a:xfrm>
          <a:prstGeom prst="rect">
            <a:avLst/>
          </a:prstGeom>
          <a:noFill/>
          <a:ln/>
        </p:spPr>
        <p:txBody>
          <a:bodyPr wrap="square" lIns="0" tIns="0" rIns="0" bIns="0" rtlCol="0" anchor="ctr">
            <a:normAutofit/>
          </a:bodyPr>
          <a:lstStyle/>
          <a:p>
            <a:pPr algn="l" indent="0" marL="0">
              <a:buNone/>
            </a:pPr>
            <a:r>
              <a:rPr lang="en-US" sz="980" dirty="0">
                <a:solidFill>
                  <a:srgbClr val="17251E"/>
                </a:solidFill>
                <a:latin typeface="Aptos" pitchFamily="34" charset="0"/>
                <a:ea typeface="Aptos" pitchFamily="34" charset="-122"/>
                <a:cs typeface="Aptos" pitchFamily="34" charset="-120"/>
              </a:rPr>
              <a:t>Regression; Random Forest; DL</a:t>
            </a:r>
            <a:endParaRPr lang="en-US" sz="980" dirty="0"/>
          </a:p>
        </p:txBody>
      </p:sp>
      <p:sp>
        <p:nvSpPr>
          <p:cNvPr id="18" name="Text 16"/>
          <p:cNvSpPr txBox="1"/>
          <p:nvPr/>
        </p:nvSpPr>
        <p:spPr>
          <a:xfrm>
            <a:off x="5303520" y="3035808"/>
            <a:ext cx="2724912" cy="539496"/>
          </a:xfrm>
          <a:prstGeom prst="rect">
            <a:avLst/>
          </a:prstGeom>
          <a:noFill/>
          <a:ln/>
        </p:spPr>
        <p:txBody>
          <a:bodyPr wrap="square" lIns="0" tIns="0" rIns="0" bIns="0" rtlCol="0" anchor="ctr">
            <a:normAutofit/>
          </a:bodyPr>
          <a:lstStyle/>
          <a:p>
            <a:pPr algn="l" indent="0" marL="0">
              <a:buNone/>
            </a:pPr>
            <a:r>
              <a:rPr lang="en-US" sz="980" dirty="0">
                <a:solidFill>
                  <a:srgbClr val="17251E"/>
                </a:solidFill>
                <a:latin typeface="Aptos" pitchFamily="34" charset="0"/>
                <a:ea typeface="Aptos" pitchFamily="34" charset="-122"/>
                <a:cs typeface="Aptos" pitchFamily="34" charset="-120"/>
              </a:rPr>
              <a:t>RMSE, MAE, R²; uncertainty by farm/season</a:t>
            </a:r>
            <a:endParaRPr lang="en-US" sz="980" dirty="0"/>
          </a:p>
        </p:txBody>
      </p:sp>
      <p:sp>
        <p:nvSpPr>
          <p:cNvPr id="19" name="Text 17"/>
          <p:cNvSpPr txBox="1"/>
          <p:nvPr/>
        </p:nvSpPr>
        <p:spPr>
          <a:xfrm>
            <a:off x="8229600" y="3035808"/>
            <a:ext cx="3227832" cy="539496"/>
          </a:xfrm>
          <a:prstGeom prst="rect">
            <a:avLst/>
          </a:prstGeom>
          <a:noFill/>
          <a:ln/>
        </p:spPr>
        <p:txBody>
          <a:bodyPr wrap="square" lIns="0" tIns="0" rIns="0" bIns="0" rtlCol="0" anchor="ctr">
            <a:normAutofit/>
          </a:bodyPr>
          <a:lstStyle/>
          <a:p>
            <a:pPr algn="l" indent="0" marL="0">
              <a:buNone/>
            </a:pPr>
            <a:r>
              <a:rPr lang="en-US" sz="980" dirty="0">
                <a:solidFill>
                  <a:srgbClr val="17251E"/>
                </a:solidFill>
                <a:latin typeface="Aptos" pitchFamily="34" charset="0"/>
                <a:ea typeface="Aptos" pitchFamily="34" charset="-122"/>
                <a:cs typeface="Aptos" pitchFamily="34" charset="-120"/>
              </a:rPr>
              <a:t>Will the forecast transfer beyond training conditions?</a:t>
            </a:r>
            <a:endParaRPr lang="en-US" sz="980" dirty="0"/>
          </a:p>
        </p:txBody>
      </p:sp>
      <p:sp>
        <p:nvSpPr>
          <p:cNvPr id="20" name="Shape 18"/>
          <p:cNvSpPr/>
          <p:nvPr/>
        </p:nvSpPr>
        <p:spPr>
          <a:xfrm>
            <a:off x="621792" y="3666744"/>
            <a:ext cx="10954512" cy="722376"/>
          </a:xfrm>
          <a:prstGeom prst="rect">
            <a:avLst>
              <a:gd name="adj" fmla="val 15190"/>
            </a:avLst>
          </a:prstGeom>
          <a:solidFill>
            <a:srgbClr val="FFFFFF"/>
          </a:solidFill>
          <a:ln w="4445">
            <a:solidFill>
              <a:srgbClr val="DCE3D9"/>
            </a:solidFill>
            <a:prstDash val="solid"/>
          </a:ln>
        </p:spPr>
      </p:sp>
      <p:sp>
        <p:nvSpPr>
          <p:cNvPr id="21" name="Text 19"/>
          <p:cNvSpPr txBox="1"/>
          <p:nvPr/>
        </p:nvSpPr>
        <p:spPr>
          <a:xfrm>
            <a:off x="731520" y="3758184"/>
            <a:ext cx="1856232" cy="539496"/>
          </a:xfrm>
          <a:prstGeom prst="rect">
            <a:avLst/>
          </a:prstGeom>
          <a:noFill/>
          <a:ln/>
        </p:spPr>
        <p:txBody>
          <a:bodyPr wrap="square" lIns="0" tIns="0" rIns="0" bIns="0" rtlCol="0" anchor="ctr">
            <a:normAutofit/>
          </a:bodyPr>
          <a:lstStyle/>
          <a:p>
            <a:pPr algn="l" indent="0" marL="0">
              <a:buNone/>
            </a:pPr>
            <a:r>
              <a:rPr lang="en-US" sz="1010" b="1" dirty="0">
                <a:solidFill>
                  <a:srgbClr val="163B2E"/>
                </a:solidFill>
                <a:latin typeface="Aptos" pitchFamily="34" charset="0"/>
                <a:ea typeface="Aptos" pitchFamily="34" charset="-122"/>
                <a:cs typeface="Aptos" pitchFamily="34" charset="-120"/>
              </a:rPr>
              <a:t>Monitoring &amp; detection</a:t>
            </a:r>
            <a:endParaRPr lang="en-US" sz="1010" dirty="0"/>
          </a:p>
        </p:txBody>
      </p:sp>
      <p:sp>
        <p:nvSpPr>
          <p:cNvPr id="22" name="Text 20"/>
          <p:cNvSpPr txBox="1"/>
          <p:nvPr/>
        </p:nvSpPr>
        <p:spPr>
          <a:xfrm>
            <a:off x="2788920" y="3758184"/>
            <a:ext cx="2313432" cy="539496"/>
          </a:xfrm>
          <a:prstGeom prst="rect">
            <a:avLst/>
          </a:prstGeom>
          <a:noFill/>
          <a:ln/>
        </p:spPr>
        <p:txBody>
          <a:bodyPr wrap="square" lIns="0" tIns="0" rIns="0" bIns="0" rtlCol="0" anchor="ctr">
            <a:normAutofit/>
          </a:bodyPr>
          <a:lstStyle/>
          <a:p>
            <a:pPr algn="l" indent="0" marL="0">
              <a:buNone/>
            </a:pPr>
            <a:r>
              <a:rPr lang="en-US" sz="980" dirty="0">
                <a:solidFill>
                  <a:srgbClr val="17251E"/>
                </a:solidFill>
                <a:latin typeface="Aptos" pitchFamily="34" charset="0"/>
                <a:ea typeface="Aptos" pitchFamily="34" charset="-122"/>
                <a:cs typeface="Aptos" pitchFamily="34" charset="-120"/>
              </a:rPr>
              <a:t>CNNs; object detection; segmentation</a:t>
            </a:r>
            <a:endParaRPr lang="en-US" sz="980" dirty="0"/>
          </a:p>
        </p:txBody>
      </p:sp>
      <p:sp>
        <p:nvSpPr>
          <p:cNvPr id="23" name="Text 21"/>
          <p:cNvSpPr txBox="1"/>
          <p:nvPr/>
        </p:nvSpPr>
        <p:spPr>
          <a:xfrm>
            <a:off x="5303520" y="3758184"/>
            <a:ext cx="2724912" cy="539496"/>
          </a:xfrm>
          <a:prstGeom prst="rect">
            <a:avLst/>
          </a:prstGeom>
          <a:noFill/>
          <a:ln/>
        </p:spPr>
        <p:txBody>
          <a:bodyPr wrap="square" lIns="0" tIns="0" rIns="0" bIns="0" rtlCol="0" anchor="ctr">
            <a:normAutofit/>
          </a:bodyPr>
          <a:lstStyle/>
          <a:p>
            <a:pPr algn="l" indent="0" marL="0">
              <a:buNone/>
            </a:pPr>
            <a:r>
              <a:rPr lang="en-US" sz="980" dirty="0">
                <a:solidFill>
                  <a:srgbClr val="17251E"/>
                </a:solidFill>
                <a:latin typeface="Aptos" pitchFamily="34" charset="0"/>
                <a:ea typeface="Aptos" pitchFamily="34" charset="-122"/>
                <a:cs typeface="Aptos" pitchFamily="34" charset="-120"/>
              </a:rPr>
              <a:t>Accuracy, mAP, mIoU, precision/recall</a:t>
            </a:r>
            <a:endParaRPr lang="en-US" sz="980" dirty="0"/>
          </a:p>
        </p:txBody>
      </p:sp>
      <p:sp>
        <p:nvSpPr>
          <p:cNvPr id="24" name="Text 22"/>
          <p:cNvSpPr txBox="1"/>
          <p:nvPr/>
        </p:nvSpPr>
        <p:spPr>
          <a:xfrm>
            <a:off x="8229600" y="3758184"/>
            <a:ext cx="3227832" cy="539496"/>
          </a:xfrm>
          <a:prstGeom prst="rect">
            <a:avLst/>
          </a:prstGeom>
          <a:noFill/>
          <a:ln/>
        </p:spPr>
        <p:txBody>
          <a:bodyPr wrap="square" lIns="0" tIns="0" rIns="0" bIns="0" rtlCol="0" anchor="ctr">
            <a:normAutofit/>
          </a:bodyPr>
          <a:lstStyle/>
          <a:p>
            <a:pPr algn="l" indent="0" marL="0">
              <a:buNone/>
            </a:pPr>
            <a:r>
              <a:rPr lang="en-US" sz="980" dirty="0">
                <a:solidFill>
                  <a:srgbClr val="17251E"/>
                </a:solidFill>
                <a:latin typeface="Aptos" pitchFamily="34" charset="0"/>
                <a:ea typeface="Aptos" pitchFamily="34" charset="-122"/>
                <a:cs typeface="Aptos" pitchFamily="34" charset="-120"/>
              </a:rPr>
              <a:t>Are test images representative of field use?</a:t>
            </a:r>
            <a:endParaRPr lang="en-US" sz="980" dirty="0"/>
          </a:p>
        </p:txBody>
      </p:sp>
      <p:sp>
        <p:nvSpPr>
          <p:cNvPr id="25" name="Shape 23"/>
          <p:cNvSpPr/>
          <p:nvPr/>
        </p:nvSpPr>
        <p:spPr>
          <a:xfrm>
            <a:off x="621792" y="4389120"/>
            <a:ext cx="10954512" cy="722376"/>
          </a:xfrm>
          <a:prstGeom prst="rect">
            <a:avLst>
              <a:gd name="adj" fmla="val 15190"/>
            </a:avLst>
          </a:prstGeom>
          <a:solidFill>
            <a:srgbClr val="EEF2E9"/>
          </a:solidFill>
          <a:ln w="4445">
            <a:solidFill>
              <a:srgbClr val="DCE3D9"/>
            </a:solidFill>
            <a:prstDash val="solid"/>
          </a:ln>
        </p:spPr>
      </p:sp>
      <p:sp>
        <p:nvSpPr>
          <p:cNvPr id="26" name="Text 24"/>
          <p:cNvSpPr txBox="1"/>
          <p:nvPr/>
        </p:nvSpPr>
        <p:spPr>
          <a:xfrm>
            <a:off x="731520" y="4480560"/>
            <a:ext cx="1856232" cy="539496"/>
          </a:xfrm>
          <a:prstGeom prst="rect">
            <a:avLst/>
          </a:prstGeom>
          <a:noFill/>
          <a:ln/>
        </p:spPr>
        <p:txBody>
          <a:bodyPr wrap="square" lIns="0" tIns="0" rIns="0" bIns="0" rtlCol="0" anchor="ctr">
            <a:normAutofit/>
          </a:bodyPr>
          <a:lstStyle/>
          <a:p>
            <a:pPr algn="l" indent="0" marL="0">
              <a:buNone/>
            </a:pPr>
            <a:r>
              <a:rPr lang="en-US" sz="1010" b="1" dirty="0">
                <a:solidFill>
                  <a:srgbClr val="163B2E"/>
                </a:solidFill>
                <a:latin typeface="Aptos" pitchFamily="34" charset="0"/>
                <a:ea typeface="Aptos" pitchFamily="34" charset="-122"/>
                <a:cs typeface="Aptos" pitchFamily="34" charset="-120"/>
              </a:rPr>
              <a:t>Resource optimisation</a:t>
            </a:r>
            <a:endParaRPr lang="en-US" sz="1010" dirty="0"/>
          </a:p>
        </p:txBody>
      </p:sp>
      <p:sp>
        <p:nvSpPr>
          <p:cNvPr id="27" name="Text 25"/>
          <p:cNvSpPr txBox="1"/>
          <p:nvPr/>
        </p:nvSpPr>
        <p:spPr>
          <a:xfrm>
            <a:off x="2788920" y="4480560"/>
            <a:ext cx="2313432" cy="539496"/>
          </a:xfrm>
          <a:prstGeom prst="rect">
            <a:avLst/>
          </a:prstGeom>
          <a:noFill/>
          <a:ln/>
        </p:spPr>
        <p:txBody>
          <a:bodyPr wrap="square" lIns="0" tIns="0" rIns="0" bIns="0" rtlCol="0" anchor="ctr">
            <a:normAutofit/>
          </a:bodyPr>
          <a:lstStyle/>
          <a:p>
            <a:pPr algn="l" indent="0" marL="0">
              <a:buNone/>
            </a:pPr>
            <a:r>
              <a:rPr lang="en-US" sz="980" dirty="0">
                <a:solidFill>
                  <a:srgbClr val="17251E"/>
                </a:solidFill>
                <a:latin typeface="Aptos" pitchFamily="34" charset="0"/>
                <a:ea typeface="Aptos" pitchFamily="34" charset="-122"/>
                <a:cs typeface="Aptos" pitchFamily="34" charset="-120"/>
              </a:rPr>
              <a:t>Optimisation; reinforcement learning</a:t>
            </a:r>
            <a:endParaRPr lang="en-US" sz="980" dirty="0"/>
          </a:p>
        </p:txBody>
      </p:sp>
      <p:sp>
        <p:nvSpPr>
          <p:cNvPr id="28" name="Text 26"/>
          <p:cNvSpPr txBox="1"/>
          <p:nvPr/>
        </p:nvSpPr>
        <p:spPr>
          <a:xfrm>
            <a:off x="5303520" y="4480560"/>
            <a:ext cx="2724912" cy="539496"/>
          </a:xfrm>
          <a:prstGeom prst="rect">
            <a:avLst/>
          </a:prstGeom>
          <a:noFill/>
          <a:ln/>
        </p:spPr>
        <p:txBody>
          <a:bodyPr wrap="square" lIns="0" tIns="0" rIns="0" bIns="0" rtlCol="0" anchor="ctr">
            <a:normAutofit/>
          </a:bodyPr>
          <a:lstStyle/>
          <a:p>
            <a:pPr algn="l" indent="0" marL="0">
              <a:buNone/>
            </a:pPr>
            <a:r>
              <a:rPr lang="en-US" sz="980" dirty="0">
                <a:solidFill>
                  <a:srgbClr val="17251E"/>
                </a:solidFill>
                <a:latin typeface="Aptos" pitchFamily="34" charset="0"/>
                <a:ea typeface="Aptos" pitchFamily="34" charset="-122"/>
                <a:cs typeface="Aptos" pitchFamily="34" charset="-120"/>
              </a:rPr>
              <a:t>Water, energy, cost, yield and constraints</a:t>
            </a:r>
            <a:endParaRPr lang="en-US" sz="980" dirty="0"/>
          </a:p>
        </p:txBody>
      </p:sp>
      <p:sp>
        <p:nvSpPr>
          <p:cNvPr id="29" name="Text 27"/>
          <p:cNvSpPr txBox="1"/>
          <p:nvPr/>
        </p:nvSpPr>
        <p:spPr>
          <a:xfrm>
            <a:off x="8229600" y="4480560"/>
            <a:ext cx="3227832" cy="539496"/>
          </a:xfrm>
          <a:prstGeom prst="rect">
            <a:avLst/>
          </a:prstGeom>
          <a:noFill/>
          <a:ln/>
        </p:spPr>
        <p:txBody>
          <a:bodyPr wrap="square" lIns="0" tIns="0" rIns="0" bIns="0" rtlCol="0" anchor="ctr">
            <a:normAutofit/>
          </a:bodyPr>
          <a:lstStyle/>
          <a:p>
            <a:pPr algn="l" indent="0" marL="0">
              <a:buNone/>
            </a:pPr>
            <a:r>
              <a:rPr lang="en-US" sz="980" dirty="0">
                <a:solidFill>
                  <a:srgbClr val="17251E"/>
                </a:solidFill>
                <a:latin typeface="Aptos" pitchFamily="34" charset="0"/>
                <a:ea typeface="Aptos" pitchFamily="34" charset="-122"/>
                <a:cs typeface="Aptos" pitchFamily="34" charset="-120"/>
              </a:rPr>
              <a:t>Is the result safe outside simulation?</a:t>
            </a:r>
            <a:endParaRPr lang="en-US" sz="980" dirty="0"/>
          </a:p>
        </p:txBody>
      </p:sp>
      <p:sp>
        <p:nvSpPr>
          <p:cNvPr id="30" name="Shape 28"/>
          <p:cNvSpPr/>
          <p:nvPr/>
        </p:nvSpPr>
        <p:spPr>
          <a:xfrm>
            <a:off x="621792" y="5111496"/>
            <a:ext cx="10954512" cy="722376"/>
          </a:xfrm>
          <a:prstGeom prst="rect">
            <a:avLst>
              <a:gd name="adj" fmla="val 15190"/>
            </a:avLst>
          </a:prstGeom>
          <a:solidFill>
            <a:srgbClr val="FFFFFF"/>
          </a:solidFill>
          <a:ln w="4445">
            <a:solidFill>
              <a:srgbClr val="DCE3D9"/>
            </a:solidFill>
            <a:prstDash val="solid"/>
          </a:ln>
        </p:spPr>
      </p:sp>
      <p:sp>
        <p:nvSpPr>
          <p:cNvPr id="31" name="Text 29"/>
          <p:cNvSpPr txBox="1"/>
          <p:nvPr/>
        </p:nvSpPr>
        <p:spPr>
          <a:xfrm>
            <a:off x="731520" y="5202936"/>
            <a:ext cx="1856232" cy="539496"/>
          </a:xfrm>
          <a:prstGeom prst="rect">
            <a:avLst/>
          </a:prstGeom>
          <a:noFill/>
          <a:ln/>
        </p:spPr>
        <p:txBody>
          <a:bodyPr wrap="square" lIns="0" tIns="0" rIns="0" bIns="0" rtlCol="0" anchor="ctr">
            <a:normAutofit/>
          </a:bodyPr>
          <a:lstStyle/>
          <a:p>
            <a:pPr algn="l" indent="0" marL="0">
              <a:buNone/>
            </a:pPr>
            <a:r>
              <a:rPr lang="en-US" sz="1010" b="1" dirty="0">
                <a:solidFill>
                  <a:srgbClr val="163B2E"/>
                </a:solidFill>
                <a:latin typeface="Aptos" pitchFamily="34" charset="0"/>
                <a:ea typeface="Aptos" pitchFamily="34" charset="-122"/>
                <a:cs typeface="Aptos" pitchFamily="34" charset="-120"/>
              </a:rPr>
              <a:t>Deployment &amp; ethics</a:t>
            </a:r>
            <a:endParaRPr lang="en-US" sz="1010" dirty="0"/>
          </a:p>
        </p:txBody>
      </p:sp>
      <p:sp>
        <p:nvSpPr>
          <p:cNvPr id="32" name="Text 30"/>
          <p:cNvSpPr txBox="1"/>
          <p:nvPr/>
        </p:nvSpPr>
        <p:spPr>
          <a:xfrm>
            <a:off x="2788920" y="5202936"/>
            <a:ext cx="2313432" cy="539496"/>
          </a:xfrm>
          <a:prstGeom prst="rect">
            <a:avLst/>
          </a:prstGeom>
          <a:noFill/>
          <a:ln/>
        </p:spPr>
        <p:txBody>
          <a:bodyPr wrap="square" lIns="0" tIns="0" rIns="0" bIns="0" rtlCol="0" anchor="ctr">
            <a:normAutofit/>
          </a:bodyPr>
          <a:lstStyle/>
          <a:p>
            <a:pPr algn="l" indent="0" marL="0">
              <a:buNone/>
            </a:pPr>
            <a:r>
              <a:rPr lang="en-US" sz="980" dirty="0">
                <a:solidFill>
                  <a:srgbClr val="17251E"/>
                </a:solidFill>
                <a:latin typeface="Aptos" pitchFamily="34" charset="0"/>
                <a:ea typeface="Aptos" pitchFamily="34" charset="-122"/>
                <a:cs typeface="Aptos" pitchFamily="34" charset="-120"/>
              </a:rPr>
              <a:t>Federated learning; governance; human-in-loop</a:t>
            </a:r>
            <a:endParaRPr lang="en-US" sz="980" dirty="0"/>
          </a:p>
        </p:txBody>
      </p:sp>
      <p:sp>
        <p:nvSpPr>
          <p:cNvPr id="33" name="Text 31"/>
          <p:cNvSpPr txBox="1"/>
          <p:nvPr/>
        </p:nvSpPr>
        <p:spPr>
          <a:xfrm>
            <a:off x="5303520" y="5202936"/>
            <a:ext cx="2724912" cy="539496"/>
          </a:xfrm>
          <a:prstGeom prst="rect">
            <a:avLst/>
          </a:prstGeom>
          <a:noFill/>
          <a:ln/>
        </p:spPr>
        <p:txBody>
          <a:bodyPr wrap="square" lIns="0" tIns="0" rIns="0" bIns="0" rtlCol="0" anchor="ctr">
            <a:normAutofit/>
          </a:bodyPr>
          <a:lstStyle/>
          <a:p>
            <a:pPr algn="l" indent="0" marL="0">
              <a:buNone/>
            </a:pPr>
            <a:r>
              <a:rPr lang="en-US" sz="980" dirty="0">
                <a:solidFill>
                  <a:srgbClr val="17251E"/>
                </a:solidFill>
                <a:latin typeface="Aptos" pitchFamily="34" charset="0"/>
                <a:ea typeface="Aptos" pitchFamily="34" charset="-122"/>
                <a:cs typeface="Aptos" pitchFamily="34" charset="-120"/>
              </a:rPr>
              <a:t>Uptime, adoption, fairness, privacy, outcomes</a:t>
            </a:r>
            <a:endParaRPr lang="en-US" sz="980" dirty="0"/>
          </a:p>
        </p:txBody>
      </p:sp>
      <p:sp>
        <p:nvSpPr>
          <p:cNvPr id="34" name="Text 32"/>
          <p:cNvSpPr txBox="1"/>
          <p:nvPr/>
        </p:nvSpPr>
        <p:spPr>
          <a:xfrm>
            <a:off x="8229600" y="5202936"/>
            <a:ext cx="3227832" cy="539496"/>
          </a:xfrm>
          <a:prstGeom prst="rect">
            <a:avLst/>
          </a:prstGeom>
          <a:noFill/>
          <a:ln/>
        </p:spPr>
        <p:txBody>
          <a:bodyPr wrap="square" lIns="0" tIns="0" rIns="0" bIns="0" rtlCol="0" anchor="ctr">
            <a:normAutofit/>
          </a:bodyPr>
          <a:lstStyle/>
          <a:p>
            <a:pPr algn="l" indent="0" marL="0">
              <a:buNone/>
            </a:pPr>
            <a:r>
              <a:rPr lang="en-US" sz="980" dirty="0">
                <a:solidFill>
                  <a:srgbClr val="17251E"/>
                </a:solidFill>
                <a:latin typeface="Aptos" pitchFamily="34" charset="0"/>
                <a:ea typeface="Aptos" pitchFamily="34" charset="-122"/>
                <a:cs typeface="Aptos" pitchFamily="34" charset="-120"/>
              </a:rPr>
              <a:t>Who benefits—and who bears cost or risk?</a:t>
            </a:r>
            <a:endParaRPr lang="en-US" sz="980" dirty="0"/>
          </a:p>
        </p:txBody>
      </p:sp>
      <p:sp>
        <p:nvSpPr>
          <p:cNvPr id="35" name="Shape 33"/>
          <p:cNvSpPr/>
          <p:nvPr/>
        </p:nvSpPr>
        <p:spPr>
          <a:xfrm>
            <a:off x="621792" y="5925312"/>
            <a:ext cx="10954512" cy="384048"/>
          </a:xfrm>
          <a:prstGeom prst="roundRect">
            <a:avLst>
              <a:gd name="adj" fmla="val 28571"/>
            </a:avLst>
          </a:prstGeom>
          <a:solidFill>
            <a:srgbClr val="F1EBD7"/>
          </a:solidFill>
          <a:ln w="8890">
            <a:solidFill>
              <a:srgbClr val="E6DABD"/>
            </a:solidFill>
            <a:prstDash val="solid"/>
          </a:ln>
        </p:spPr>
      </p:sp>
      <p:sp>
        <p:nvSpPr>
          <p:cNvPr id="36" name="Text 34"/>
          <p:cNvSpPr txBox="1"/>
          <p:nvPr/>
        </p:nvSpPr>
        <p:spPr>
          <a:xfrm>
            <a:off x="822960" y="6025896"/>
            <a:ext cx="868680" cy="146304"/>
          </a:xfrm>
          <a:prstGeom prst="rect">
            <a:avLst/>
          </a:prstGeom>
          <a:noFill/>
          <a:ln/>
        </p:spPr>
        <p:txBody>
          <a:bodyPr wrap="square" lIns="0" tIns="0" rIns="0" bIns="0" rtlCol="0" anchor="ctr">
            <a:normAutofit/>
          </a:bodyPr>
          <a:lstStyle/>
          <a:p>
            <a:pPr algn="l" indent="0" marL="0">
              <a:buNone/>
            </a:pPr>
            <a:r>
              <a:rPr lang="en-US" sz="920" b="1" dirty="0">
                <a:solidFill>
                  <a:srgbClr val="8E622D"/>
                </a:solidFill>
                <a:latin typeface="Aptos" pitchFamily="34" charset="0"/>
                <a:ea typeface="Aptos" pitchFamily="34" charset="-122"/>
                <a:cs typeface="Aptos" pitchFamily="34" charset="-120"/>
              </a:rPr>
              <a:t>KEY POINT</a:t>
            </a:r>
            <a:endParaRPr lang="en-US" sz="920" dirty="0"/>
          </a:p>
        </p:txBody>
      </p:sp>
      <p:sp>
        <p:nvSpPr>
          <p:cNvPr id="37" name="Text 35"/>
          <p:cNvSpPr txBox="1"/>
          <p:nvPr/>
        </p:nvSpPr>
        <p:spPr>
          <a:xfrm>
            <a:off x="1783080" y="5989320"/>
            <a:ext cx="9464040" cy="201168"/>
          </a:xfrm>
          <a:prstGeom prst="rect">
            <a:avLst/>
          </a:prstGeom>
          <a:noFill/>
          <a:ln/>
        </p:spPr>
        <p:txBody>
          <a:bodyPr wrap="square" lIns="0" tIns="0" rIns="0" bIns="0" rtlCol="0" anchor="ctr">
            <a:normAutofit/>
          </a:bodyPr>
          <a:lstStyle/>
          <a:p>
            <a:pPr algn="l" indent="0" marL="0">
              <a:buNone/>
            </a:pPr>
            <a:r>
              <a:rPr lang="en-US" sz="1020" b="1" dirty="0">
                <a:solidFill>
                  <a:srgbClr val="17251E"/>
                </a:solidFill>
                <a:latin typeface="Aptos" pitchFamily="34" charset="0"/>
                <a:ea typeface="Aptos" pitchFamily="34" charset="-122"/>
                <a:cs typeface="Aptos" pitchFamily="34" charset="-120"/>
              </a:rPr>
              <a:t>Metrics answer different questions; productivity and sustainability must be measured as outcomes, not inferred from model accuracy.</a:t>
            </a:r>
            <a:endParaRPr lang="en-US" sz="1020" dirty="0"/>
          </a:p>
        </p:txBody>
      </p:sp>
      <p:sp>
        <p:nvSpPr>
          <p:cNvPr id="38" name="Text 36"/>
          <p:cNvSpPr txBox="1"/>
          <p:nvPr/>
        </p:nvSpPr>
        <p:spPr>
          <a:xfrm>
            <a:off x="7315200" y="6556248"/>
            <a:ext cx="3611880" cy="128016"/>
          </a:xfrm>
          <a:prstGeom prst="rect">
            <a:avLst/>
          </a:prstGeom>
          <a:noFill/>
          <a:ln/>
        </p:spPr>
        <p:txBody>
          <a:bodyPr wrap="square" lIns="0" tIns="0" rIns="0" bIns="0" rtlCol="0" anchor="ctr">
            <a:normAutofit/>
          </a:bodyPr>
          <a:lstStyle/>
          <a:p>
            <a:pPr algn="r" indent="0" marL="0">
              <a:buNone/>
            </a:pPr>
            <a:r>
              <a:rPr lang="en-US" sz="730" dirty="0">
                <a:solidFill>
                  <a:srgbClr val="617065"/>
                </a:solidFill>
                <a:latin typeface="Aptos" pitchFamily="34" charset="0"/>
                <a:ea typeface="Aptos" pitchFamily="34" charset="-122"/>
                <a:cs typeface="Aptos" pitchFamily="34" charset="-120"/>
              </a:rPr>
              <a:t>Evidence synthesis: [17], [23], [24], [38], [46]–[55]</a:t>
            </a:r>
            <a:endParaRPr lang="en-US" sz="730" dirty="0"/>
          </a:p>
        </p:txBody>
      </p:sp>
      <p:sp>
        <p:nvSpPr>
          <p:cNvPr id="25" name="Slide Number Placeholder 0"/>
          <p:cNvSpPr>
            <a:spLocks noGrp="1"/>
          </p:cNvSpPr>
          <p:nvPr>
            <p:ph type="sldNum" sz="quarter" idx="4294967295"/>
          </p:nvPr>
        </p:nvSpPr>
        <p:spPr>
          <a:xfrm>
            <a:off x="1120140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56A"/>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94360" y="329184"/>
            <a:ext cx="10972800" cy="201168"/>
          </a:xfrm>
          <a:prstGeom prst="rect">
            <a:avLst/>
          </a:prstGeom>
          <a:noFill/>
          <a:ln/>
        </p:spPr>
        <p:txBody>
          <a:bodyPr wrap="square" lIns="0" tIns="0" rIns="0" bIns="0" rtlCol="0" anchor="ctr">
            <a:normAutofit/>
          </a:bodyPr>
          <a:lstStyle/>
          <a:p>
            <a:pPr algn="l" indent="0" marL="0">
              <a:buNone/>
            </a:pPr>
            <a:r>
              <a:rPr lang="en-US" sz="1000" b="1" spc="125" kern="0" dirty="0">
                <a:solidFill>
                  <a:srgbClr val="2F7253"/>
                </a:solidFill>
                <a:latin typeface="Aptos" pitchFamily="34" charset="0"/>
                <a:ea typeface="Aptos" pitchFamily="34" charset="-122"/>
                <a:cs typeface="Aptos" pitchFamily="34" charset="-120"/>
              </a:rPr>
              <a:t>07  /  DEPLOYMENT, ETHICS &amp; FUTURE TRENDS</a:t>
            </a:r>
            <a:endParaRPr lang="en-US" sz="1000" dirty="0"/>
          </a:p>
        </p:txBody>
      </p:sp>
      <p:sp>
        <p:nvSpPr>
          <p:cNvPr id="3" name="Text 1"/>
          <p:cNvSpPr txBox="1"/>
          <p:nvPr/>
        </p:nvSpPr>
        <p:spPr>
          <a:xfrm>
            <a:off x="594360" y="612648"/>
            <a:ext cx="11018520" cy="457200"/>
          </a:xfrm>
          <a:prstGeom prst="rect">
            <a:avLst/>
          </a:prstGeom>
          <a:noFill/>
          <a:ln/>
        </p:spPr>
        <p:txBody>
          <a:bodyPr wrap="square" lIns="0" tIns="0" rIns="0" bIns="0" rtlCol="0" anchor="ctr">
            <a:normAutofit/>
          </a:bodyPr>
          <a:lstStyle/>
          <a:p>
            <a:pPr algn="l" indent="0" marL="0">
              <a:buNone/>
            </a:pPr>
            <a:r>
              <a:rPr lang="en-US" sz="2600" b="1" dirty="0">
                <a:solidFill>
                  <a:srgbClr val="163B2E"/>
                </a:solidFill>
                <a:latin typeface="Aptos Display" pitchFamily="34" charset="0"/>
                <a:ea typeface="Aptos Display" pitchFamily="34" charset="-122"/>
                <a:cs typeface="Aptos Display" pitchFamily="34" charset="-120"/>
              </a:rPr>
              <a:t>The hardest failures often happen outside the model</a:t>
            </a:r>
            <a:endParaRPr lang="en-US" sz="2600" dirty="0"/>
          </a:p>
        </p:txBody>
      </p:sp>
      <p:sp>
        <p:nvSpPr>
          <p:cNvPr id="4" name="Text 2"/>
          <p:cNvSpPr txBox="1"/>
          <p:nvPr/>
        </p:nvSpPr>
        <p:spPr>
          <a:xfrm>
            <a:off x="612648" y="1115568"/>
            <a:ext cx="10927080" cy="301752"/>
          </a:xfrm>
          <a:prstGeom prst="rect">
            <a:avLst/>
          </a:prstGeom>
          <a:noFill/>
          <a:ln/>
        </p:spPr>
        <p:txBody>
          <a:bodyPr wrap="square" lIns="0" tIns="0" rIns="0" bIns="0" rtlCol="0" anchor="ctr">
            <a:normAutofit/>
          </a:bodyPr>
          <a:lstStyle/>
          <a:p>
            <a:pPr algn="l" indent="0" marL="0">
              <a:buNone/>
            </a:pPr>
            <a:r>
              <a:rPr lang="en-US" sz="1250" dirty="0">
                <a:solidFill>
                  <a:srgbClr val="617065"/>
                </a:solidFill>
                <a:latin typeface="Aptos" pitchFamily="34" charset="0"/>
                <a:ea typeface="Aptos" pitchFamily="34" charset="-122"/>
                <a:cs typeface="Aptos" pitchFamily="34" charset="-120"/>
              </a:rPr>
              <a:t>Adoption depends on infrastructure, economics, governance, and farmer control.</a:t>
            </a:r>
            <a:endParaRPr lang="en-US" sz="1250" dirty="0"/>
          </a:p>
        </p:txBody>
      </p:sp>
      <p:sp>
        <p:nvSpPr>
          <p:cNvPr id="5" name="Shape 3"/>
          <p:cNvSpPr/>
          <p:nvPr/>
        </p:nvSpPr>
        <p:spPr>
          <a:xfrm>
            <a:off x="621792" y="1755648"/>
            <a:ext cx="5340096" cy="1673352"/>
          </a:xfrm>
          <a:prstGeom prst="roundRect">
            <a:avLst>
              <a:gd name="adj" fmla="val 6557"/>
            </a:avLst>
          </a:prstGeom>
          <a:solidFill>
            <a:srgbClr val="FFFFFF"/>
          </a:solidFill>
          <a:ln w="8890">
            <a:solidFill>
              <a:srgbClr val="D9E1D7"/>
            </a:solidFill>
            <a:prstDash val="solid"/>
          </a:ln>
        </p:spPr>
      </p:sp>
      <p:sp>
        <p:nvSpPr>
          <p:cNvPr id="6" name="Shape 4"/>
          <p:cNvSpPr/>
          <p:nvPr/>
        </p:nvSpPr>
        <p:spPr>
          <a:xfrm>
            <a:off x="621792" y="1755648"/>
            <a:ext cx="64008" cy="1673352"/>
          </a:xfrm>
          <a:prstGeom prst="rect">
            <a:avLst>
              <a:gd name="adj" fmla="val 171429"/>
            </a:avLst>
          </a:prstGeom>
          <a:solidFill>
            <a:srgbClr val="2F7253"/>
          </a:solidFill>
          <a:ln w="1270">
            <a:solidFill>
              <a:srgbClr val="2F7253"/>
            </a:solidFill>
            <a:prstDash val="solid"/>
          </a:ln>
        </p:spPr>
      </p:sp>
      <p:sp>
        <p:nvSpPr>
          <p:cNvPr id="7" name="Shape 5"/>
          <p:cNvSpPr/>
          <p:nvPr/>
        </p:nvSpPr>
        <p:spPr>
          <a:xfrm>
            <a:off x="832104" y="1975104"/>
            <a:ext cx="438912" cy="438912"/>
          </a:xfrm>
          <a:prstGeom prst="ellipse">
            <a:avLst/>
          </a:prstGeom>
          <a:solidFill>
            <a:srgbClr val="2F7253"/>
          </a:solidFill>
          <a:ln w="1270">
            <a:solidFill>
              <a:srgbClr val="2F7253"/>
            </a:solidFill>
            <a:prstDash val="solid"/>
          </a:ln>
        </p:spPr>
      </p:sp>
      <p:sp>
        <p:nvSpPr>
          <p:cNvPr id="8" name="Text 6"/>
          <p:cNvSpPr txBox="1"/>
          <p:nvPr/>
        </p:nvSpPr>
        <p:spPr>
          <a:xfrm>
            <a:off x="832104" y="2084832"/>
            <a:ext cx="438912" cy="18288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01</a:t>
            </a:r>
            <a:endParaRPr lang="en-US" sz="1000" dirty="0"/>
          </a:p>
        </p:txBody>
      </p:sp>
      <p:sp>
        <p:nvSpPr>
          <p:cNvPr id="9" name="Text 7"/>
          <p:cNvSpPr txBox="1"/>
          <p:nvPr/>
        </p:nvSpPr>
        <p:spPr>
          <a:xfrm>
            <a:off x="1408176" y="1993392"/>
            <a:ext cx="4160520" cy="210312"/>
          </a:xfrm>
          <a:prstGeom prst="rect">
            <a:avLst/>
          </a:prstGeom>
          <a:noFill/>
          <a:ln/>
        </p:spPr>
        <p:txBody>
          <a:bodyPr wrap="square" lIns="0" tIns="0" rIns="0" bIns="0" rtlCol="0" anchor="ctr">
            <a:normAutofit/>
          </a:bodyPr>
          <a:lstStyle/>
          <a:p>
            <a:pPr algn="l" indent="0" marL="0">
              <a:buNone/>
            </a:pPr>
            <a:r>
              <a:rPr lang="en-US" sz="1050" b="1" spc="40" kern="0" dirty="0">
                <a:solidFill>
                  <a:srgbClr val="163B2E"/>
                </a:solidFill>
                <a:latin typeface="Aptos" pitchFamily="34" charset="0"/>
                <a:ea typeface="Aptos" pitchFamily="34" charset="-122"/>
                <a:cs typeface="Aptos" pitchFamily="34" charset="-120"/>
              </a:rPr>
              <a:t>ROBUSTNESS &amp; CONNECTIVITY</a:t>
            </a:r>
            <a:endParaRPr lang="en-US" sz="1050" dirty="0"/>
          </a:p>
        </p:txBody>
      </p:sp>
      <p:sp>
        <p:nvSpPr>
          <p:cNvPr id="10" name="Text 8"/>
          <p:cNvSpPr txBox="1"/>
          <p:nvPr/>
        </p:nvSpPr>
        <p:spPr>
          <a:xfrm>
            <a:off x="1408176" y="2331720"/>
            <a:ext cx="4160520" cy="786384"/>
          </a:xfrm>
          <a:prstGeom prst="rect">
            <a:avLst/>
          </a:prstGeom>
          <a:noFill/>
          <a:ln/>
        </p:spPr>
        <p:txBody>
          <a:bodyPr wrap="square" lIns="0" tIns="0" rIns="0" bIns="0" rtlCol="0" anchor="t">
            <a:normAutofit/>
          </a:bodyPr>
          <a:lstStyle/>
          <a:p>
            <a:pPr algn="l" indent="0" marL="0">
              <a:buNone/>
            </a:pPr>
            <a:r>
              <a:rPr lang="en-US" sz="1110" dirty="0">
                <a:solidFill>
                  <a:srgbClr val="17251E"/>
                </a:solidFill>
                <a:latin typeface="Aptos" pitchFamily="34" charset="0"/>
                <a:ea typeface="Aptos" pitchFamily="34" charset="-122"/>
                <a:cs typeface="Aptos" pitchFamily="34" charset="-120"/>
              </a:rPr>
              <a:t>Missing sensors, weak rural networks, and season changes can break a model–decision chain. Build offline modes, monitor drift, and test across farms.</a:t>
            </a:r>
            <a:endParaRPr lang="en-US" sz="1110" dirty="0"/>
          </a:p>
        </p:txBody>
      </p:sp>
      <p:sp>
        <p:nvSpPr>
          <p:cNvPr id="11" name="Shape 9"/>
          <p:cNvSpPr/>
          <p:nvPr/>
        </p:nvSpPr>
        <p:spPr>
          <a:xfrm>
            <a:off x="6245352" y="1755648"/>
            <a:ext cx="5340096" cy="1673352"/>
          </a:xfrm>
          <a:prstGeom prst="roundRect">
            <a:avLst>
              <a:gd name="adj" fmla="val 6557"/>
            </a:avLst>
          </a:prstGeom>
          <a:solidFill>
            <a:srgbClr val="FFFFFF"/>
          </a:solidFill>
          <a:ln w="8890">
            <a:solidFill>
              <a:srgbClr val="D9E1D7"/>
            </a:solidFill>
            <a:prstDash val="solid"/>
          </a:ln>
        </p:spPr>
      </p:sp>
      <p:sp>
        <p:nvSpPr>
          <p:cNvPr id="12" name="Shape 10"/>
          <p:cNvSpPr/>
          <p:nvPr/>
        </p:nvSpPr>
        <p:spPr>
          <a:xfrm>
            <a:off x="6245352" y="1755648"/>
            <a:ext cx="64008" cy="1673352"/>
          </a:xfrm>
          <a:prstGeom prst="rect">
            <a:avLst>
              <a:gd name="adj" fmla="val 171429"/>
            </a:avLst>
          </a:prstGeom>
          <a:solidFill>
            <a:srgbClr val="D28A45"/>
          </a:solidFill>
          <a:ln w="1270">
            <a:solidFill>
              <a:srgbClr val="D28A45"/>
            </a:solidFill>
            <a:prstDash val="solid"/>
          </a:ln>
        </p:spPr>
      </p:sp>
      <p:sp>
        <p:nvSpPr>
          <p:cNvPr id="13" name="Shape 11"/>
          <p:cNvSpPr/>
          <p:nvPr/>
        </p:nvSpPr>
        <p:spPr>
          <a:xfrm>
            <a:off x="6455664" y="1975104"/>
            <a:ext cx="438912" cy="438912"/>
          </a:xfrm>
          <a:prstGeom prst="ellipse">
            <a:avLst/>
          </a:prstGeom>
          <a:solidFill>
            <a:srgbClr val="D28A45"/>
          </a:solidFill>
          <a:ln w="1270">
            <a:solidFill>
              <a:srgbClr val="D28A45"/>
            </a:solidFill>
            <a:prstDash val="solid"/>
          </a:ln>
        </p:spPr>
      </p:sp>
      <p:sp>
        <p:nvSpPr>
          <p:cNvPr id="14" name="Text 12"/>
          <p:cNvSpPr txBox="1"/>
          <p:nvPr/>
        </p:nvSpPr>
        <p:spPr>
          <a:xfrm>
            <a:off x="6455664" y="2084832"/>
            <a:ext cx="438912" cy="18288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02</a:t>
            </a:r>
            <a:endParaRPr lang="en-US" sz="1000" dirty="0"/>
          </a:p>
        </p:txBody>
      </p:sp>
      <p:sp>
        <p:nvSpPr>
          <p:cNvPr id="15" name="Text 13"/>
          <p:cNvSpPr txBox="1"/>
          <p:nvPr/>
        </p:nvSpPr>
        <p:spPr>
          <a:xfrm>
            <a:off x="7031736" y="1993392"/>
            <a:ext cx="4160520" cy="210312"/>
          </a:xfrm>
          <a:prstGeom prst="rect">
            <a:avLst/>
          </a:prstGeom>
          <a:noFill/>
          <a:ln/>
        </p:spPr>
        <p:txBody>
          <a:bodyPr wrap="square" lIns="0" tIns="0" rIns="0" bIns="0" rtlCol="0" anchor="ctr">
            <a:normAutofit/>
          </a:bodyPr>
          <a:lstStyle/>
          <a:p>
            <a:pPr algn="l" indent="0" marL="0">
              <a:buNone/>
            </a:pPr>
            <a:r>
              <a:rPr lang="en-US" sz="1050" b="1" spc="40" kern="0" dirty="0">
                <a:solidFill>
                  <a:srgbClr val="163B2E"/>
                </a:solidFill>
                <a:latin typeface="Aptos" pitchFamily="34" charset="0"/>
                <a:ea typeface="Aptos" pitchFamily="34" charset="-122"/>
                <a:cs typeface="Aptos" pitchFamily="34" charset="-120"/>
              </a:rPr>
              <a:t>COST &amp; ADOPTION</a:t>
            </a:r>
            <a:endParaRPr lang="en-US" sz="1050" dirty="0"/>
          </a:p>
        </p:txBody>
      </p:sp>
      <p:sp>
        <p:nvSpPr>
          <p:cNvPr id="16" name="Text 14"/>
          <p:cNvSpPr txBox="1"/>
          <p:nvPr/>
        </p:nvSpPr>
        <p:spPr>
          <a:xfrm>
            <a:off x="7031736" y="2331720"/>
            <a:ext cx="4160520" cy="786384"/>
          </a:xfrm>
          <a:prstGeom prst="rect">
            <a:avLst/>
          </a:prstGeom>
          <a:noFill/>
          <a:ln/>
        </p:spPr>
        <p:txBody>
          <a:bodyPr wrap="square" lIns="0" tIns="0" rIns="0" bIns="0" rtlCol="0" anchor="t">
            <a:normAutofit/>
          </a:bodyPr>
          <a:lstStyle/>
          <a:p>
            <a:pPr algn="l" indent="0" marL="0">
              <a:buNone/>
            </a:pPr>
            <a:r>
              <a:rPr lang="en-US" sz="1110" dirty="0">
                <a:solidFill>
                  <a:srgbClr val="17251E"/>
                </a:solidFill>
                <a:latin typeface="Aptos" pitchFamily="34" charset="0"/>
                <a:ea typeface="Aptos" pitchFamily="34" charset="-122"/>
                <a:cs typeface="Aptos" pitchFamily="34" charset="-120"/>
              </a:rPr>
              <a:t>Hardware, maintenance, skills, and service support matter. Co-design alerts with farmers and include smallholder needs—not only large operations.</a:t>
            </a:r>
            <a:endParaRPr lang="en-US" sz="1110" dirty="0"/>
          </a:p>
        </p:txBody>
      </p:sp>
      <p:sp>
        <p:nvSpPr>
          <p:cNvPr id="17" name="Shape 15"/>
          <p:cNvSpPr/>
          <p:nvPr/>
        </p:nvSpPr>
        <p:spPr>
          <a:xfrm>
            <a:off x="621792" y="3730752"/>
            <a:ext cx="5340096" cy="1673352"/>
          </a:xfrm>
          <a:prstGeom prst="roundRect">
            <a:avLst>
              <a:gd name="adj" fmla="val 6557"/>
            </a:avLst>
          </a:prstGeom>
          <a:solidFill>
            <a:srgbClr val="FFFFFF"/>
          </a:solidFill>
          <a:ln w="8890">
            <a:solidFill>
              <a:srgbClr val="D9E1D7"/>
            </a:solidFill>
            <a:prstDash val="solid"/>
          </a:ln>
        </p:spPr>
      </p:sp>
      <p:sp>
        <p:nvSpPr>
          <p:cNvPr id="18" name="Shape 16"/>
          <p:cNvSpPr/>
          <p:nvPr/>
        </p:nvSpPr>
        <p:spPr>
          <a:xfrm>
            <a:off x="621792" y="3730752"/>
            <a:ext cx="64008" cy="1673352"/>
          </a:xfrm>
          <a:prstGeom prst="rect">
            <a:avLst>
              <a:gd name="adj" fmla="val 171429"/>
            </a:avLst>
          </a:prstGeom>
          <a:solidFill>
            <a:srgbClr val="B85C45"/>
          </a:solidFill>
          <a:ln w="1270">
            <a:solidFill>
              <a:srgbClr val="B85C45"/>
            </a:solidFill>
            <a:prstDash val="solid"/>
          </a:ln>
        </p:spPr>
      </p:sp>
      <p:sp>
        <p:nvSpPr>
          <p:cNvPr id="19" name="Shape 17"/>
          <p:cNvSpPr/>
          <p:nvPr/>
        </p:nvSpPr>
        <p:spPr>
          <a:xfrm>
            <a:off x="832104" y="3950208"/>
            <a:ext cx="438912" cy="438912"/>
          </a:xfrm>
          <a:prstGeom prst="ellipse">
            <a:avLst/>
          </a:prstGeom>
          <a:solidFill>
            <a:srgbClr val="B85C45"/>
          </a:solidFill>
          <a:ln w="1270">
            <a:solidFill>
              <a:srgbClr val="B85C45"/>
            </a:solidFill>
            <a:prstDash val="solid"/>
          </a:ln>
        </p:spPr>
      </p:sp>
      <p:sp>
        <p:nvSpPr>
          <p:cNvPr id="20" name="Text 18"/>
          <p:cNvSpPr txBox="1"/>
          <p:nvPr/>
        </p:nvSpPr>
        <p:spPr>
          <a:xfrm>
            <a:off x="832104" y="4059936"/>
            <a:ext cx="438912" cy="18288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03</a:t>
            </a:r>
            <a:endParaRPr lang="en-US" sz="1000" dirty="0"/>
          </a:p>
        </p:txBody>
      </p:sp>
      <p:sp>
        <p:nvSpPr>
          <p:cNvPr id="21" name="Text 19"/>
          <p:cNvSpPr txBox="1"/>
          <p:nvPr/>
        </p:nvSpPr>
        <p:spPr>
          <a:xfrm>
            <a:off x="1408176" y="3968496"/>
            <a:ext cx="4160520" cy="210312"/>
          </a:xfrm>
          <a:prstGeom prst="rect">
            <a:avLst/>
          </a:prstGeom>
          <a:noFill/>
          <a:ln/>
        </p:spPr>
        <p:txBody>
          <a:bodyPr wrap="square" lIns="0" tIns="0" rIns="0" bIns="0" rtlCol="0" anchor="ctr">
            <a:normAutofit/>
          </a:bodyPr>
          <a:lstStyle/>
          <a:p>
            <a:pPr algn="l" indent="0" marL="0">
              <a:buNone/>
            </a:pPr>
            <a:r>
              <a:rPr lang="en-US" sz="1050" b="1" spc="40" kern="0" dirty="0">
                <a:solidFill>
                  <a:srgbClr val="163B2E"/>
                </a:solidFill>
                <a:latin typeface="Aptos" pitchFamily="34" charset="0"/>
                <a:ea typeface="Aptos" pitchFamily="34" charset="-122"/>
                <a:cs typeface="Aptos" pitchFamily="34" charset="-120"/>
              </a:rPr>
              <a:t>PRIVACY &amp; CYBERSECURITY</a:t>
            </a:r>
            <a:endParaRPr lang="en-US" sz="1050" dirty="0"/>
          </a:p>
        </p:txBody>
      </p:sp>
      <p:sp>
        <p:nvSpPr>
          <p:cNvPr id="22" name="Text 20"/>
          <p:cNvSpPr txBox="1"/>
          <p:nvPr/>
        </p:nvSpPr>
        <p:spPr>
          <a:xfrm>
            <a:off x="1408176" y="4306824"/>
            <a:ext cx="4160520" cy="786384"/>
          </a:xfrm>
          <a:prstGeom prst="rect">
            <a:avLst/>
          </a:prstGeom>
          <a:noFill/>
          <a:ln/>
        </p:spPr>
        <p:txBody>
          <a:bodyPr wrap="square" lIns="0" tIns="0" rIns="0" bIns="0" rtlCol="0" anchor="t">
            <a:normAutofit/>
          </a:bodyPr>
          <a:lstStyle/>
          <a:p>
            <a:pPr algn="l" indent="0" marL="0">
              <a:buNone/>
            </a:pPr>
            <a:r>
              <a:rPr lang="en-US" sz="1110" dirty="0">
                <a:solidFill>
                  <a:srgbClr val="17251E"/>
                </a:solidFill>
                <a:latin typeface="Aptos" pitchFamily="34" charset="0"/>
                <a:ea typeface="Aptos" pitchFamily="34" charset="-122"/>
                <a:cs typeface="Aptos" pitchFamily="34" charset="-120"/>
              </a:rPr>
              <a:t>Farm records can reveal commercially sensitive information. Use device identity, least privilege, secure updates, backups, and auditable decisions.</a:t>
            </a:r>
            <a:endParaRPr lang="en-US" sz="1110" dirty="0"/>
          </a:p>
        </p:txBody>
      </p:sp>
      <p:sp>
        <p:nvSpPr>
          <p:cNvPr id="23" name="Shape 21"/>
          <p:cNvSpPr/>
          <p:nvPr/>
        </p:nvSpPr>
        <p:spPr>
          <a:xfrm>
            <a:off x="6245352" y="3730752"/>
            <a:ext cx="5340096" cy="1673352"/>
          </a:xfrm>
          <a:prstGeom prst="roundRect">
            <a:avLst>
              <a:gd name="adj" fmla="val 6557"/>
            </a:avLst>
          </a:prstGeom>
          <a:solidFill>
            <a:srgbClr val="E7F4BA"/>
          </a:solidFill>
          <a:ln w="8890">
            <a:solidFill>
              <a:srgbClr val="D9E1D7"/>
            </a:solidFill>
            <a:prstDash val="solid"/>
          </a:ln>
        </p:spPr>
      </p:sp>
      <p:sp>
        <p:nvSpPr>
          <p:cNvPr id="24" name="Shape 22"/>
          <p:cNvSpPr/>
          <p:nvPr/>
        </p:nvSpPr>
        <p:spPr>
          <a:xfrm>
            <a:off x="6245352" y="3730752"/>
            <a:ext cx="64008" cy="1673352"/>
          </a:xfrm>
          <a:prstGeom prst="rect">
            <a:avLst>
              <a:gd name="adj" fmla="val 171429"/>
            </a:avLst>
          </a:prstGeom>
          <a:solidFill>
            <a:srgbClr val="2F7253"/>
          </a:solidFill>
          <a:ln w="1270">
            <a:solidFill>
              <a:srgbClr val="2F7253"/>
            </a:solidFill>
            <a:prstDash val="solid"/>
          </a:ln>
        </p:spPr>
      </p:sp>
      <p:sp>
        <p:nvSpPr>
          <p:cNvPr id="25" name="Shape 23"/>
          <p:cNvSpPr/>
          <p:nvPr/>
        </p:nvSpPr>
        <p:spPr>
          <a:xfrm>
            <a:off x="6455664" y="3950208"/>
            <a:ext cx="438912" cy="438912"/>
          </a:xfrm>
          <a:prstGeom prst="ellipse">
            <a:avLst/>
          </a:prstGeom>
          <a:solidFill>
            <a:srgbClr val="2F7253"/>
          </a:solidFill>
          <a:ln w="1270">
            <a:solidFill>
              <a:srgbClr val="2F7253"/>
            </a:solidFill>
            <a:prstDash val="solid"/>
          </a:ln>
        </p:spPr>
      </p:sp>
      <p:sp>
        <p:nvSpPr>
          <p:cNvPr id="26" name="Text 24"/>
          <p:cNvSpPr txBox="1"/>
          <p:nvPr/>
        </p:nvSpPr>
        <p:spPr>
          <a:xfrm>
            <a:off x="6455664" y="4059936"/>
            <a:ext cx="438912" cy="18288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04</a:t>
            </a:r>
            <a:endParaRPr lang="en-US" sz="1000" dirty="0"/>
          </a:p>
        </p:txBody>
      </p:sp>
      <p:sp>
        <p:nvSpPr>
          <p:cNvPr id="27" name="Text 25"/>
          <p:cNvSpPr txBox="1"/>
          <p:nvPr/>
        </p:nvSpPr>
        <p:spPr>
          <a:xfrm>
            <a:off x="7031736" y="3968496"/>
            <a:ext cx="4160520" cy="210312"/>
          </a:xfrm>
          <a:prstGeom prst="rect">
            <a:avLst/>
          </a:prstGeom>
          <a:noFill/>
          <a:ln/>
        </p:spPr>
        <p:txBody>
          <a:bodyPr wrap="square" lIns="0" tIns="0" rIns="0" bIns="0" rtlCol="0" anchor="ctr">
            <a:normAutofit/>
          </a:bodyPr>
          <a:lstStyle/>
          <a:p>
            <a:pPr algn="l" indent="0" marL="0">
              <a:buNone/>
            </a:pPr>
            <a:r>
              <a:rPr lang="en-US" sz="1050" b="1" spc="40" kern="0" dirty="0">
                <a:solidFill>
                  <a:srgbClr val="163B2E"/>
                </a:solidFill>
                <a:latin typeface="Aptos" pitchFamily="34" charset="0"/>
                <a:ea typeface="Aptos" pitchFamily="34" charset="-122"/>
                <a:cs typeface="Aptos" pitchFamily="34" charset="-120"/>
              </a:rPr>
              <a:t>EMERGING OPPORTUNITIES</a:t>
            </a:r>
            <a:endParaRPr lang="en-US" sz="1050" dirty="0"/>
          </a:p>
        </p:txBody>
      </p:sp>
      <p:sp>
        <p:nvSpPr>
          <p:cNvPr id="28" name="Text 26"/>
          <p:cNvSpPr txBox="1"/>
          <p:nvPr/>
        </p:nvSpPr>
        <p:spPr>
          <a:xfrm>
            <a:off x="7031736" y="4306824"/>
            <a:ext cx="4160520" cy="786384"/>
          </a:xfrm>
          <a:prstGeom prst="rect">
            <a:avLst/>
          </a:prstGeom>
          <a:noFill/>
          <a:ln/>
        </p:spPr>
        <p:txBody>
          <a:bodyPr wrap="square" lIns="0" tIns="0" rIns="0" bIns="0" rtlCol="0" anchor="t">
            <a:normAutofit/>
          </a:bodyPr>
          <a:lstStyle/>
          <a:p>
            <a:pPr algn="l" indent="0" marL="0">
              <a:buNone/>
            </a:pPr>
            <a:r>
              <a:rPr lang="en-US" sz="1110" dirty="0">
                <a:solidFill>
                  <a:srgbClr val="17251E"/>
                </a:solidFill>
                <a:latin typeface="Aptos" pitchFamily="34" charset="0"/>
                <a:ea typeface="Aptos" pitchFamily="34" charset="-122"/>
                <a:cs typeface="Aptos" pitchFamily="34" charset="-120"/>
              </a:rPr>
              <a:t>Federated learning, digital twins, satellite monitoring, robotics, and traceability are promising—but require evidence of real operational value.</a:t>
            </a:r>
            <a:endParaRPr lang="en-US" sz="1110" dirty="0"/>
          </a:p>
        </p:txBody>
      </p:sp>
      <p:sp>
        <p:nvSpPr>
          <p:cNvPr id="29" name="Text 27"/>
          <p:cNvSpPr txBox="1"/>
          <p:nvPr/>
        </p:nvSpPr>
        <p:spPr>
          <a:xfrm>
            <a:off x="685800" y="5760720"/>
            <a:ext cx="2103120" cy="173736"/>
          </a:xfrm>
          <a:prstGeom prst="rect">
            <a:avLst/>
          </a:prstGeom>
          <a:noFill/>
          <a:ln/>
        </p:spPr>
        <p:txBody>
          <a:bodyPr wrap="square" lIns="0" tIns="0" rIns="0" bIns="0" rtlCol="0" anchor="ctr">
            <a:normAutofit/>
          </a:bodyPr>
          <a:lstStyle/>
          <a:p>
            <a:pPr algn="l" indent="0" marL="0">
              <a:buNone/>
            </a:pPr>
            <a:r>
              <a:rPr lang="en-US" sz="950" b="1" spc="50" kern="0" dirty="0">
                <a:solidFill>
                  <a:srgbClr val="2F7253"/>
                </a:solidFill>
                <a:latin typeface="Aptos" pitchFamily="34" charset="0"/>
                <a:ea typeface="Aptos" pitchFamily="34" charset="-122"/>
                <a:cs typeface="Aptos" pitchFamily="34" charset="-120"/>
              </a:rPr>
              <a:t>FEDERATED LEARNING NOTE</a:t>
            </a:r>
            <a:endParaRPr lang="en-US" sz="950" dirty="0"/>
          </a:p>
        </p:txBody>
      </p:sp>
      <p:sp>
        <p:nvSpPr>
          <p:cNvPr id="30" name="Text 28"/>
          <p:cNvSpPr txBox="1"/>
          <p:nvPr/>
        </p:nvSpPr>
        <p:spPr>
          <a:xfrm>
            <a:off x="2743200" y="5715000"/>
            <a:ext cx="8503920" cy="237744"/>
          </a:xfrm>
          <a:prstGeom prst="rect">
            <a:avLst/>
          </a:prstGeom>
          <a:noFill/>
          <a:ln/>
        </p:spPr>
        <p:txBody>
          <a:bodyPr wrap="square" lIns="0" tIns="0" rIns="0" bIns="0" rtlCol="0" anchor="ctr">
            <a:normAutofit/>
          </a:bodyPr>
          <a:lstStyle/>
          <a:p>
            <a:pPr algn="l" indent="0" marL="0">
              <a:buNone/>
            </a:pPr>
            <a:r>
              <a:rPr lang="en-US" sz="1070" dirty="0">
                <a:solidFill>
                  <a:srgbClr val="617065"/>
                </a:solidFill>
                <a:latin typeface="Aptos" pitchFamily="34" charset="0"/>
                <a:ea typeface="Aptos" pitchFamily="34" charset="-122"/>
                <a:cs typeface="Aptos" pitchFamily="34" charset="-120"/>
              </a:rPr>
              <a:t>Keeping raw data local does not eliminate privacy risk: model updates can still leak information.</a:t>
            </a:r>
            <a:endParaRPr lang="en-US" sz="1070" dirty="0"/>
          </a:p>
        </p:txBody>
      </p:sp>
      <p:sp>
        <p:nvSpPr>
          <p:cNvPr id="31" name="Text 29"/>
          <p:cNvSpPr txBox="1"/>
          <p:nvPr/>
        </p:nvSpPr>
        <p:spPr>
          <a:xfrm>
            <a:off x="7315200" y="6556248"/>
            <a:ext cx="3611880" cy="128016"/>
          </a:xfrm>
          <a:prstGeom prst="rect">
            <a:avLst/>
          </a:prstGeom>
          <a:noFill/>
          <a:ln/>
        </p:spPr>
        <p:txBody>
          <a:bodyPr wrap="square" lIns="0" tIns="0" rIns="0" bIns="0" rtlCol="0" anchor="ctr">
            <a:normAutofit/>
          </a:bodyPr>
          <a:lstStyle/>
          <a:p>
            <a:pPr algn="r" indent="0" marL="0">
              <a:buNone/>
            </a:pPr>
            <a:r>
              <a:rPr lang="en-US" sz="730" dirty="0">
                <a:solidFill>
                  <a:srgbClr val="617065"/>
                </a:solidFill>
                <a:latin typeface="Aptos" pitchFamily="34" charset="0"/>
                <a:ea typeface="Aptos" pitchFamily="34" charset="-122"/>
                <a:cs typeface="Aptos" pitchFamily="34" charset="-120"/>
              </a:rPr>
              <a:t>Evidence themes: [46]–[55]</a:t>
            </a:r>
            <a:endParaRPr lang="en-US" sz="730" dirty="0"/>
          </a:p>
        </p:txBody>
      </p:sp>
      <p:sp>
        <p:nvSpPr>
          <p:cNvPr id="25" name="Slide Number Placeholder 0"/>
          <p:cNvSpPr>
            <a:spLocks noGrp="1"/>
          </p:cNvSpPr>
          <p:nvPr>
            <p:ph type="sldNum" sz="quarter" idx="4294967295"/>
          </p:nvPr>
        </p:nvSpPr>
        <p:spPr>
          <a:xfrm>
            <a:off x="1120140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56A"/>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3B2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gd name="adj" fmla="val 1600"/>
            </a:avLst>
          </a:prstGeom>
          <a:solidFill>
            <a:srgbClr val="163B2E"/>
          </a:solidFill>
          <a:ln w="1270">
            <a:solidFill>
              <a:srgbClr val="163B2E"/>
            </a:solidFill>
            <a:prstDash val="solid"/>
          </a:ln>
        </p:spPr>
      </p:sp>
      <p:sp>
        <p:nvSpPr>
          <p:cNvPr id="3" name="Text 1"/>
          <p:cNvSpPr txBox="1"/>
          <p:nvPr/>
        </p:nvSpPr>
        <p:spPr>
          <a:xfrm>
            <a:off x="676656" y="502920"/>
            <a:ext cx="3108960" cy="201168"/>
          </a:xfrm>
          <a:prstGeom prst="rect">
            <a:avLst/>
          </a:prstGeom>
          <a:noFill/>
          <a:ln/>
        </p:spPr>
        <p:txBody>
          <a:bodyPr wrap="square" lIns="0" tIns="0" rIns="0" bIns="0" rtlCol="0" anchor="ctr">
            <a:normAutofit/>
          </a:bodyPr>
          <a:lstStyle/>
          <a:p>
            <a:pPr algn="l" indent="0" marL="0">
              <a:buNone/>
            </a:pPr>
            <a:r>
              <a:rPr lang="en-US" sz="1000" b="1" spc="130" kern="0" dirty="0">
                <a:solidFill>
                  <a:srgbClr val="C9E86D"/>
                </a:solidFill>
                <a:latin typeface="Aptos" pitchFamily="34" charset="0"/>
                <a:ea typeface="Aptos" pitchFamily="34" charset="-122"/>
                <a:cs typeface="Aptos" pitchFamily="34" charset="-120"/>
              </a:rPr>
              <a:t>08  /  CONCLUSION</a:t>
            </a:r>
            <a:endParaRPr lang="en-US" sz="1000" dirty="0"/>
          </a:p>
        </p:txBody>
      </p:sp>
      <p:sp>
        <p:nvSpPr>
          <p:cNvPr id="4" name="Text 2"/>
          <p:cNvSpPr txBox="1"/>
          <p:nvPr/>
        </p:nvSpPr>
        <p:spPr>
          <a:xfrm>
            <a:off x="676656" y="905256"/>
            <a:ext cx="6949440" cy="1188720"/>
          </a:xfrm>
          <a:prstGeom prst="rect">
            <a:avLst/>
          </a:prstGeom>
          <a:noFill/>
          <a:ln/>
        </p:spPr>
        <p:txBody>
          <a:bodyPr wrap="square" lIns="0" tIns="0" rIns="0" bIns="0" rtlCol="0" anchor="t">
            <a:normAutofit/>
          </a:bodyPr>
          <a:lstStyle/>
          <a:p>
            <a:pPr algn="l" indent="0" marL="0">
              <a:buNone/>
            </a:pPr>
            <a:r>
              <a:rPr lang="en-US" sz="3100" b="1" dirty="0">
                <a:solidFill>
                  <a:srgbClr val="FFFFFF"/>
                </a:solidFill>
                <a:latin typeface="Aptos Display" pitchFamily="34" charset="0"/>
                <a:ea typeface="Aptos Display" pitchFamily="34" charset="-122"/>
                <a:cs typeface="Aptos Display" pitchFamily="34" charset="-120"/>
              </a:rPr>
              <a:t>Trustworthy AI is more</a:t>
            </a:r>
            <a:endParaRPr lang="en-US" sz="3100" dirty="0"/>
          </a:p>
          <a:p>
            <a:pPr algn="l" indent="0" marL="0">
              <a:buNone/>
            </a:pPr>
            <a:r>
              <a:rPr lang="en-US" sz="3100" b="1" dirty="0">
                <a:solidFill>
                  <a:srgbClr val="FFFFFF"/>
                </a:solidFill>
                <a:latin typeface="Aptos Display" pitchFamily="34" charset="0"/>
                <a:ea typeface="Aptos Display" pitchFamily="34" charset="-122"/>
                <a:cs typeface="Aptos Display" pitchFamily="34" charset="-120"/>
              </a:rPr>
              <a:t>than a high accuracy score.</a:t>
            </a:r>
            <a:endParaRPr lang="en-US" sz="3100" dirty="0"/>
          </a:p>
        </p:txBody>
      </p:sp>
      <p:sp>
        <p:nvSpPr>
          <p:cNvPr id="5" name="Text 3"/>
          <p:cNvSpPr txBox="1"/>
          <p:nvPr/>
        </p:nvSpPr>
        <p:spPr>
          <a:xfrm>
            <a:off x="713232" y="2267712"/>
            <a:ext cx="6812280" cy="594360"/>
          </a:xfrm>
          <a:prstGeom prst="rect">
            <a:avLst/>
          </a:prstGeom>
          <a:noFill/>
          <a:ln/>
        </p:spPr>
        <p:txBody>
          <a:bodyPr wrap="square" lIns="0" tIns="0" rIns="0" bIns="0" rtlCol="0" anchor="t">
            <a:normAutofit/>
          </a:bodyPr>
          <a:lstStyle/>
          <a:p>
            <a:pPr algn="l" indent="0" marL="0">
              <a:buNone/>
            </a:pPr>
            <a:r>
              <a:rPr lang="en-US" sz="1500" dirty="0">
                <a:solidFill>
                  <a:srgbClr val="DCE8DF"/>
                </a:solidFill>
                <a:latin typeface="Aptos" pitchFamily="34" charset="0"/>
                <a:ea typeface="Aptos" pitchFamily="34" charset="-122"/>
                <a:cs typeface="Aptos" pitchFamily="34" charset="-120"/>
              </a:rPr>
              <a:t>AI can help agriculture predict outcomes, detect risk, and optimise resources—but its value depends on a complete, accountable decision system.</a:t>
            </a:r>
            <a:endParaRPr lang="en-US" sz="1500" dirty="0"/>
          </a:p>
        </p:txBody>
      </p:sp>
      <p:sp>
        <p:nvSpPr>
          <p:cNvPr id="6" name="Shape 4"/>
          <p:cNvSpPr/>
          <p:nvPr/>
        </p:nvSpPr>
        <p:spPr>
          <a:xfrm>
            <a:off x="731520" y="3182112"/>
            <a:ext cx="73152" cy="384048"/>
          </a:xfrm>
          <a:prstGeom prst="rect">
            <a:avLst>
              <a:gd name="adj" fmla="val 150000"/>
            </a:avLst>
          </a:prstGeom>
          <a:solidFill>
            <a:srgbClr val="C9E86D"/>
          </a:solidFill>
          <a:ln w="1270">
            <a:solidFill>
              <a:srgbClr val="C9E86D"/>
            </a:solidFill>
            <a:prstDash val="solid"/>
          </a:ln>
        </p:spPr>
      </p:sp>
      <p:sp>
        <p:nvSpPr>
          <p:cNvPr id="7" name="Text 5"/>
          <p:cNvSpPr txBox="1"/>
          <p:nvPr/>
        </p:nvSpPr>
        <p:spPr>
          <a:xfrm>
            <a:off x="987552" y="3209544"/>
            <a:ext cx="1325880" cy="201168"/>
          </a:xfrm>
          <a:prstGeom prst="rect">
            <a:avLst/>
          </a:prstGeom>
          <a:noFill/>
          <a:ln/>
        </p:spPr>
        <p:txBody>
          <a:bodyPr wrap="square" lIns="0" tIns="0" rIns="0" bIns="0" rtlCol="0" anchor="ctr">
            <a:normAutofit/>
          </a:bodyPr>
          <a:lstStyle/>
          <a:p>
            <a:pPr algn="l" indent="0" marL="0">
              <a:buNone/>
            </a:pPr>
            <a:r>
              <a:rPr lang="en-US" sz="1000" b="1" spc="60" kern="0" dirty="0">
                <a:solidFill>
                  <a:srgbClr val="C9E86D"/>
                </a:solidFill>
                <a:latin typeface="Aptos" pitchFamily="34" charset="0"/>
                <a:ea typeface="Aptos" pitchFamily="34" charset="-122"/>
                <a:cs typeface="Aptos" pitchFamily="34" charset="-120"/>
              </a:rPr>
              <a:t>MATCH</a:t>
            </a:r>
            <a:endParaRPr lang="en-US" sz="1000" dirty="0"/>
          </a:p>
        </p:txBody>
      </p:sp>
      <p:sp>
        <p:nvSpPr>
          <p:cNvPr id="8" name="Text 6"/>
          <p:cNvSpPr txBox="1"/>
          <p:nvPr/>
        </p:nvSpPr>
        <p:spPr>
          <a:xfrm>
            <a:off x="2331720" y="3191256"/>
            <a:ext cx="5394960" cy="283464"/>
          </a:xfrm>
          <a:prstGeom prst="rect">
            <a:avLst/>
          </a:prstGeom>
          <a:noFill/>
          <a:ln/>
        </p:spPr>
        <p:txBody>
          <a:bodyPr wrap="square" lIns="0" tIns="0" rIns="0" bIns="0" rtlCol="0" anchor="ctr">
            <a:normAutofit/>
          </a:bodyPr>
          <a:lstStyle/>
          <a:p>
            <a:pPr algn="l" indent="0" marL="0">
              <a:buNone/>
            </a:pPr>
            <a:r>
              <a:rPr lang="en-US" sz="1160" dirty="0">
                <a:solidFill>
                  <a:srgbClr val="FFFFFF"/>
                </a:solidFill>
                <a:latin typeface="Aptos" pitchFamily="34" charset="0"/>
                <a:ea typeface="Aptos" pitchFamily="34" charset="-122"/>
                <a:cs typeface="Aptos" pitchFamily="34" charset="-120"/>
              </a:rPr>
              <a:t>Choose the model for the decision and the cost of error.</a:t>
            </a:r>
            <a:endParaRPr lang="en-US" sz="1160" dirty="0"/>
          </a:p>
        </p:txBody>
      </p:sp>
      <p:sp>
        <p:nvSpPr>
          <p:cNvPr id="9" name="Shape 7"/>
          <p:cNvSpPr/>
          <p:nvPr/>
        </p:nvSpPr>
        <p:spPr>
          <a:xfrm>
            <a:off x="731520" y="3785616"/>
            <a:ext cx="73152" cy="384048"/>
          </a:xfrm>
          <a:prstGeom prst="rect">
            <a:avLst>
              <a:gd name="adj" fmla="val 150000"/>
            </a:avLst>
          </a:prstGeom>
          <a:solidFill>
            <a:srgbClr val="C9E86D"/>
          </a:solidFill>
          <a:ln w="1270">
            <a:solidFill>
              <a:srgbClr val="C9E86D"/>
            </a:solidFill>
            <a:prstDash val="solid"/>
          </a:ln>
        </p:spPr>
      </p:sp>
      <p:sp>
        <p:nvSpPr>
          <p:cNvPr id="10" name="Text 8"/>
          <p:cNvSpPr txBox="1"/>
          <p:nvPr/>
        </p:nvSpPr>
        <p:spPr>
          <a:xfrm>
            <a:off x="987552" y="3813048"/>
            <a:ext cx="1325880" cy="201168"/>
          </a:xfrm>
          <a:prstGeom prst="rect">
            <a:avLst/>
          </a:prstGeom>
          <a:noFill/>
          <a:ln/>
        </p:spPr>
        <p:txBody>
          <a:bodyPr wrap="square" lIns="0" tIns="0" rIns="0" bIns="0" rtlCol="0" anchor="ctr">
            <a:normAutofit/>
          </a:bodyPr>
          <a:lstStyle/>
          <a:p>
            <a:pPr algn="l" indent="0" marL="0">
              <a:buNone/>
            </a:pPr>
            <a:r>
              <a:rPr lang="en-US" sz="1000" b="1" spc="60" kern="0" dirty="0">
                <a:solidFill>
                  <a:srgbClr val="C9E86D"/>
                </a:solidFill>
                <a:latin typeface="Aptos" pitchFamily="34" charset="0"/>
                <a:ea typeface="Aptos" pitchFamily="34" charset="-122"/>
                <a:cs typeface="Aptos" pitchFamily="34" charset="-120"/>
              </a:rPr>
              <a:t>VALIDATE</a:t>
            </a:r>
            <a:endParaRPr lang="en-US" sz="1000" dirty="0"/>
          </a:p>
        </p:txBody>
      </p:sp>
      <p:sp>
        <p:nvSpPr>
          <p:cNvPr id="11" name="Text 9"/>
          <p:cNvSpPr txBox="1"/>
          <p:nvPr/>
        </p:nvSpPr>
        <p:spPr>
          <a:xfrm>
            <a:off x="2331720" y="3794760"/>
            <a:ext cx="5394960" cy="283464"/>
          </a:xfrm>
          <a:prstGeom prst="rect">
            <a:avLst/>
          </a:prstGeom>
          <a:noFill/>
          <a:ln/>
        </p:spPr>
        <p:txBody>
          <a:bodyPr wrap="square" lIns="0" tIns="0" rIns="0" bIns="0" rtlCol="0" anchor="ctr">
            <a:normAutofit/>
          </a:bodyPr>
          <a:lstStyle/>
          <a:p>
            <a:pPr algn="l" indent="0" marL="0">
              <a:buNone/>
            </a:pPr>
            <a:r>
              <a:rPr lang="en-US" sz="1160" dirty="0">
                <a:solidFill>
                  <a:srgbClr val="FFFFFF"/>
                </a:solidFill>
                <a:latin typeface="Aptos" pitchFamily="34" charset="0"/>
                <a:ea typeface="Aptos" pitchFamily="34" charset="-122"/>
                <a:cs typeface="Aptos" pitchFamily="34" charset="-120"/>
              </a:rPr>
              <a:t>Test on new farms, seasons, devices, and conditions.</a:t>
            </a:r>
            <a:endParaRPr lang="en-US" sz="1160" dirty="0"/>
          </a:p>
        </p:txBody>
      </p:sp>
      <p:sp>
        <p:nvSpPr>
          <p:cNvPr id="12" name="Shape 10"/>
          <p:cNvSpPr/>
          <p:nvPr/>
        </p:nvSpPr>
        <p:spPr>
          <a:xfrm>
            <a:off x="731520" y="4389120"/>
            <a:ext cx="73152" cy="384048"/>
          </a:xfrm>
          <a:prstGeom prst="rect">
            <a:avLst>
              <a:gd name="adj" fmla="val 150000"/>
            </a:avLst>
          </a:prstGeom>
          <a:solidFill>
            <a:srgbClr val="C9E86D"/>
          </a:solidFill>
          <a:ln w="1270">
            <a:solidFill>
              <a:srgbClr val="C9E86D"/>
            </a:solidFill>
            <a:prstDash val="solid"/>
          </a:ln>
        </p:spPr>
      </p:sp>
      <p:sp>
        <p:nvSpPr>
          <p:cNvPr id="13" name="Text 11"/>
          <p:cNvSpPr txBox="1"/>
          <p:nvPr/>
        </p:nvSpPr>
        <p:spPr>
          <a:xfrm>
            <a:off x="987552" y="4416552"/>
            <a:ext cx="1325880" cy="201168"/>
          </a:xfrm>
          <a:prstGeom prst="rect">
            <a:avLst/>
          </a:prstGeom>
          <a:noFill/>
          <a:ln/>
        </p:spPr>
        <p:txBody>
          <a:bodyPr wrap="square" lIns="0" tIns="0" rIns="0" bIns="0" rtlCol="0" anchor="ctr">
            <a:normAutofit/>
          </a:bodyPr>
          <a:lstStyle/>
          <a:p>
            <a:pPr algn="l" indent="0" marL="0">
              <a:buNone/>
            </a:pPr>
            <a:r>
              <a:rPr lang="en-US" sz="1000" b="1" spc="60" kern="0" dirty="0">
                <a:solidFill>
                  <a:srgbClr val="C9E86D"/>
                </a:solidFill>
                <a:latin typeface="Aptos" pitchFamily="34" charset="0"/>
                <a:ea typeface="Aptos" pitchFamily="34" charset="-122"/>
                <a:cs typeface="Aptos" pitchFamily="34" charset="-120"/>
              </a:rPr>
              <a:t>SAFEGUARD</a:t>
            </a:r>
            <a:endParaRPr lang="en-US" sz="1000" dirty="0"/>
          </a:p>
        </p:txBody>
      </p:sp>
      <p:sp>
        <p:nvSpPr>
          <p:cNvPr id="14" name="Text 12"/>
          <p:cNvSpPr txBox="1"/>
          <p:nvPr/>
        </p:nvSpPr>
        <p:spPr>
          <a:xfrm>
            <a:off x="2331720" y="4398264"/>
            <a:ext cx="5394960" cy="283464"/>
          </a:xfrm>
          <a:prstGeom prst="rect">
            <a:avLst/>
          </a:prstGeom>
          <a:noFill/>
          <a:ln/>
        </p:spPr>
        <p:txBody>
          <a:bodyPr wrap="square" lIns="0" tIns="0" rIns="0" bIns="0" rtlCol="0" anchor="ctr">
            <a:normAutofit/>
          </a:bodyPr>
          <a:lstStyle/>
          <a:p>
            <a:pPr algn="l" indent="0" marL="0">
              <a:buNone/>
            </a:pPr>
            <a:r>
              <a:rPr lang="en-US" sz="1160" dirty="0">
                <a:solidFill>
                  <a:srgbClr val="FFFFFF"/>
                </a:solidFill>
                <a:latin typeface="Aptos" pitchFamily="34" charset="0"/>
                <a:ea typeface="Aptos" pitchFamily="34" charset="-122"/>
                <a:cs typeface="Aptos" pitchFamily="34" charset="-120"/>
              </a:rPr>
              <a:t>Show uncertainty, provide fallbacks, and retain human override.</a:t>
            </a:r>
            <a:endParaRPr lang="en-US" sz="1160" dirty="0"/>
          </a:p>
        </p:txBody>
      </p:sp>
      <p:sp>
        <p:nvSpPr>
          <p:cNvPr id="15" name="Shape 13"/>
          <p:cNvSpPr/>
          <p:nvPr/>
        </p:nvSpPr>
        <p:spPr>
          <a:xfrm>
            <a:off x="731520" y="4992624"/>
            <a:ext cx="73152" cy="384048"/>
          </a:xfrm>
          <a:prstGeom prst="rect">
            <a:avLst>
              <a:gd name="adj" fmla="val 150000"/>
            </a:avLst>
          </a:prstGeom>
          <a:solidFill>
            <a:srgbClr val="C9E86D"/>
          </a:solidFill>
          <a:ln w="1270">
            <a:solidFill>
              <a:srgbClr val="C9E86D"/>
            </a:solidFill>
            <a:prstDash val="solid"/>
          </a:ln>
        </p:spPr>
      </p:sp>
      <p:sp>
        <p:nvSpPr>
          <p:cNvPr id="16" name="Text 14"/>
          <p:cNvSpPr txBox="1"/>
          <p:nvPr/>
        </p:nvSpPr>
        <p:spPr>
          <a:xfrm>
            <a:off x="987552" y="5020056"/>
            <a:ext cx="1325880" cy="201168"/>
          </a:xfrm>
          <a:prstGeom prst="rect">
            <a:avLst/>
          </a:prstGeom>
          <a:noFill/>
          <a:ln/>
        </p:spPr>
        <p:txBody>
          <a:bodyPr wrap="square" lIns="0" tIns="0" rIns="0" bIns="0" rtlCol="0" anchor="ctr">
            <a:normAutofit/>
          </a:bodyPr>
          <a:lstStyle/>
          <a:p>
            <a:pPr algn="l" indent="0" marL="0">
              <a:buNone/>
            </a:pPr>
            <a:r>
              <a:rPr lang="en-US" sz="1000" b="1" spc="60" kern="0" dirty="0">
                <a:solidFill>
                  <a:srgbClr val="C9E86D"/>
                </a:solidFill>
                <a:latin typeface="Aptos" pitchFamily="34" charset="0"/>
                <a:ea typeface="Aptos" pitchFamily="34" charset="-122"/>
                <a:cs typeface="Aptos" pitchFamily="34" charset="-120"/>
              </a:rPr>
              <a:t>GOVERN</a:t>
            </a:r>
            <a:endParaRPr lang="en-US" sz="1000" dirty="0"/>
          </a:p>
        </p:txBody>
      </p:sp>
      <p:sp>
        <p:nvSpPr>
          <p:cNvPr id="17" name="Text 15"/>
          <p:cNvSpPr txBox="1"/>
          <p:nvPr/>
        </p:nvSpPr>
        <p:spPr>
          <a:xfrm>
            <a:off x="2331720" y="5001768"/>
            <a:ext cx="5394960" cy="283464"/>
          </a:xfrm>
          <a:prstGeom prst="rect">
            <a:avLst/>
          </a:prstGeom>
          <a:noFill/>
          <a:ln/>
        </p:spPr>
        <p:txBody>
          <a:bodyPr wrap="square" lIns="0" tIns="0" rIns="0" bIns="0" rtlCol="0" anchor="ctr">
            <a:normAutofit/>
          </a:bodyPr>
          <a:lstStyle/>
          <a:p>
            <a:pPr algn="l" indent="0" marL="0">
              <a:buNone/>
            </a:pPr>
            <a:r>
              <a:rPr lang="en-US" sz="1160" dirty="0">
                <a:solidFill>
                  <a:srgbClr val="FFFFFF"/>
                </a:solidFill>
                <a:latin typeface="Aptos" pitchFamily="34" charset="0"/>
                <a:ea typeface="Aptos" pitchFamily="34" charset="-122"/>
                <a:cs typeface="Aptos" pitchFamily="34" charset="-120"/>
              </a:rPr>
              <a:t>Protect data, log decisions, and include farmer perspectives.</a:t>
            </a:r>
            <a:endParaRPr lang="en-US" sz="1160" dirty="0"/>
          </a:p>
        </p:txBody>
      </p:sp>
      <p:sp>
        <p:nvSpPr>
          <p:cNvPr id="18" name="Shape 16"/>
          <p:cNvSpPr/>
          <p:nvPr/>
        </p:nvSpPr>
        <p:spPr>
          <a:xfrm>
            <a:off x="8339328" y="1078992"/>
            <a:ext cx="3273552" cy="-411480"/>
          </a:xfrm>
          <a:prstGeom prst="line">
            <a:avLst/>
          </a:prstGeom>
          <a:noFill/>
          <a:ln w="20320">
            <a:solidFill>
              <a:srgbClr val="537B62"/>
            </a:solidFill>
            <a:prstDash val="solid"/>
          </a:ln>
        </p:spPr>
      </p:sp>
      <p:sp>
        <p:nvSpPr>
          <p:cNvPr id="19" name="Shape 17"/>
          <p:cNvSpPr/>
          <p:nvPr/>
        </p:nvSpPr>
        <p:spPr>
          <a:xfrm>
            <a:off x="8339328" y="1325880"/>
            <a:ext cx="3273552" cy="-411480"/>
          </a:xfrm>
          <a:prstGeom prst="line">
            <a:avLst/>
          </a:prstGeom>
          <a:noFill/>
          <a:ln w="11430">
            <a:solidFill>
              <a:srgbClr val="2B5A42"/>
            </a:solidFill>
            <a:prstDash val="solid"/>
          </a:ln>
        </p:spPr>
      </p:sp>
      <p:sp>
        <p:nvSpPr>
          <p:cNvPr id="20" name="Shape 18"/>
          <p:cNvSpPr/>
          <p:nvPr/>
        </p:nvSpPr>
        <p:spPr>
          <a:xfrm>
            <a:off x="8339328" y="1737360"/>
            <a:ext cx="3273552" cy="-411480"/>
          </a:xfrm>
          <a:prstGeom prst="line">
            <a:avLst/>
          </a:prstGeom>
          <a:noFill/>
          <a:ln w="20320">
            <a:solidFill>
              <a:srgbClr val="37664D"/>
            </a:solidFill>
            <a:prstDash val="solid"/>
          </a:ln>
        </p:spPr>
      </p:sp>
      <p:sp>
        <p:nvSpPr>
          <p:cNvPr id="21" name="Shape 19"/>
          <p:cNvSpPr/>
          <p:nvPr/>
        </p:nvSpPr>
        <p:spPr>
          <a:xfrm>
            <a:off x="8339328" y="1984248"/>
            <a:ext cx="3273552" cy="-411480"/>
          </a:xfrm>
          <a:prstGeom prst="line">
            <a:avLst/>
          </a:prstGeom>
          <a:noFill/>
          <a:ln w="11430">
            <a:solidFill>
              <a:srgbClr val="2B5A42"/>
            </a:solidFill>
            <a:prstDash val="solid"/>
          </a:ln>
        </p:spPr>
      </p:sp>
      <p:sp>
        <p:nvSpPr>
          <p:cNvPr id="22" name="Shape 20"/>
          <p:cNvSpPr/>
          <p:nvPr/>
        </p:nvSpPr>
        <p:spPr>
          <a:xfrm>
            <a:off x="8339328" y="2395728"/>
            <a:ext cx="3273552" cy="-411480"/>
          </a:xfrm>
          <a:prstGeom prst="line">
            <a:avLst/>
          </a:prstGeom>
          <a:noFill/>
          <a:ln w="20320">
            <a:solidFill>
              <a:srgbClr val="537B62"/>
            </a:solidFill>
            <a:prstDash val="solid"/>
          </a:ln>
        </p:spPr>
      </p:sp>
      <p:sp>
        <p:nvSpPr>
          <p:cNvPr id="23" name="Shape 21"/>
          <p:cNvSpPr/>
          <p:nvPr/>
        </p:nvSpPr>
        <p:spPr>
          <a:xfrm>
            <a:off x="8339328" y="2642616"/>
            <a:ext cx="3273552" cy="-411480"/>
          </a:xfrm>
          <a:prstGeom prst="line">
            <a:avLst/>
          </a:prstGeom>
          <a:noFill/>
          <a:ln w="11430">
            <a:solidFill>
              <a:srgbClr val="2B5A42"/>
            </a:solidFill>
            <a:prstDash val="solid"/>
          </a:ln>
        </p:spPr>
      </p:sp>
      <p:sp>
        <p:nvSpPr>
          <p:cNvPr id="24" name="Shape 22"/>
          <p:cNvSpPr/>
          <p:nvPr/>
        </p:nvSpPr>
        <p:spPr>
          <a:xfrm>
            <a:off x="8339328" y="3054096"/>
            <a:ext cx="3273552" cy="-411480"/>
          </a:xfrm>
          <a:prstGeom prst="line">
            <a:avLst/>
          </a:prstGeom>
          <a:noFill/>
          <a:ln w="20320">
            <a:solidFill>
              <a:srgbClr val="37664D"/>
            </a:solidFill>
            <a:prstDash val="solid"/>
          </a:ln>
        </p:spPr>
      </p:sp>
      <p:sp>
        <p:nvSpPr>
          <p:cNvPr id="25" name="Shape 23"/>
          <p:cNvSpPr/>
          <p:nvPr/>
        </p:nvSpPr>
        <p:spPr>
          <a:xfrm>
            <a:off x="8339328" y="3300984"/>
            <a:ext cx="3273552" cy="-411480"/>
          </a:xfrm>
          <a:prstGeom prst="line">
            <a:avLst/>
          </a:prstGeom>
          <a:noFill/>
          <a:ln w="11430">
            <a:solidFill>
              <a:srgbClr val="2B5A42"/>
            </a:solidFill>
            <a:prstDash val="solid"/>
          </a:ln>
        </p:spPr>
      </p:sp>
      <p:sp>
        <p:nvSpPr>
          <p:cNvPr id="26" name="Shape 24"/>
          <p:cNvSpPr/>
          <p:nvPr/>
        </p:nvSpPr>
        <p:spPr>
          <a:xfrm>
            <a:off x="8339328" y="3712464"/>
            <a:ext cx="3273552" cy="-411480"/>
          </a:xfrm>
          <a:prstGeom prst="line">
            <a:avLst/>
          </a:prstGeom>
          <a:noFill/>
          <a:ln w="20320">
            <a:solidFill>
              <a:srgbClr val="537B62"/>
            </a:solidFill>
            <a:prstDash val="solid"/>
          </a:ln>
        </p:spPr>
      </p:sp>
      <p:sp>
        <p:nvSpPr>
          <p:cNvPr id="27" name="Shape 25"/>
          <p:cNvSpPr/>
          <p:nvPr/>
        </p:nvSpPr>
        <p:spPr>
          <a:xfrm>
            <a:off x="8339328" y="3959352"/>
            <a:ext cx="3273552" cy="-411480"/>
          </a:xfrm>
          <a:prstGeom prst="line">
            <a:avLst/>
          </a:prstGeom>
          <a:noFill/>
          <a:ln w="11430">
            <a:solidFill>
              <a:srgbClr val="2B5A42"/>
            </a:solidFill>
            <a:prstDash val="solid"/>
          </a:ln>
        </p:spPr>
      </p:sp>
      <p:sp>
        <p:nvSpPr>
          <p:cNvPr id="28" name="Shape 26"/>
          <p:cNvSpPr/>
          <p:nvPr/>
        </p:nvSpPr>
        <p:spPr>
          <a:xfrm>
            <a:off x="8339328" y="4370832"/>
            <a:ext cx="3273552" cy="-411480"/>
          </a:xfrm>
          <a:prstGeom prst="line">
            <a:avLst/>
          </a:prstGeom>
          <a:noFill/>
          <a:ln w="20320">
            <a:solidFill>
              <a:srgbClr val="37664D"/>
            </a:solidFill>
            <a:prstDash val="solid"/>
          </a:ln>
        </p:spPr>
      </p:sp>
      <p:sp>
        <p:nvSpPr>
          <p:cNvPr id="29" name="Shape 27"/>
          <p:cNvSpPr/>
          <p:nvPr/>
        </p:nvSpPr>
        <p:spPr>
          <a:xfrm>
            <a:off x="8339328" y="4617720"/>
            <a:ext cx="3273552" cy="-411480"/>
          </a:xfrm>
          <a:prstGeom prst="line">
            <a:avLst/>
          </a:prstGeom>
          <a:noFill/>
          <a:ln w="11430">
            <a:solidFill>
              <a:srgbClr val="2B5A42"/>
            </a:solidFill>
            <a:prstDash val="solid"/>
          </a:ln>
        </p:spPr>
      </p:sp>
      <p:sp>
        <p:nvSpPr>
          <p:cNvPr id="30" name="Shape 28"/>
          <p:cNvSpPr/>
          <p:nvPr/>
        </p:nvSpPr>
        <p:spPr>
          <a:xfrm>
            <a:off x="8339328" y="5029200"/>
            <a:ext cx="3273552" cy="-411480"/>
          </a:xfrm>
          <a:prstGeom prst="line">
            <a:avLst/>
          </a:prstGeom>
          <a:noFill/>
          <a:ln w="20320">
            <a:solidFill>
              <a:srgbClr val="537B62"/>
            </a:solidFill>
            <a:prstDash val="solid"/>
          </a:ln>
        </p:spPr>
      </p:sp>
      <p:sp>
        <p:nvSpPr>
          <p:cNvPr id="31" name="Shape 29"/>
          <p:cNvSpPr/>
          <p:nvPr/>
        </p:nvSpPr>
        <p:spPr>
          <a:xfrm>
            <a:off x="8339328" y="5276088"/>
            <a:ext cx="3273552" cy="-411480"/>
          </a:xfrm>
          <a:prstGeom prst="line">
            <a:avLst/>
          </a:prstGeom>
          <a:noFill/>
          <a:ln w="11430">
            <a:solidFill>
              <a:srgbClr val="2B5A42"/>
            </a:solidFill>
            <a:prstDash val="solid"/>
          </a:ln>
        </p:spPr>
      </p:sp>
      <p:sp>
        <p:nvSpPr>
          <p:cNvPr id="32" name="Shape 30"/>
          <p:cNvSpPr/>
          <p:nvPr/>
        </p:nvSpPr>
        <p:spPr>
          <a:xfrm>
            <a:off x="9180576" y="2029968"/>
            <a:ext cx="1143000" cy="1143000"/>
          </a:xfrm>
          <a:prstGeom prst="ellipse">
            <a:avLst/>
          </a:prstGeom>
          <a:solidFill>
            <a:srgbClr val="C9E86D">
              <a:alpha val="90000"/>
            </a:srgbClr>
          </a:solidFill>
          <a:ln w="12700">
            <a:solidFill>
              <a:srgbClr val="C9E86D">
                <a:alpha val="0"/>
              </a:srgbClr>
            </a:solidFill>
            <a:prstDash val="solid"/>
          </a:ln>
        </p:spPr>
      </p:sp>
      <p:sp>
        <p:nvSpPr>
          <p:cNvPr id="33" name="Text 31"/>
          <p:cNvSpPr txBox="1"/>
          <p:nvPr/>
        </p:nvSpPr>
        <p:spPr>
          <a:xfrm>
            <a:off x="8366760" y="5257800"/>
            <a:ext cx="3108960" cy="210312"/>
          </a:xfrm>
          <a:prstGeom prst="rect">
            <a:avLst/>
          </a:prstGeom>
          <a:noFill/>
          <a:ln/>
        </p:spPr>
        <p:txBody>
          <a:bodyPr wrap="square" lIns="0" tIns="0" rIns="0" bIns="0" rtlCol="0" anchor="ctr">
            <a:normAutofit/>
          </a:bodyPr>
          <a:lstStyle/>
          <a:p>
            <a:pPr algn="l" indent="0" marL="0">
              <a:buNone/>
            </a:pPr>
            <a:r>
              <a:rPr lang="en-US" sz="970" b="1" spc="100" kern="0" dirty="0">
                <a:solidFill>
                  <a:srgbClr val="C9E86D"/>
                </a:solidFill>
                <a:latin typeface="Aptos" pitchFamily="34" charset="0"/>
                <a:ea typeface="Aptos" pitchFamily="34" charset="-122"/>
                <a:cs typeface="Aptos" pitchFamily="34" charset="-120"/>
              </a:rPr>
              <a:t>OUR GROUP’S POSITION</a:t>
            </a:r>
            <a:endParaRPr lang="en-US" sz="970" dirty="0"/>
          </a:p>
        </p:txBody>
      </p:sp>
      <p:sp>
        <p:nvSpPr>
          <p:cNvPr id="34" name="Text 32"/>
          <p:cNvSpPr txBox="1"/>
          <p:nvPr/>
        </p:nvSpPr>
        <p:spPr>
          <a:xfrm>
            <a:off x="8366760" y="5559552"/>
            <a:ext cx="3017520" cy="530352"/>
          </a:xfrm>
          <a:prstGeom prst="rect">
            <a:avLst/>
          </a:prstGeom>
          <a:noFill/>
          <a:ln/>
        </p:spPr>
        <p:txBody>
          <a:bodyPr wrap="square" lIns="0" tIns="0" rIns="0" bIns="0" rtlCol="0" anchor="t">
            <a:normAutofit/>
          </a:bodyPr>
          <a:lstStyle/>
          <a:p>
            <a:pPr algn="l" indent="0" marL="0">
              <a:buNone/>
            </a:pPr>
            <a:r>
              <a:rPr lang="en-US" sz="1600" b="1" dirty="0">
                <a:solidFill>
                  <a:srgbClr val="FFFFFF"/>
                </a:solidFill>
                <a:latin typeface="Aptos Display" pitchFamily="34" charset="0"/>
                <a:ea typeface="Aptos Display" pitchFamily="34" charset="-122"/>
                <a:cs typeface="Aptos Display" pitchFamily="34" charset="-120"/>
              </a:rPr>
              <a:t>Aim for better-informed decisions—not maximum automation everywhere.</a:t>
            </a:r>
            <a:endParaRPr lang="en-US" sz="1600" dirty="0"/>
          </a:p>
        </p:txBody>
      </p:sp>
      <p:sp>
        <p:nvSpPr>
          <p:cNvPr id="35" name="Text 33"/>
          <p:cNvSpPr txBox="1"/>
          <p:nvPr/>
        </p:nvSpPr>
        <p:spPr>
          <a:xfrm>
            <a:off x="749808" y="6446520"/>
            <a:ext cx="7315200" cy="137160"/>
          </a:xfrm>
          <a:prstGeom prst="rect">
            <a:avLst/>
          </a:prstGeom>
          <a:noFill/>
          <a:ln/>
        </p:spPr>
        <p:txBody>
          <a:bodyPr wrap="square" lIns="0" tIns="0" rIns="0" bIns="0" rtlCol="0" anchor="ctr">
            <a:normAutofit/>
          </a:bodyPr>
          <a:lstStyle/>
          <a:p>
            <a:pPr algn="l" indent="0" marL="0">
              <a:buNone/>
            </a:pPr>
            <a:r>
              <a:rPr lang="en-US" sz="800" dirty="0">
                <a:solidFill>
                  <a:srgbClr val="B6CABC"/>
                </a:solidFill>
                <a:latin typeface="Aptos" pitchFamily="34" charset="0"/>
                <a:ea typeface="Aptos" pitchFamily="34" charset="-122"/>
                <a:cs typeface="Aptos" pitchFamily="34" charset="-120"/>
              </a:rPr>
              <a:t>Synthesis from the reviewed literature; refer to the full report for the detailed bibliography.</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94360" y="329184"/>
            <a:ext cx="10972800" cy="201168"/>
          </a:xfrm>
          <a:prstGeom prst="rect">
            <a:avLst/>
          </a:prstGeom>
          <a:noFill/>
          <a:ln/>
        </p:spPr>
        <p:txBody>
          <a:bodyPr wrap="square" lIns="0" tIns="0" rIns="0" bIns="0" rtlCol="0" anchor="ctr">
            <a:normAutofit/>
          </a:bodyPr>
          <a:lstStyle/>
          <a:p>
            <a:pPr algn="l" indent="0" marL="0">
              <a:buNone/>
            </a:pPr>
            <a:r>
              <a:rPr lang="en-US" sz="1000" b="1" spc="125" kern="0" dirty="0">
                <a:solidFill>
                  <a:srgbClr val="2F7253"/>
                </a:solidFill>
                <a:latin typeface="Aptos" pitchFamily="34" charset="0"/>
                <a:ea typeface="Aptos" pitchFamily="34" charset="-122"/>
                <a:cs typeface="Aptos" pitchFamily="34" charset="-120"/>
              </a:rPr>
              <a:t>REFERENCES &amp; DISCUSSION</a:t>
            </a:r>
            <a:endParaRPr lang="en-US" sz="1000" dirty="0"/>
          </a:p>
        </p:txBody>
      </p:sp>
      <p:sp>
        <p:nvSpPr>
          <p:cNvPr id="3" name="Text 1"/>
          <p:cNvSpPr txBox="1"/>
          <p:nvPr/>
        </p:nvSpPr>
        <p:spPr>
          <a:xfrm>
            <a:off x="594360" y="612648"/>
            <a:ext cx="11018520" cy="457200"/>
          </a:xfrm>
          <a:prstGeom prst="rect">
            <a:avLst/>
          </a:prstGeom>
          <a:noFill/>
          <a:ln/>
        </p:spPr>
        <p:txBody>
          <a:bodyPr wrap="square" lIns="0" tIns="0" rIns="0" bIns="0" rtlCol="0" anchor="ctr">
            <a:normAutofit/>
          </a:bodyPr>
          <a:lstStyle/>
          <a:p>
            <a:pPr algn="l" indent="0" marL="0">
              <a:buNone/>
            </a:pPr>
            <a:r>
              <a:rPr lang="en-US" sz="2600" b="1" dirty="0">
                <a:solidFill>
                  <a:srgbClr val="163B2E"/>
                </a:solidFill>
                <a:latin typeface="Aptos Display" pitchFamily="34" charset="0"/>
                <a:ea typeface="Aptos Display" pitchFamily="34" charset="-122"/>
                <a:cs typeface="Aptos Display" pitchFamily="34" charset="-120"/>
              </a:rPr>
              <a:t>Selected sources behind the examples</a:t>
            </a:r>
            <a:endParaRPr lang="en-US" sz="2600" dirty="0"/>
          </a:p>
        </p:txBody>
      </p:sp>
      <p:sp>
        <p:nvSpPr>
          <p:cNvPr id="4" name="Text 2"/>
          <p:cNvSpPr txBox="1"/>
          <p:nvPr/>
        </p:nvSpPr>
        <p:spPr>
          <a:xfrm>
            <a:off x="612648" y="1115568"/>
            <a:ext cx="10927080" cy="301752"/>
          </a:xfrm>
          <a:prstGeom prst="rect">
            <a:avLst/>
          </a:prstGeom>
          <a:noFill/>
          <a:ln/>
        </p:spPr>
        <p:txBody>
          <a:bodyPr wrap="square" lIns="0" tIns="0" rIns="0" bIns="0" rtlCol="0" anchor="ctr">
            <a:normAutofit/>
          </a:bodyPr>
          <a:lstStyle/>
          <a:p>
            <a:pPr algn="l" indent="0" marL="0">
              <a:buNone/>
            </a:pPr>
            <a:r>
              <a:rPr lang="en-US" sz="1250" dirty="0">
                <a:solidFill>
                  <a:srgbClr val="617065"/>
                </a:solidFill>
                <a:latin typeface="Aptos" pitchFamily="34" charset="0"/>
                <a:ea typeface="Aptos" pitchFamily="34" charset="-122"/>
                <a:cs typeface="Aptos" pitchFamily="34" charset="-120"/>
              </a:rPr>
              <a:t>Full 58-entry bibliography and the full paper are included in the accompanying report.</a:t>
            </a:r>
            <a:endParaRPr lang="en-US" sz="1250" dirty="0"/>
          </a:p>
        </p:txBody>
      </p:sp>
      <p:sp>
        <p:nvSpPr>
          <p:cNvPr id="5" name="Shape 3"/>
          <p:cNvSpPr/>
          <p:nvPr/>
        </p:nvSpPr>
        <p:spPr>
          <a:xfrm>
            <a:off x="658368" y="1664208"/>
            <a:ext cx="5074920" cy="822960"/>
          </a:xfrm>
          <a:prstGeom prst="roundRect">
            <a:avLst>
              <a:gd name="adj" fmla="val 13333"/>
            </a:avLst>
          </a:prstGeom>
          <a:solidFill>
            <a:srgbClr val="FFFFFF"/>
          </a:solidFill>
          <a:ln w="8890">
            <a:solidFill>
              <a:srgbClr val="D9E1D7"/>
            </a:solidFill>
            <a:prstDash val="solid"/>
          </a:ln>
        </p:spPr>
      </p:sp>
      <p:sp>
        <p:nvSpPr>
          <p:cNvPr id="6" name="Text 4"/>
          <p:cNvSpPr txBox="1"/>
          <p:nvPr/>
        </p:nvSpPr>
        <p:spPr>
          <a:xfrm>
            <a:off x="804672" y="1764792"/>
            <a:ext cx="1508760" cy="173736"/>
          </a:xfrm>
          <a:prstGeom prst="rect">
            <a:avLst/>
          </a:prstGeom>
          <a:noFill/>
          <a:ln/>
        </p:spPr>
        <p:txBody>
          <a:bodyPr wrap="square" lIns="0" tIns="0" rIns="0" bIns="0" rtlCol="0" anchor="ctr">
            <a:normAutofit/>
          </a:bodyPr>
          <a:lstStyle/>
          <a:p>
            <a:pPr algn="l" indent="0" marL="0">
              <a:buNone/>
            </a:pPr>
            <a:r>
              <a:rPr lang="en-US" sz="960" b="1" dirty="0">
                <a:solidFill>
                  <a:srgbClr val="2F7253"/>
                </a:solidFill>
                <a:latin typeface="Aptos" pitchFamily="34" charset="0"/>
                <a:ea typeface="Aptos" pitchFamily="34" charset="-122"/>
                <a:cs typeface="Aptos" pitchFamily="34" charset="-120"/>
              </a:rPr>
              <a:t>[17] Li et al. (2022)</a:t>
            </a:r>
            <a:endParaRPr lang="en-US" sz="960" dirty="0"/>
          </a:p>
        </p:txBody>
      </p:sp>
      <p:sp>
        <p:nvSpPr>
          <p:cNvPr id="7" name="Text 5"/>
          <p:cNvSpPr txBox="1"/>
          <p:nvPr/>
        </p:nvSpPr>
        <p:spPr>
          <a:xfrm>
            <a:off x="804672" y="1956816"/>
            <a:ext cx="4754880" cy="283464"/>
          </a:xfrm>
          <a:prstGeom prst="rect">
            <a:avLst/>
          </a:prstGeom>
          <a:noFill/>
          <a:ln/>
        </p:spPr>
        <p:txBody>
          <a:bodyPr wrap="square" lIns="0" tIns="0" rIns="0" bIns="0" rtlCol="0" anchor="t">
            <a:normAutofit/>
          </a:bodyPr>
          <a:lstStyle/>
          <a:p>
            <a:pPr algn="l" indent="0" marL="0">
              <a:buNone/>
            </a:pPr>
            <a:r>
              <a:rPr lang="en-US" sz="880" dirty="0">
                <a:solidFill>
                  <a:srgbClr val="17251E"/>
                </a:solidFill>
                <a:latin typeface="Aptos" pitchFamily="34" charset="0"/>
                <a:ea typeface="Aptos" pitchFamily="34" charset="-122"/>
                <a:cs typeface="Aptos" pitchFamily="34" charset="-120"/>
              </a:rPr>
              <a:t>Developing machine learning models with multi-source environmental data to predict wheat yield in China. Computers and Electronics in Agriculture.</a:t>
            </a:r>
            <a:endParaRPr lang="en-US" sz="880" dirty="0"/>
          </a:p>
        </p:txBody>
      </p:sp>
      <p:sp>
        <p:nvSpPr>
          <p:cNvPr id="8" name="Text 6"/>
          <p:cNvSpPr txBox="1"/>
          <p:nvPr/>
        </p:nvSpPr>
        <p:spPr>
          <a:xfrm>
            <a:off x="804672" y="2286000"/>
            <a:ext cx="4718304" cy="128016"/>
          </a:xfrm>
          <a:prstGeom prst="rect">
            <a:avLst/>
          </a:prstGeom>
          <a:noFill/>
          <a:ln/>
        </p:spPr>
        <p:txBody>
          <a:bodyPr wrap="square" lIns="0" tIns="0" rIns="0" bIns="0" rtlCol="0" anchor="ctr">
            <a:normAutofit/>
          </a:bodyPr>
          <a:lstStyle/>
          <a:p>
            <a:pPr algn="l" indent="0" marL="0">
              <a:buNone/>
            </a:pPr>
            <a:r>
              <a:rPr lang="en-US" sz="780" dirty="0">
                <a:solidFill>
                  <a:srgbClr val="617065"/>
                </a:solidFill>
                <a:latin typeface="Aptos" pitchFamily="34" charset="0"/>
                <a:ea typeface="Aptos" pitchFamily="34" charset="-122"/>
                <a:cs typeface="Aptos" pitchFamily="34" charset="-120"/>
              </a:rPr>
              <a:t>DOI: 10.1016/j.compag.2022.106790</a:t>
            </a:r>
            <a:endParaRPr lang="en-US" sz="780" dirty="0"/>
          </a:p>
        </p:txBody>
      </p:sp>
      <p:sp>
        <p:nvSpPr>
          <p:cNvPr id="9" name="Shape 7"/>
          <p:cNvSpPr/>
          <p:nvPr/>
        </p:nvSpPr>
        <p:spPr>
          <a:xfrm>
            <a:off x="658368" y="2633472"/>
            <a:ext cx="5074920" cy="822960"/>
          </a:xfrm>
          <a:prstGeom prst="roundRect">
            <a:avLst>
              <a:gd name="adj" fmla="val 13333"/>
            </a:avLst>
          </a:prstGeom>
          <a:solidFill>
            <a:srgbClr val="FFFFFF"/>
          </a:solidFill>
          <a:ln w="8890">
            <a:solidFill>
              <a:srgbClr val="D9E1D7"/>
            </a:solidFill>
            <a:prstDash val="solid"/>
          </a:ln>
        </p:spPr>
      </p:sp>
      <p:sp>
        <p:nvSpPr>
          <p:cNvPr id="10" name="Text 8"/>
          <p:cNvSpPr txBox="1"/>
          <p:nvPr/>
        </p:nvSpPr>
        <p:spPr>
          <a:xfrm>
            <a:off x="804672" y="2734056"/>
            <a:ext cx="1508760" cy="173736"/>
          </a:xfrm>
          <a:prstGeom prst="rect">
            <a:avLst/>
          </a:prstGeom>
          <a:noFill/>
          <a:ln/>
        </p:spPr>
        <p:txBody>
          <a:bodyPr wrap="square" lIns="0" tIns="0" rIns="0" bIns="0" rtlCol="0" anchor="ctr">
            <a:normAutofit/>
          </a:bodyPr>
          <a:lstStyle/>
          <a:p>
            <a:pPr algn="l" indent="0" marL="0">
              <a:buNone/>
            </a:pPr>
            <a:r>
              <a:rPr lang="en-US" sz="960" b="1" dirty="0">
                <a:solidFill>
                  <a:srgbClr val="2F7253"/>
                </a:solidFill>
                <a:latin typeface="Aptos" pitchFamily="34" charset="0"/>
                <a:ea typeface="Aptos" pitchFamily="34" charset="-122"/>
                <a:cs typeface="Aptos" pitchFamily="34" charset="-120"/>
              </a:rPr>
              <a:t>[23] Qi et al. (2022)</a:t>
            </a:r>
            <a:endParaRPr lang="en-US" sz="960" dirty="0"/>
          </a:p>
        </p:txBody>
      </p:sp>
      <p:sp>
        <p:nvSpPr>
          <p:cNvPr id="11" name="Text 9"/>
          <p:cNvSpPr txBox="1"/>
          <p:nvPr/>
        </p:nvSpPr>
        <p:spPr>
          <a:xfrm>
            <a:off x="804672" y="2926080"/>
            <a:ext cx="4754880" cy="283464"/>
          </a:xfrm>
          <a:prstGeom prst="rect">
            <a:avLst/>
          </a:prstGeom>
          <a:noFill/>
          <a:ln/>
        </p:spPr>
        <p:txBody>
          <a:bodyPr wrap="square" lIns="0" tIns="0" rIns="0" bIns="0" rtlCol="0" anchor="t">
            <a:normAutofit/>
          </a:bodyPr>
          <a:lstStyle/>
          <a:p>
            <a:pPr algn="l" indent="0" marL="0">
              <a:buNone/>
            </a:pPr>
            <a:r>
              <a:rPr lang="en-US" sz="880" dirty="0">
                <a:solidFill>
                  <a:srgbClr val="17251E"/>
                </a:solidFill>
                <a:latin typeface="Aptos" pitchFamily="34" charset="0"/>
                <a:ea typeface="Aptos" pitchFamily="34" charset="-122"/>
                <a:cs typeface="Aptos" pitchFamily="34" charset="-120"/>
              </a:rPr>
              <a:t>An improved YOLOv5 model based on visual attention mechanism: recognition of tomato virus disease. Computers and Electronics in Agriculture.</a:t>
            </a:r>
            <a:endParaRPr lang="en-US" sz="880" dirty="0"/>
          </a:p>
        </p:txBody>
      </p:sp>
      <p:sp>
        <p:nvSpPr>
          <p:cNvPr id="12" name="Text 10"/>
          <p:cNvSpPr txBox="1"/>
          <p:nvPr/>
        </p:nvSpPr>
        <p:spPr>
          <a:xfrm>
            <a:off x="804672" y="3255264"/>
            <a:ext cx="4718304" cy="128016"/>
          </a:xfrm>
          <a:prstGeom prst="rect">
            <a:avLst/>
          </a:prstGeom>
          <a:noFill/>
          <a:ln/>
        </p:spPr>
        <p:txBody>
          <a:bodyPr wrap="square" lIns="0" tIns="0" rIns="0" bIns="0" rtlCol="0" anchor="ctr">
            <a:normAutofit/>
          </a:bodyPr>
          <a:lstStyle/>
          <a:p>
            <a:pPr algn="l" indent="0" marL="0">
              <a:buNone/>
            </a:pPr>
            <a:r>
              <a:rPr lang="en-US" sz="780" dirty="0">
                <a:solidFill>
                  <a:srgbClr val="617065"/>
                </a:solidFill>
                <a:latin typeface="Aptos" pitchFamily="34" charset="0"/>
                <a:ea typeface="Aptos" pitchFamily="34" charset="-122"/>
                <a:cs typeface="Aptos" pitchFamily="34" charset="-120"/>
              </a:rPr>
              <a:t>DOI: 10.1016/j.compag.2022.106780</a:t>
            </a:r>
            <a:endParaRPr lang="en-US" sz="780" dirty="0"/>
          </a:p>
        </p:txBody>
      </p:sp>
      <p:sp>
        <p:nvSpPr>
          <p:cNvPr id="13" name="Shape 11"/>
          <p:cNvSpPr/>
          <p:nvPr/>
        </p:nvSpPr>
        <p:spPr>
          <a:xfrm>
            <a:off x="658368" y="3602736"/>
            <a:ext cx="5074920" cy="822960"/>
          </a:xfrm>
          <a:prstGeom prst="roundRect">
            <a:avLst>
              <a:gd name="adj" fmla="val 13333"/>
            </a:avLst>
          </a:prstGeom>
          <a:solidFill>
            <a:srgbClr val="FFFFFF"/>
          </a:solidFill>
          <a:ln w="8890">
            <a:solidFill>
              <a:srgbClr val="D9E1D7"/>
            </a:solidFill>
            <a:prstDash val="solid"/>
          </a:ln>
        </p:spPr>
      </p:sp>
      <p:sp>
        <p:nvSpPr>
          <p:cNvPr id="14" name="Text 12"/>
          <p:cNvSpPr txBox="1"/>
          <p:nvPr/>
        </p:nvSpPr>
        <p:spPr>
          <a:xfrm>
            <a:off x="804672" y="3703320"/>
            <a:ext cx="1508760" cy="173736"/>
          </a:xfrm>
          <a:prstGeom prst="rect">
            <a:avLst/>
          </a:prstGeom>
          <a:noFill/>
          <a:ln/>
        </p:spPr>
        <p:txBody>
          <a:bodyPr wrap="square" lIns="0" tIns="0" rIns="0" bIns="0" rtlCol="0" anchor="ctr">
            <a:normAutofit/>
          </a:bodyPr>
          <a:lstStyle/>
          <a:p>
            <a:pPr algn="l" indent="0" marL="0">
              <a:buNone/>
            </a:pPr>
            <a:r>
              <a:rPr lang="en-US" sz="960" b="1" dirty="0">
                <a:solidFill>
                  <a:srgbClr val="2F7253"/>
                </a:solidFill>
                <a:latin typeface="Aptos" pitchFamily="34" charset="0"/>
                <a:ea typeface="Aptos" pitchFamily="34" charset="-122"/>
                <a:cs typeface="Aptos" pitchFamily="34" charset="-120"/>
              </a:rPr>
              <a:t>[24] Tassis et al. (2021)</a:t>
            </a:r>
            <a:endParaRPr lang="en-US" sz="960" dirty="0"/>
          </a:p>
        </p:txBody>
      </p:sp>
      <p:sp>
        <p:nvSpPr>
          <p:cNvPr id="15" name="Text 13"/>
          <p:cNvSpPr txBox="1"/>
          <p:nvPr/>
        </p:nvSpPr>
        <p:spPr>
          <a:xfrm>
            <a:off x="804672" y="3895344"/>
            <a:ext cx="4754880" cy="283464"/>
          </a:xfrm>
          <a:prstGeom prst="rect">
            <a:avLst/>
          </a:prstGeom>
          <a:noFill/>
          <a:ln/>
        </p:spPr>
        <p:txBody>
          <a:bodyPr wrap="square" lIns="0" tIns="0" rIns="0" bIns="0" rtlCol="0" anchor="t">
            <a:normAutofit/>
          </a:bodyPr>
          <a:lstStyle/>
          <a:p>
            <a:pPr algn="l" indent="0" marL="0">
              <a:buNone/>
            </a:pPr>
            <a:r>
              <a:rPr lang="en-US" sz="880" dirty="0">
                <a:solidFill>
                  <a:srgbClr val="17251E"/>
                </a:solidFill>
                <a:latin typeface="Aptos" pitchFamily="34" charset="0"/>
                <a:ea typeface="Aptos" pitchFamily="34" charset="-122"/>
                <a:cs typeface="Aptos" pitchFamily="34" charset="-120"/>
              </a:rPr>
              <a:t>A deep learning approach combining instance and semantic segmentation to identify diseases and pests of coffee leaves from in-field images. Computers and Electronics in Agriculture.</a:t>
            </a:r>
            <a:endParaRPr lang="en-US" sz="880" dirty="0"/>
          </a:p>
        </p:txBody>
      </p:sp>
      <p:sp>
        <p:nvSpPr>
          <p:cNvPr id="16" name="Text 14"/>
          <p:cNvSpPr txBox="1"/>
          <p:nvPr/>
        </p:nvSpPr>
        <p:spPr>
          <a:xfrm>
            <a:off x="804672" y="4224528"/>
            <a:ext cx="4718304" cy="128016"/>
          </a:xfrm>
          <a:prstGeom prst="rect">
            <a:avLst/>
          </a:prstGeom>
          <a:noFill/>
          <a:ln/>
        </p:spPr>
        <p:txBody>
          <a:bodyPr wrap="square" lIns="0" tIns="0" rIns="0" bIns="0" rtlCol="0" anchor="ctr">
            <a:normAutofit/>
          </a:bodyPr>
          <a:lstStyle/>
          <a:p>
            <a:pPr algn="l" indent="0" marL="0">
              <a:buNone/>
            </a:pPr>
            <a:r>
              <a:rPr lang="en-US" sz="780" dirty="0">
                <a:solidFill>
                  <a:srgbClr val="617065"/>
                </a:solidFill>
                <a:latin typeface="Aptos" pitchFamily="34" charset="0"/>
                <a:ea typeface="Aptos" pitchFamily="34" charset="-122"/>
                <a:cs typeface="Aptos" pitchFamily="34" charset="-120"/>
              </a:rPr>
              <a:t>DOI: 10.1016/j.compag.2021.106191</a:t>
            </a:r>
            <a:endParaRPr lang="en-US" sz="780" dirty="0"/>
          </a:p>
        </p:txBody>
      </p:sp>
      <p:sp>
        <p:nvSpPr>
          <p:cNvPr id="17" name="Shape 15"/>
          <p:cNvSpPr/>
          <p:nvPr/>
        </p:nvSpPr>
        <p:spPr>
          <a:xfrm>
            <a:off x="658368" y="4572000"/>
            <a:ext cx="5074920" cy="822960"/>
          </a:xfrm>
          <a:prstGeom prst="roundRect">
            <a:avLst>
              <a:gd name="adj" fmla="val 13333"/>
            </a:avLst>
          </a:prstGeom>
          <a:solidFill>
            <a:srgbClr val="FFFFFF"/>
          </a:solidFill>
          <a:ln w="8890">
            <a:solidFill>
              <a:srgbClr val="D9E1D7"/>
            </a:solidFill>
            <a:prstDash val="solid"/>
          </a:ln>
        </p:spPr>
      </p:sp>
      <p:sp>
        <p:nvSpPr>
          <p:cNvPr id="18" name="Text 16"/>
          <p:cNvSpPr txBox="1"/>
          <p:nvPr/>
        </p:nvSpPr>
        <p:spPr>
          <a:xfrm>
            <a:off x="804672" y="4672584"/>
            <a:ext cx="1508760" cy="173736"/>
          </a:xfrm>
          <a:prstGeom prst="rect">
            <a:avLst/>
          </a:prstGeom>
          <a:noFill/>
          <a:ln/>
        </p:spPr>
        <p:txBody>
          <a:bodyPr wrap="square" lIns="0" tIns="0" rIns="0" bIns="0" rtlCol="0" anchor="ctr">
            <a:normAutofit/>
          </a:bodyPr>
          <a:lstStyle/>
          <a:p>
            <a:pPr algn="l" indent="0" marL="0">
              <a:buNone/>
            </a:pPr>
            <a:r>
              <a:rPr lang="en-US" sz="960" b="1" dirty="0">
                <a:solidFill>
                  <a:srgbClr val="2F7253"/>
                </a:solidFill>
                <a:latin typeface="Aptos" pitchFamily="34" charset="0"/>
                <a:ea typeface="Aptos" pitchFamily="34" charset="-122"/>
                <a:cs typeface="Aptos" pitchFamily="34" charset="-120"/>
              </a:rPr>
              <a:t>[38] Chen et al. (2021)</a:t>
            </a:r>
            <a:endParaRPr lang="en-US" sz="960" dirty="0"/>
          </a:p>
        </p:txBody>
      </p:sp>
      <p:sp>
        <p:nvSpPr>
          <p:cNvPr id="19" name="Text 17"/>
          <p:cNvSpPr txBox="1"/>
          <p:nvPr/>
        </p:nvSpPr>
        <p:spPr>
          <a:xfrm>
            <a:off x="804672" y="4864608"/>
            <a:ext cx="4754880" cy="283464"/>
          </a:xfrm>
          <a:prstGeom prst="rect">
            <a:avLst/>
          </a:prstGeom>
          <a:noFill/>
          <a:ln/>
        </p:spPr>
        <p:txBody>
          <a:bodyPr wrap="square" lIns="0" tIns="0" rIns="0" bIns="0" rtlCol="0" anchor="t">
            <a:normAutofit/>
          </a:bodyPr>
          <a:lstStyle/>
          <a:p>
            <a:pPr algn="l" indent="0" marL="0">
              <a:buNone/>
            </a:pPr>
            <a:r>
              <a:rPr lang="en-US" sz="880" dirty="0">
                <a:solidFill>
                  <a:srgbClr val="17251E"/>
                </a:solidFill>
                <a:latin typeface="Aptos" pitchFamily="34" charset="0"/>
                <a:ea typeface="Aptos" pitchFamily="34" charset="-122"/>
                <a:cs typeface="Aptos" pitchFamily="34" charset="-120"/>
              </a:rPr>
              <a:t>A reinforcement learning approach to irrigation decision-making for rice using weather forecasts. Agricultural Water Management.</a:t>
            </a:r>
            <a:endParaRPr lang="en-US" sz="880" dirty="0"/>
          </a:p>
        </p:txBody>
      </p:sp>
      <p:sp>
        <p:nvSpPr>
          <p:cNvPr id="20" name="Text 18"/>
          <p:cNvSpPr txBox="1"/>
          <p:nvPr/>
        </p:nvSpPr>
        <p:spPr>
          <a:xfrm>
            <a:off x="804672" y="5193792"/>
            <a:ext cx="4718304" cy="128016"/>
          </a:xfrm>
          <a:prstGeom prst="rect">
            <a:avLst/>
          </a:prstGeom>
          <a:noFill/>
          <a:ln/>
        </p:spPr>
        <p:txBody>
          <a:bodyPr wrap="square" lIns="0" tIns="0" rIns="0" bIns="0" rtlCol="0" anchor="ctr">
            <a:normAutofit/>
          </a:bodyPr>
          <a:lstStyle/>
          <a:p>
            <a:pPr algn="l" indent="0" marL="0">
              <a:buNone/>
            </a:pPr>
            <a:r>
              <a:rPr lang="en-US" sz="780" dirty="0">
                <a:solidFill>
                  <a:srgbClr val="617065"/>
                </a:solidFill>
                <a:latin typeface="Aptos" pitchFamily="34" charset="0"/>
                <a:ea typeface="Aptos" pitchFamily="34" charset="-122"/>
                <a:cs typeface="Aptos" pitchFamily="34" charset="-120"/>
              </a:rPr>
              <a:t>DOI: 10.1016/j.agwat.2021.106838</a:t>
            </a:r>
            <a:endParaRPr lang="en-US" sz="780" dirty="0"/>
          </a:p>
        </p:txBody>
      </p:sp>
      <p:sp>
        <p:nvSpPr>
          <p:cNvPr id="21" name="Shape 19"/>
          <p:cNvSpPr/>
          <p:nvPr/>
        </p:nvSpPr>
        <p:spPr>
          <a:xfrm>
            <a:off x="6053328" y="1664208"/>
            <a:ext cx="5074920" cy="822960"/>
          </a:xfrm>
          <a:prstGeom prst="roundRect">
            <a:avLst>
              <a:gd name="adj" fmla="val 13333"/>
            </a:avLst>
          </a:prstGeom>
          <a:solidFill>
            <a:srgbClr val="FFFFFF"/>
          </a:solidFill>
          <a:ln w="8890">
            <a:solidFill>
              <a:srgbClr val="D9E1D7"/>
            </a:solidFill>
            <a:prstDash val="solid"/>
          </a:ln>
        </p:spPr>
      </p:sp>
      <p:sp>
        <p:nvSpPr>
          <p:cNvPr id="22" name="Text 20"/>
          <p:cNvSpPr txBox="1"/>
          <p:nvPr/>
        </p:nvSpPr>
        <p:spPr>
          <a:xfrm>
            <a:off x="6199632" y="1764792"/>
            <a:ext cx="1508760" cy="173736"/>
          </a:xfrm>
          <a:prstGeom prst="rect">
            <a:avLst/>
          </a:prstGeom>
          <a:noFill/>
          <a:ln/>
        </p:spPr>
        <p:txBody>
          <a:bodyPr wrap="square" lIns="0" tIns="0" rIns="0" bIns="0" rtlCol="0" anchor="ctr">
            <a:normAutofit/>
          </a:bodyPr>
          <a:lstStyle/>
          <a:p>
            <a:pPr algn="l" indent="0" marL="0">
              <a:buNone/>
            </a:pPr>
            <a:r>
              <a:rPr lang="en-US" sz="960" b="1" dirty="0">
                <a:solidFill>
                  <a:srgbClr val="2F7253"/>
                </a:solidFill>
                <a:latin typeface="Aptos" pitchFamily="34" charset="0"/>
                <a:ea typeface="Aptos" pitchFamily="34" charset="-122"/>
                <a:cs typeface="Aptos" pitchFamily="34" charset="-120"/>
              </a:rPr>
              <a:t>[46] Top et al. (2022)</a:t>
            </a:r>
            <a:endParaRPr lang="en-US" sz="960" dirty="0"/>
          </a:p>
        </p:txBody>
      </p:sp>
      <p:sp>
        <p:nvSpPr>
          <p:cNvPr id="23" name="Text 21"/>
          <p:cNvSpPr txBox="1"/>
          <p:nvPr/>
        </p:nvSpPr>
        <p:spPr>
          <a:xfrm>
            <a:off x="6199632" y="1956816"/>
            <a:ext cx="4754880" cy="283464"/>
          </a:xfrm>
          <a:prstGeom prst="rect">
            <a:avLst/>
          </a:prstGeom>
          <a:noFill/>
          <a:ln/>
        </p:spPr>
        <p:txBody>
          <a:bodyPr wrap="square" lIns="0" tIns="0" rIns="0" bIns="0" rtlCol="0" anchor="t">
            <a:normAutofit/>
          </a:bodyPr>
          <a:lstStyle/>
          <a:p>
            <a:pPr algn="l" indent="0" marL="0">
              <a:buNone/>
            </a:pPr>
            <a:r>
              <a:rPr lang="en-US" sz="880" dirty="0">
                <a:solidFill>
                  <a:srgbClr val="17251E"/>
                </a:solidFill>
                <a:latin typeface="Aptos" pitchFamily="34" charset="0"/>
                <a:ea typeface="Aptos" pitchFamily="34" charset="-122"/>
                <a:cs typeface="Aptos" pitchFamily="34" charset="-120"/>
              </a:rPr>
              <a:t>Cultivating FAIR principles for agri-food data. Computers and Electronics in Agriculture.</a:t>
            </a:r>
            <a:endParaRPr lang="en-US" sz="880" dirty="0"/>
          </a:p>
        </p:txBody>
      </p:sp>
      <p:sp>
        <p:nvSpPr>
          <p:cNvPr id="24" name="Text 22"/>
          <p:cNvSpPr txBox="1"/>
          <p:nvPr/>
        </p:nvSpPr>
        <p:spPr>
          <a:xfrm>
            <a:off x="6199632" y="2286000"/>
            <a:ext cx="4718304" cy="128016"/>
          </a:xfrm>
          <a:prstGeom prst="rect">
            <a:avLst/>
          </a:prstGeom>
          <a:noFill/>
          <a:ln/>
        </p:spPr>
        <p:txBody>
          <a:bodyPr wrap="square" lIns="0" tIns="0" rIns="0" bIns="0" rtlCol="0" anchor="ctr">
            <a:normAutofit/>
          </a:bodyPr>
          <a:lstStyle/>
          <a:p>
            <a:pPr algn="l" indent="0" marL="0">
              <a:buNone/>
            </a:pPr>
            <a:r>
              <a:rPr lang="en-US" sz="780" dirty="0">
                <a:solidFill>
                  <a:srgbClr val="617065"/>
                </a:solidFill>
                <a:latin typeface="Aptos" pitchFamily="34" charset="0"/>
                <a:ea typeface="Aptos" pitchFamily="34" charset="-122"/>
                <a:cs typeface="Aptos" pitchFamily="34" charset="-120"/>
              </a:rPr>
              <a:t>DOI: 10.1016/j.compag.2022.106909</a:t>
            </a:r>
            <a:endParaRPr lang="en-US" sz="780" dirty="0"/>
          </a:p>
        </p:txBody>
      </p:sp>
      <p:sp>
        <p:nvSpPr>
          <p:cNvPr id="25" name="Shape 23"/>
          <p:cNvSpPr/>
          <p:nvPr/>
        </p:nvSpPr>
        <p:spPr>
          <a:xfrm>
            <a:off x="6053328" y="2633472"/>
            <a:ext cx="5074920" cy="822960"/>
          </a:xfrm>
          <a:prstGeom prst="roundRect">
            <a:avLst>
              <a:gd name="adj" fmla="val 13333"/>
            </a:avLst>
          </a:prstGeom>
          <a:solidFill>
            <a:srgbClr val="FFFFFF"/>
          </a:solidFill>
          <a:ln w="8890">
            <a:solidFill>
              <a:srgbClr val="D9E1D7"/>
            </a:solidFill>
            <a:prstDash val="solid"/>
          </a:ln>
        </p:spPr>
      </p:sp>
      <p:sp>
        <p:nvSpPr>
          <p:cNvPr id="26" name="Text 24"/>
          <p:cNvSpPr txBox="1"/>
          <p:nvPr/>
        </p:nvSpPr>
        <p:spPr>
          <a:xfrm>
            <a:off x="6199632" y="2734056"/>
            <a:ext cx="1508760" cy="173736"/>
          </a:xfrm>
          <a:prstGeom prst="rect">
            <a:avLst/>
          </a:prstGeom>
          <a:noFill/>
          <a:ln/>
        </p:spPr>
        <p:txBody>
          <a:bodyPr wrap="square" lIns="0" tIns="0" rIns="0" bIns="0" rtlCol="0" anchor="ctr">
            <a:normAutofit/>
          </a:bodyPr>
          <a:lstStyle/>
          <a:p>
            <a:pPr algn="l" indent="0" marL="0">
              <a:buNone/>
            </a:pPr>
            <a:r>
              <a:rPr lang="en-US" sz="960" b="1" dirty="0">
                <a:solidFill>
                  <a:srgbClr val="2F7253"/>
                </a:solidFill>
                <a:latin typeface="Aptos" pitchFamily="34" charset="0"/>
                <a:ea typeface="Aptos" pitchFamily="34" charset="-122"/>
                <a:cs typeface="Aptos" pitchFamily="34" charset="-120"/>
              </a:rPr>
              <a:t>[47] Gao et al. (2024)</a:t>
            </a:r>
            <a:endParaRPr lang="en-US" sz="960" dirty="0"/>
          </a:p>
        </p:txBody>
      </p:sp>
      <p:sp>
        <p:nvSpPr>
          <p:cNvPr id="27" name="Text 25"/>
          <p:cNvSpPr txBox="1"/>
          <p:nvPr/>
        </p:nvSpPr>
        <p:spPr>
          <a:xfrm>
            <a:off x="6199632" y="2926080"/>
            <a:ext cx="4754880" cy="283464"/>
          </a:xfrm>
          <a:prstGeom prst="rect">
            <a:avLst/>
          </a:prstGeom>
          <a:noFill/>
          <a:ln/>
        </p:spPr>
        <p:txBody>
          <a:bodyPr wrap="square" lIns="0" tIns="0" rIns="0" bIns="0" rtlCol="0" anchor="t">
            <a:normAutofit/>
          </a:bodyPr>
          <a:lstStyle/>
          <a:p>
            <a:pPr algn="l" indent="0" marL="0">
              <a:buNone/>
            </a:pPr>
            <a:r>
              <a:rPr lang="en-US" sz="880" dirty="0">
                <a:solidFill>
                  <a:srgbClr val="17251E"/>
                </a:solidFill>
                <a:latin typeface="Aptos" pitchFamily="34" charset="0"/>
                <a:ea typeface="Aptos" pitchFamily="34" charset="-122"/>
                <a:cs typeface="Aptos" pitchFamily="34" charset="-120"/>
              </a:rPr>
              <a:t>Security threats to agricultural artificial intelligence: Position and perspective. Computers and Electronics in Agriculture.</a:t>
            </a:r>
            <a:endParaRPr lang="en-US" sz="880" dirty="0"/>
          </a:p>
        </p:txBody>
      </p:sp>
      <p:sp>
        <p:nvSpPr>
          <p:cNvPr id="28" name="Text 26"/>
          <p:cNvSpPr txBox="1"/>
          <p:nvPr/>
        </p:nvSpPr>
        <p:spPr>
          <a:xfrm>
            <a:off x="6199632" y="3255264"/>
            <a:ext cx="4718304" cy="128016"/>
          </a:xfrm>
          <a:prstGeom prst="rect">
            <a:avLst/>
          </a:prstGeom>
          <a:noFill/>
          <a:ln/>
        </p:spPr>
        <p:txBody>
          <a:bodyPr wrap="square" lIns="0" tIns="0" rIns="0" bIns="0" rtlCol="0" anchor="ctr">
            <a:normAutofit/>
          </a:bodyPr>
          <a:lstStyle/>
          <a:p>
            <a:pPr algn="l" indent="0" marL="0">
              <a:buNone/>
            </a:pPr>
            <a:r>
              <a:rPr lang="en-US" sz="780" dirty="0">
                <a:solidFill>
                  <a:srgbClr val="617065"/>
                </a:solidFill>
                <a:latin typeface="Aptos" pitchFamily="34" charset="0"/>
                <a:ea typeface="Aptos" pitchFamily="34" charset="-122"/>
                <a:cs typeface="Aptos" pitchFamily="34" charset="-120"/>
              </a:rPr>
              <a:t>DOI: 10.1016/j.compag.2024.109557</a:t>
            </a:r>
            <a:endParaRPr lang="en-US" sz="780" dirty="0"/>
          </a:p>
        </p:txBody>
      </p:sp>
      <p:sp>
        <p:nvSpPr>
          <p:cNvPr id="29" name="Shape 27"/>
          <p:cNvSpPr/>
          <p:nvPr/>
        </p:nvSpPr>
        <p:spPr>
          <a:xfrm>
            <a:off x="6053328" y="3602736"/>
            <a:ext cx="5074920" cy="822960"/>
          </a:xfrm>
          <a:prstGeom prst="roundRect">
            <a:avLst>
              <a:gd name="adj" fmla="val 13333"/>
            </a:avLst>
          </a:prstGeom>
          <a:solidFill>
            <a:srgbClr val="FFFFFF"/>
          </a:solidFill>
          <a:ln w="8890">
            <a:solidFill>
              <a:srgbClr val="D9E1D7"/>
            </a:solidFill>
            <a:prstDash val="solid"/>
          </a:ln>
        </p:spPr>
      </p:sp>
      <p:sp>
        <p:nvSpPr>
          <p:cNvPr id="30" name="Text 28"/>
          <p:cNvSpPr txBox="1"/>
          <p:nvPr/>
        </p:nvSpPr>
        <p:spPr>
          <a:xfrm>
            <a:off x="6199632" y="3703320"/>
            <a:ext cx="1508760" cy="173736"/>
          </a:xfrm>
          <a:prstGeom prst="rect">
            <a:avLst/>
          </a:prstGeom>
          <a:noFill/>
          <a:ln/>
        </p:spPr>
        <p:txBody>
          <a:bodyPr wrap="square" lIns="0" tIns="0" rIns="0" bIns="0" rtlCol="0" anchor="ctr">
            <a:normAutofit/>
          </a:bodyPr>
          <a:lstStyle/>
          <a:p>
            <a:pPr algn="l" indent="0" marL="0">
              <a:buNone/>
            </a:pPr>
            <a:r>
              <a:rPr lang="en-US" sz="960" b="1" dirty="0">
                <a:solidFill>
                  <a:srgbClr val="2F7253"/>
                </a:solidFill>
                <a:latin typeface="Aptos" pitchFamily="34" charset="0"/>
                <a:ea typeface="Aptos" pitchFamily="34" charset="-122"/>
                <a:cs typeface="Aptos" pitchFamily="34" charset="-120"/>
              </a:rPr>
              <a:t>[56] Ferentinos (2018)</a:t>
            </a:r>
            <a:endParaRPr lang="en-US" sz="960" dirty="0"/>
          </a:p>
        </p:txBody>
      </p:sp>
      <p:sp>
        <p:nvSpPr>
          <p:cNvPr id="31" name="Text 29"/>
          <p:cNvSpPr txBox="1"/>
          <p:nvPr/>
        </p:nvSpPr>
        <p:spPr>
          <a:xfrm>
            <a:off x="6199632" y="3895344"/>
            <a:ext cx="4754880" cy="283464"/>
          </a:xfrm>
          <a:prstGeom prst="rect">
            <a:avLst/>
          </a:prstGeom>
          <a:noFill/>
          <a:ln/>
        </p:spPr>
        <p:txBody>
          <a:bodyPr wrap="square" lIns="0" tIns="0" rIns="0" bIns="0" rtlCol="0" anchor="t">
            <a:normAutofit/>
          </a:bodyPr>
          <a:lstStyle/>
          <a:p>
            <a:pPr algn="l" indent="0" marL="0">
              <a:buNone/>
            </a:pPr>
            <a:r>
              <a:rPr lang="en-US" sz="880" dirty="0">
                <a:solidFill>
                  <a:srgbClr val="17251E"/>
                </a:solidFill>
                <a:latin typeface="Aptos" pitchFamily="34" charset="0"/>
                <a:ea typeface="Aptos" pitchFamily="34" charset="-122"/>
                <a:cs typeface="Aptos" pitchFamily="34" charset="-120"/>
              </a:rPr>
              <a:t>Deep learning models for plant disease detection and diagnosis. Computers and Electronics in Agriculture.</a:t>
            </a:r>
            <a:endParaRPr lang="en-US" sz="880" dirty="0"/>
          </a:p>
        </p:txBody>
      </p:sp>
      <p:sp>
        <p:nvSpPr>
          <p:cNvPr id="32" name="Text 30"/>
          <p:cNvSpPr txBox="1"/>
          <p:nvPr/>
        </p:nvSpPr>
        <p:spPr>
          <a:xfrm>
            <a:off x="6199632" y="4224528"/>
            <a:ext cx="4718304" cy="128016"/>
          </a:xfrm>
          <a:prstGeom prst="rect">
            <a:avLst/>
          </a:prstGeom>
          <a:noFill/>
          <a:ln/>
        </p:spPr>
        <p:txBody>
          <a:bodyPr wrap="square" lIns="0" tIns="0" rIns="0" bIns="0" rtlCol="0" anchor="ctr">
            <a:normAutofit/>
          </a:bodyPr>
          <a:lstStyle/>
          <a:p>
            <a:pPr algn="l" indent="0" marL="0">
              <a:buNone/>
            </a:pPr>
            <a:r>
              <a:rPr lang="en-US" sz="780" dirty="0">
                <a:solidFill>
                  <a:srgbClr val="617065"/>
                </a:solidFill>
                <a:latin typeface="Aptos" pitchFamily="34" charset="0"/>
                <a:ea typeface="Aptos" pitchFamily="34" charset="-122"/>
                <a:cs typeface="Aptos" pitchFamily="34" charset="-120"/>
              </a:rPr>
              <a:t>DOI: 10.1016/j.compag.2018.01.009</a:t>
            </a:r>
            <a:endParaRPr lang="en-US" sz="780" dirty="0"/>
          </a:p>
        </p:txBody>
      </p:sp>
      <p:sp>
        <p:nvSpPr>
          <p:cNvPr id="33" name="Shape 31"/>
          <p:cNvSpPr/>
          <p:nvPr/>
        </p:nvSpPr>
        <p:spPr>
          <a:xfrm>
            <a:off x="6053328" y="4572000"/>
            <a:ext cx="5074920" cy="822960"/>
          </a:xfrm>
          <a:prstGeom prst="roundRect">
            <a:avLst>
              <a:gd name="adj" fmla="val 13333"/>
            </a:avLst>
          </a:prstGeom>
          <a:solidFill>
            <a:srgbClr val="FFFFFF"/>
          </a:solidFill>
          <a:ln w="8890">
            <a:solidFill>
              <a:srgbClr val="D9E1D7"/>
            </a:solidFill>
            <a:prstDash val="solid"/>
          </a:ln>
        </p:spPr>
      </p:sp>
      <p:sp>
        <p:nvSpPr>
          <p:cNvPr id="34" name="Text 32"/>
          <p:cNvSpPr txBox="1"/>
          <p:nvPr/>
        </p:nvSpPr>
        <p:spPr>
          <a:xfrm>
            <a:off x="6199632" y="4672584"/>
            <a:ext cx="1508760" cy="173736"/>
          </a:xfrm>
          <a:prstGeom prst="rect">
            <a:avLst/>
          </a:prstGeom>
          <a:noFill/>
          <a:ln/>
        </p:spPr>
        <p:txBody>
          <a:bodyPr wrap="square" lIns="0" tIns="0" rIns="0" bIns="0" rtlCol="0" anchor="ctr">
            <a:normAutofit/>
          </a:bodyPr>
          <a:lstStyle/>
          <a:p>
            <a:pPr algn="l" indent="0" marL="0">
              <a:buNone/>
            </a:pPr>
            <a:r>
              <a:rPr lang="en-US" sz="960" b="1" dirty="0">
                <a:solidFill>
                  <a:srgbClr val="2F7253"/>
                </a:solidFill>
                <a:latin typeface="Aptos" pitchFamily="34" charset="0"/>
                <a:ea typeface="Aptos" pitchFamily="34" charset="-122"/>
                <a:cs typeface="Aptos" pitchFamily="34" charset="-120"/>
              </a:rPr>
              <a:t>[57] Mohanty et al. (2016)</a:t>
            </a:r>
            <a:endParaRPr lang="en-US" sz="960" dirty="0"/>
          </a:p>
        </p:txBody>
      </p:sp>
      <p:sp>
        <p:nvSpPr>
          <p:cNvPr id="35" name="Text 33"/>
          <p:cNvSpPr txBox="1"/>
          <p:nvPr/>
        </p:nvSpPr>
        <p:spPr>
          <a:xfrm>
            <a:off x="6199632" y="4864608"/>
            <a:ext cx="4754880" cy="283464"/>
          </a:xfrm>
          <a:prstGeom prst="rect">
            <a:avLst/>
          </a:prstGeom>
          <a:noFill/>
          <a:ln/>
        </p:spPr>
        <p:txBody>
          <a:bodyPr wrap="square" lIns="0" tIns="0" rIns="0" bIns="0" rtlCol="0" anchor="t">
            <a:normAutofit/>
          </a:bodyPr>
          <a:lstStyle/>
          <a:p>
            <a:pPr algn="l" indent="0" marL="0">
              <a:buNone/>
            </a:pPr>
            <a:r>
              <a:rPr lang="en-US" sz="880" dirty="0">
                <a:solidFill>
                  <a:srgbClr val="17251E"/>
                </a:solidFill>
                <a:latin typeface="Aptos" pitchFamily="34" charset="0"/>
                <a:ea typeface="Aptos" pitchFamily="34" charset="-122"/>
                <a:cs typeface="Aptos" pitchFamily="34" charset="-120"/>
              </a:rPr>
              <a:t>Using Deep Learning for Image-Based Plant Disease Detection. Frontiers in Plant Science.</a:t>
            </a:r>
            <a:endParaRPr lang="en-US" sz="880" dirty="0"/>
          </a:p>
        </p:txBody>
      </p:sp>
      <p:sp>
        <p:nvSpPr>
          <p:cNvPr id="36" name="Text 34"/>
          <p:cNvSpPr txBox="1"/>
          <p:nvPr/>
        </p:nvSpPr>
        <p:spPr>
          <a:xfrm>
            <a:off x="6199632" y="5193792"/>
            <a:ext cx="4718304" cy="128016"/>
          </a:xfrm>
          <a:prstGeom prst="rect">
            <a:avLst/>
          </a:prstGeom>
          <a:noFill/>
          <a:ln/>
        </p:spPr>
        <p:txBody>
          <a:bodyPr wrap="square" lIns="0" tIns="0" rIns="0" bIns="0" rtlCol="0" anchor="ctr">
            <a:normAutofit/>
          </a:bodyPr>
          <a:lstStyle/>
          <a:p>
            <a:pPr algn="l" indent="0" marL="0">
              <a:buNone/>
            </a:pPr>
            <a:r>
              <a:rPr lang="en-US" sz="780" dirty="0">
                <a:solidFill>
                  <a:srgbClr val="617065"/>
                </a:solidFill>
                <a:latin typeface="Aptos" pitchFamily="34" charset="0"/>
                <a:ea typeface="Aptos" pitchFamily="34" charset="-122"/>
                <a:cs typeface="Aptos" pitchFamily="34" charset="-120"/>
              </a:rPr>
              <a:t>DOI: 10.3389/fpls.2016.01419</a:t>
            </a:r>
            <a:endParaRPr lang="en-US" sz="780" dirty="0"/>
          </a:p>
        </p:txBody>
      </p:sp>
      <p:sp>
        <p:nvSpPr>
          <p:cNvPr id="37" name="Shape 35"/>
          <p:cNvSpPr/>
          <p:nvPr/>
        </p:nvSpPr>
        <p:spPr>
          <a:xfrm>
            <a:off x="658368" y="5724144"/>
            <a:ext cx="10460736" cy="493776"/>
          </a:xfrm>
          <a:prstGeom prst="roundRect">
            <a:avLst>
              <a:gd name="adj" fmla="val 22222"/>
            </a:avLst>
          </a:prstGeom>
          <a:solidFill>
            <a:srgbClr val="163B2E"/>
          </a:solidFill>
          <a:ln w="8890">
            <a:solidFill>
              <a:srgbClr val="163B2E"/>
            </a:solidFill>
            <a:prstDash val="solid"/>
          </a:ln>
        </p:spPr>
      </p:sp>
      <p:sp>
        <p:nvSpPr>
          <p:cNvPr id="38" name="Text 36"/>
          <p:cNvSpPr txBox="1"/>
          <p:nvPr/>
        </p:nvSpPr>
        <p:spPr>
          <a:xfrm>
            <a:off x="896112" y="5870448"/>
            <a:ext cx="2743200" cy="173736"/>
          </a:xfrm>
          <a:prstGeom prst="rect">
            <a:avLst/>
          </a:prstGeom>
          <a:noFill/>
          <a:ln/>
        </p:spPr>
        <p:txBody>
          <a:bodyPr wrap="square" lIns="0" tIns="0" rIns="0" bIns="0" rtlCol="0" anchor="ctr">
            <a:normAutofit/>
          </a:bodyPr>
          <a:lstStyle/>
          <a:p>
            <a:pPr algn="l" indent="0" marL="0">
              <a:buNone/>
            </a:pPr>
            <a:r>
              <a:rPr lang="en-US" sz="1050" b="1" spc="80" kern="0" dirty="0">
                <a:solidFill>
                  <a:srgbClr val="C9E86D"/>
                </a:solidFill>
                <a:latin typeface="Aptos" pitchFamily="34" charset="0"/>
                <a:ea typeface="Aptos" pitchFamily="34" charset="-122"/>
                <a:cs typeface="Aptos" pitchFamily="34" charset="-120"/>
              </a:rPr>
              <a:t>QUESTIONS &amp; DISCUSSION</a:t>
            </a:r>
            <a:endParaRPr lang="en-US" sz="1050" dirty="0"/>
          </a:p>
        </p:txBody>
      </p:sp>
      <p:sp>
        <p:nvSpPr>
          <p:cNvPr id="39" name="Text 37"/>
          <p:cNvSpPr txBox="1"/>
          <p:nvPr/>
        </p:nvSpPr>
        <p:spPr>
          <a:xfrm>
            <a:off x="8732520" y="5833872"/>
            <a:ext cx="1920240" cy="210312"/>
          </a:xfrm>
          <a:prstGeom prst="rect">
            <a:avLst/>
          </a:prstGeom>
          <a:noFill/>
          <a:ln/>
        </p:spPr>
        <p:txBody>
          <a:bodyPr wrap="square" lIns="0" tIns="0" rIns="0" bIns="0" rtlCol="0" anchor="ctr">
            <a:normAutofit/>
          </a:bodyPr>
          <a:lstStyle/>
          <a:p>
            <a:pPr algn="r" indent="0" marL="0">
              <a:buNone/>
            </a:pPr>
            <a:r>
              <a:rPr lang="en-US" sz="1600" b="1" dirty="0">
                <a:solidFill>
                  <a:srgbClr val="FFFFFF"/>
                </a:solidFill>
                <a:latin typeface="Aptos Display" pitchFamily="34" charset="0"/>
                <a:ea typeface="Aptos Display" pitchFamily="34" charset="-122"/>
                <a:cs typeface="Aptos Display" pitchFamily="34" charset="-120"/>
              </a:rPr>
              <a:t>Thank you</a:t>
            </a:r>
            <a:endParaRPr lang="en-US" sz="1600" dirty="0"/>
          </a:p>
        </p:txBody>
      </p:sp>
      <p:sp>
        <p:nvSpPr>
          <p:cNvPr id="40" name="Text 38"/>
          <p:cNvSpPr txBox="1"/>
          <p:nvPr/>
        </p:nvSpPr>
        <p:spPr>
          <a:xfrm>
            <a:off x="7315200" y="6556248"/>
            <a:ext cx="3611880" cy="128016"/>
          </a:xfrm>
          <a:prstGeom prst="rect">
            <a:avLst/>
          </a:prstGeom>
          <a:noFill/>
          <a:ln/>
        </p:spPr>
        <p:txBody>
          <a:bodyPr wrap="square" lIns="0" tIns="0" rIns="0" bIns="0" rtlCol="0" anchor="ctr">
            <a:normAutofit/>
          </a:bodyPr>
          <a:lstStyle/>
          <a:p>
            <a:pPr algn="r" indent="0" marL="0">
              <a:buNone/>
            </a:pPr>
            <a:r>
              <a:rPr lang="en-US" sz="730" dirty="0">
                <a:solidFill>
                  <a:srgbClr val="617065"/>
                </a:solidFill>
                <a:latin typeface="Aptos" pitchFamily="34" charset="0"/>
                <a:ea typeface="Aptos" pitchFamily="34" charset="-122"/>
                <a:cs typeface="Aptos" pitchFamily="34" charset="-120"/>
              </a:rPr>
              <a:t>Bibliography references correspond to the group report</a:t>
            </a:r>
            <a:endParaRPr lang="en-US" sz="730" dirty="0"/>
          </a:p>
        </p:txBody>
      </p:sp>
      <p:sp>
        <p:nvSpPr>
          <p:cNvPr id="25" name="Slide Number Placeholder 0"/>
          <p:cNvSpPr>
            <a:spLocks noGrp="1"/>
          </p:cNvSpPr>
          <p:nvPr>
            <p:ph type="sldNum" sz="quarter" idx="4294967295"/>
          </p:nvPr>
        </p:nvSpPr>
        <p:spPr>
          <a:xfrm>
            <a:off x="1120140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56A"/>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INTI International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Role of Artificial Intelligence in Smart Agriculture Solutions</dc:title>
  <dc:subject>Group research presentation: Role of AI in Smart Agriculture Solutions</dc:subject>
  <dc:creator>PRG4206 Smart Agriculture Group</dc:creator>
  <cp:lastModifiedBy>PRG4206 Smart Agriculture Group</cp:lastModifiedBy>
  <cp:revision>1</cp:revision>
  <dcterms:created xsi:type="dcterms:W3CDTF">2026-10-25T01:40:16Z</dcterms:created>
  <dcterms:modified xsi:type="dcterms:W3CDTF">2026-10-25T01:40:16Z</dcterms:modified>
</cp:coreProperties>
</file>